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6" Type="http://schemas.openxmlformats.org/officeDocument/2006/relationships/viewProps" Target="viewProps.xml" /><Relationship Id="rId75" Type="http://schemas.openxmlformats.org/officeDocument/2006/relationships/presProps" Target="presProps.xml" /><Relationship Id="rId1" Type="http://schemas.openxmlformats.org/officeDocument/2006/relationships/slideMaster" Target="slideMasters/slideMaster1.xml" /><Relationship Id="rId78" Type="http://schemas.openxmlformats.org/officeDocument/2006/relationships/tableStyles" Target="tableStyles.xml" /><Relationship Id="rId77"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2.xml" /><Relationship Id="rId3" Type="http://schemas.openxmlformats.org/officeDocument/2006/relationships/slide" Target="slide3.xml" /><Relationship Id="rId4" Type="http://schemas.openxmlformats.org/officeDocument/2006/relationships/slide" Target="slide4.xml" /><Relationship Id="rId5" Type="http://schemas.openxmlformats.org/officeDocument/2006/relationships/slide" Target="slide4.xml" /><Relationship Id="rId6" Type="http://schemas.openxmlformats.org/officeDocument/2006/relationships/slide" Target="slide5.xml" /><Relationship Id="rId7" Type="http://schemas.openxmlformats.org/officeDocument/2006/relationships/slide" Target="slide5.xml" /><Relationship Id="rId8" Type="http://schemas.openxmlformats.org/officeDocument/2006/relationships/slide" Target="slide6.xml" /><Relationship Id="rId9" Type="http://schemas.openxmlformats.org/officeDocument/2006/relationships/slide" Target="slide8.xml" /><Relationship Id="rId10" Type="http://schemas.openxmlformats.org/officeDocument/2006/relationships/slide" Target="slide9.xml" /><Relationship Id="rId11" Type="http://schemas.openxmlformats.org/officeDocument/2006/relationships/slide" Target="slide9.xml" /><Relationship Id="rId12" Type="http://schemas.openxmlformats.org/officeDocument/2006/relationships/slide" Target="slide11.xml" /><Relationship Id="rId13" Type="http://schemas.openxmlformats.org/officeDocument/2006/relationships/slide" Target="slide12.xml" /><Relationship Id="rId14" Type="http://schemas.openxmlformats.org/officeDocument/2006/relationships/slide" Target="slide12.xml" /><Relationship Id="rId15" Type="http://schemas.openxmlformats.org/officeDocument/2006/relationships/slide" Target="slide12.xml" /><Relationship Id="rId16" Type="http://schemas.openxmlformats.org/officeDocument/2006/relationships/slide" Target="slide12.xml" /><Relationship Id="rId17" Type="http://schemas.openxmlformats.org/officeDocument/2006/relationships/slide" Target="slide14.xml" /><Relationship Id="rId18" Type="http://schemas.openxmlformats.org/officeDocument/2006/relationships/slide" Target="slide14.xml" /><Relationship Id="rId19" Type="http://schemas.openxmlformats.org/officeDocument/2006/relationships/slide" Target="slide15.xml" /><Relationship Id="rId20" Type="http://schemas.openxmlformats.org/officeDocument/2006/relationships/slide" Target="slide16.xml" /><Relationship Id="rId21" Type="http://schemas.openxmlformats.org/officeDocument/2006/relationships/slide" Target="slide16.xml" /><Relationship Id="rId22" Type="http://schemas.openxmlformats.org/officeDocument/2006/relationships/slide" Target="slide17.xml" /><Relationship Id="rId23" Type="http://schemas.openxmlformats.org/officeDocument/2006/relationships/slide" Target="slide17.xml" /><Relationship Id="rId24" Type="http://schemas.openxmlformats.org/officeDocument/2006/relationships/slide" Target="slide17.xml" /><Relationship Id="rId25" Type="http://schemas.openxmlformats.org/officeDocument/2006/relationships/slide" Target="slide18.xml" /><Relationship Id="rId26" Type="http://schemas.openxmlformats.org/officeDocument/2006/relationships/slide" Target="slide18.xml" /><Relationship Id="rId27" Type="http://schemas.openxmlformats.org/officeDocument/2006/relationships/slide" Target="slide18.xml" /><Relationship Id="rId28" Type="http://schemas.openxmlformats.org/officeDocument/2006/relationships/slide" Target="slide19.xml" /><Relationship Id="rId29" Type="http://schemas.openxmlformats.org/officeDocument/2006/relationships/slide" Target="slide19.xml" /><Relationship Id="rId30" Type="http://schemas.openxmlformats.org/officeDocument/2006/relationships/slide" Target="slide19.xml" /><Relationship Id="rId31" Type="http://schemas.openxmlformats.org/officeDocument/2006/relationships/slide" Target="slide19.xml" /><Relationship Id="rId32" Type="http://schemas.openxmlformats.org/officeDocument/2006/relationships/slide" Target="slide19.xml" /><Relationship Id="rId33" Type="http://schemas.openxmlformats.org/officeDocument/2006/relationships/slide" Target="slide19.xml" /><Relationship Id="rId34" Type="http://schemas.openxmlformats.org/officeDocument/2006/relationships/slide" Target="slide20.xml" /><Relationship Id="rId35" Type="http://schemas.openxmlformats.org/officeDocument/2006/relationships/slide" Target="slide20.xml" /><Relationship Id="rId36" Type="http://schemas.openxmlformats.org/officeDocument/2006/relationships/slide" Target="slide21.xml" /><Relationship Id="rId37" Type="http://schemas.openxmlformats.org/officeDocument/2006/relationships/slide" Target="slide22.xml" /><Relationship Id="rId38" Type="http://schemas.openxmlformats.org/officeDocument/2006/relationships/slide" Target="slide23.xml" /><Relationship Id="rId39" Type="http://schemas.openxmlformats.org/officeDocument/2006/relationships/slide" Target="slide25.xml" /><Relationship Id="rId40" Type="http://schemas.openxmlformats.org/officeDocument/2006/relationships/slide" Target="slide25.xml" /><Relationship Id="rId41" Type="http://schemas.openxmlformats.org/officeDocument/2006/relationships/slide" Target="slide26.xml" /><Relationship Id="rId42" Type="http://schemas.openxmlformats.org/officeDocument/2006/relationships/slide" Target="slide26.xml" /><Relationship Id="rId43" Type="http://schemas.openxmlformats.org/officeDocument/2006/relationships/slide" Target="slide26.xml" /><Relationship Id="rId44" Type="http://schemas.openxmlformats.org/officeDocument/2006/relationships/slide" Target="slide27.xml" /><Relationship Id="rId45" Type="http://schemas.openxmlformats.org/officeDocument/2006/relationships/slide" Target="slide27.xml" /><Relationship Id="rId46" Type="http://schemas.openxmlformats.org/officeDocument/2006/relationships/slide" Target="slide27.xml" /><Relationship Id="rId47" Type="http://schemas.openxmlformats.org/officeDocument/2006/relationships/slide" Target="slide27.xml" /><Relationship Id="rId48" Type="http://schemas.openxmlformats.org/officeDocument/2006/relationships/slide" Target="slide27.xml" /><Relationship Id="rId49" Type="http://schemas.openxmlformats.org/officeDocument/2006/relationships/slide" Target="slide27.xml" /><Relationship Id="rId50" Type="http://schemas.openxmlformats.org/officeDocument/2006/relationships/slide" Target="slide27.xml" /><Relationship Id="rId51" Type="http://schemas.openxmlformats.org/officeDocument/2006/relationships/slide" Target="slide28.xml" /><Relationship Id="rId52" Type="http://schemas.openxmlformats.org/officeDocument/2006/relationships/slide" Target="slide28.xml" /><Relationship Id="rId53" Type="http://schemas.openxmlformats.org/officeDocument/2006/relationships/slide" Target="slide28.xml" /><Relationship Id="rId54" Type="http://schemas.openxmlformats.org/officeDocument/2006/relationships/slide" Target="slide28.xml" /><Relationship Id="rId55" Type="http://schemas.openxmlformats.org/officeDocument/2006/relationships/slide" Target="slide29.xml" /><Relationship Id="rId56" Type="http://schemas.openxmlformats.org/officeDocument/2006/relationships/slide" Target="slide29.xml" /><Relationship Id="rId57" Type="http://schemas.openxmlformats.org/officeDocument/2006/relationships/slide" Target="slide30.xml" /><Relationship Id="rId58" Type="http://schemas.openxmlformats.org/officeDocument/2006/relationships/slide" Target="slide31.xml" /><Relationship Id="rId59" Type="http://schemas.openxmlformats.org/officeDocument/2006/relationships/slide" Target="slide31.xml" /><Relationship Id="rId60" Type="http://schemas.openxmlformats.org/officeDocument/2006/relationships/slide" Target="slide32.xml" /><Relationship Id="rId61" Type="http://schemas.openxmlformats.org/officeDocument/2006/relationships/slide" Target="slide32.xml" /><Relationship Id="rId62" Type="http://schemas.openxmlformats.org/officeDocument/2006/relationships/slide" Target="slide32.xml" /><Relationship Id="rId63" Type="http://schemas.openxmlformats.org/officeDocument/2006/relationships/slide" Target="slide33.xml" /><Relationship Id="rId64" Type="http://schemas.openxmlformats.org/officeDocument/2006/relationships/slide" Target="slide33.xml" /><Relationship Id="rId65" Type="http://schemas.openxmlformats.org/officeDocument/2006/relationships/slide" Target="slide34.xml" /><Relationship Id="rId66" Type="http://schemas.openxmlformats.org/officeDocument/2006/relationships/slide" Target="slide34.xml" /><Relationship Id="rId67" Type="http://schemas.openxmlformats.org/officeDocument/2006/relationships/slide" Target="slide34.xml" /><Relationship Id="rId68" Type="http://schemas.openxmlformats.org/officeDocument/2006/relationships/slide" Target="slide34.xml" /><Relationship Id="rId69" Type="http://schemas.openxmlformats.org/officeDocument/2006/relationships/slide" Target="slide35.xml" /><Relationship Id="rId70" Type="http://schemas.openxmlformats.org/officeDocument/2006/relationships/slide" Target="slide35.xml" /><Relationship Id="rId71" Type="http://schemas.openxmlformats.org/officeDocument/2006/relationships/slide" Target="slide35.xml" /><Relationship Id="rId72" Type="http://schemas.openxmlformats.org/officeDocument/2006/relationships/slide" Target="slide35.xml" /><Relationship Id="rId73" Type="http://schemas.openxmlformats.org/officeDocument/2006/relationships/slide" Target="slide35.xml" /><Relationship Id="rId74" Type="http://schemas.openxmlformats.org/officeDocument/2006/relationships/slide" Target="slide35.xml" /><Relationship Id="rId75" Type="http://schemas.openxmlformats.org/officeDocument/2006/relationships/slide" Target="slide36.xml" /><Relationship Id="rId76" Type="http://schemas.openxmlformats.org/officeDocument/2006/relationships/slide" Target="slide36.xml" /><Relationship Id="rId77" Type="http://schemas.openxmlformats.org/officeDocument/2006/relationships/slide" Target="slide37.xml" /><Relationship Id="rId78" Type="http://schemas.openxmlformats.org/officeDocument/2006/relationships/slide" Target="slide37.xml" /><Relationship Id="rId79" Type="http://schemas.openxmlformats.org/officeDocument/2006/relationships/slide" Target="slide37.xml" /><Relationship Id="rId80" Type="http://schemas.openxmlformats.org/officeDocument/2006/relationships/slide" Target="slide37.xml" /><Relationship Id="rId81" Type="http://schemas.openxmlformats.org/officeDocument/2006/relationships/slide" Target="slide37.xml" /><Relationship Id="rId82" Type="http://schemas.openxmlformats.org/officeDocument/2006/relationships/slide" Target="slide41.xml" /><Relationship Id="rId83" Type="http://schemas.openxmlformats.org/officeDocument/2006/relationships/slide" Target="slide41.xml" /><Relationship Id="rId84" Type="http://schemas.openxmlformats.org/officeDocument/2006/relationships/slide" Target="slide41.xml" /><Relationship Id="rId85" Type="http://schemas.openxmlformats.org/officeDocument/2006/relationships/slide" Target="slide42.xml" /><Relationship Id="rId86" Type="http://schemas.openxmlformats.org/officeDocument/2006/relationships/slide" Target="slide42.xml" /><Relationship Id="rId87" Type="http://schemas.openxmlformats.org/officeDocument/2006/relationships/slide" Target="slide43.xml" /><Relationship Id="rId88" Type="http://schemas.openxmlformats.org/officeDocument/2006/relationships/slide" Target="slide43.xml" /><Relationship Id="rId89" Type="http://schemas.openxmlformats.org/officeDocument/2006/relationships/slide" Target="slide45.xml" /><Relationship Id="rId90" Type="http://schemas.openxmlformats.org/officeDocument/2006/relationships/slide" Target="slide45.xml" /><Relationship Id="rId91" Type="http://schemas.openxmlformats.org/officeDocument/2006/relationships/slide" Target="slide45.xml" /><Relationship Id="rId92" Type="http://schemas.openxmlformats.org/officeDocument/2006/relationships/slide" Target="slide46.xml" /><Relationship Id="rId93" Type="http://schemas.openxmlformats.org/officeDocument/2006/relationships/slide" Target="slide46.xml" /><Relationship Id="rId94" Type="http://schemas.openxmlformats.org/officeDocument/2006/relationships/slide" Target="slide46.xml" /><Relationship Id="rId95" Type="http://schemas.openxmlformats.org/officeDocument/2006/relationships/slide" Target="slide47.xml" /><Relationship Id="rId96" Type="http://schemas.openxmlformats.org/officeDocument/2006/relationships/slide" Target="slide47.xml" /><Relationship Id="rId97" Type="http://schemas.openxmlformats.org/officeDocument/2006/relationships/slide" Target="slide48.xml" /><Relationship Id="rId98" Type="http://schemas.openxmlformats.org/officeDocument/2006/relationships/slide" Target="slide48.xml" /><Relationship Id="rId99" Type="http://schemas.openxmlformats.org/officeDocument/2006/relationships/slide" Target="slide49.xml" /><Relationship Id="rId100" Type="http://schemas.openxmlformats.org/officeDocument/2006/relationships/slide" Target="slide49.xml" /><Relationship Id="rId101" Type="http://schemas.openxmlformats.org/officeDocument/2006/relationships/slide" Target="slide50.xml" /><Relationship Id="rId102" Type="http://schemas.openxmlformats.org/officeDocument/2006/relationships/slide" Target="slide51.xml" /><Relationship Id="rId103" Type="http://schemas.openxmlformats.org/officeDocument/2006/relationships/slide" Target="slide51.xml" /><Relationship Id="rId104" Type="http://schemas.openxmlformats.org/officeDocument/2006/relationships/slide" Target="slide52.xml" /><Relationship Id="rId105" Type="http://schemas.openxmlformats.org/officeDocument/2006/relationships/slide" Target="slide52.xml" /><Relationship Id="rId106" Type="http://schemas.openxmlformats.org/officeDocument/2006/relationships/slide" Target="slide52.xml" /><Relationship Id="rId107" Type="http://schemas.openxmlformats.org/officeDocument/2006/relationships/slide" Target="slide53.xml" /><Relationship Id="rId108" Type="http://schemas.openxmlformats.org/officeDocument/2006/relationships/slide" Target="slide53.xml" /><Relationship Id="rId109" Type="http://schemas.openxmlformats.org/officeDocument/2006/relationships/slide" Target="slide54.xml" /><Relationship Id="rId110" Type="http://schemas.openxmlformats.org/officeDocument/2006/relationships/slide" Target="slide58.xml" /><Relationship Id="rId111" Type="http://schemas.openxmlformats.org/officeDocument/2006/relationships/slide" Target="slide58.xml" /><Relationship Id="rId112" Type="http://schemas.openxmlformats.org/officeDocument/2006/relationships/slide" Target="slide59.xml" /><Relationship Id="rId113" Type="http://schemas.openxmlformats.org/officeDocument/2006/relationships/slide" Target="slide59.xml" /><Relationship Id="rId114" Type="http://schemas.openxmlformats.org/officeDocument/2006/relationships/slide" Target="slide60.xml" /><Relationship Id="rId115" Type="http://schemas.openxmlformats.org/officeDocument/2006/relationships/slide" Target="slide60.xml" /><Relationship Id="rId116" Type="http://schemas.openxmlformats.org/officeDocument/2006/relationships/slide" Target="slide60.xml" /><Relationship Id="rId117" Type="http://schemas.openxmlformats.org/officeDocument/2006/relationships/slide" Target="slide60.xml" /><Relationship Id="rId118" Type="http://schemas.openxmlformats.org/officeDocument/2006/relationships/slide" Target="slide60.xml" /><Relationship Id="rId119" Type="http://schemas.openxmlformats.org/officeDocument/2006/relationships/slide" Target="slide61.xml" /><Relationship Id="rId120" Type="http://schemas.openxmlformats.org/officeDocument/2006/relationships/slide" Target="slide61.xml" /><Relationship Id="rId121" Type="http://schemas.openxmlformats.org/officeDocument/2006/relationships/slide" Target="slide61.xml" /><Relationship Id="rId122" Type="http://schemas.openxmlformats.org/officeDocument/2006/relationships/slide" Target="slide61.xml" /><Relationship Id="rId123" Type="http://schemas.openxmlformats.org/officeDocument/2006/relationships/slide" Target="slide61.xml" /><Relationship Id="rId124" Type="http://schemas.openxmlformats.org/officeDocument/2006/relationships/slide" Target="slide61.xml" /><Relationship Id="rId125" Type="http://schemas.openxmlformats.org/officeDocument/2006/relationships/slide" Target="slide61.xml" /><Relationship Id="rId126" Type="http://schemas.openxmlformats.org/officeDocument/2006/relationships/slide" Target="slide62.xml" /><Relationship Id="rId127" Type="http://schemas.openxmlformats.org/officeDocument/2006/relationships/slide" Target="slide62.xml" /><Relationship Id="rId128" Type="http://schemas.openxmlformats.org/officeDocument/2006/relationships/slide" Target="slide62.xml" /><Relationship Id="rId129" Type="http://schemas.openxmlformats.org/officeDocument/2006/relationships/slide" Target="slide63.xml" /><Relationship Id="rId130" Type="http://schemas.openxmlformats.org/officeDocument/2006/relationships/slide" Target="slide63.xml" /><Relationship Id="rId131" Type="http://schemas.openxmlformats.org/officeDocument/2006/relationships/slide" Target="slide63.xml" /><Relationship Id="rId132" Type="http://schemas.openxmlformats.org/officeDocument/2006/relationships/slide" Target="slide63.xml" /><Relationship Id="rId133" Type="http://schemas.openxmlformats.org/officeDocument/2006/relationships/slide" Target="slide64.xml" /><Relationship Id="rId134" Type="http://schemas.openxmlformats.org/officeDocument/2006/relationships/slide" Target="slide64.xml" /><Relationship Id="rId135" Type="http://schemas.openxmlformats.org/officeDocument/2006/relationships/slide" Target="slide64.xml" /><Relationship Id="rId136" Type="http://schemas.openxmlformats.org/officeDocument/2006/relationships/slide" Target="slide65.xml" /><Relationship Id="rId137" Type="http://schemas.openxmlformats.org/officeDocument/2006/relationships/slide" Target="slide66.xml" /><Relationship Id="rId138" Type="http://schemas.openxmlformats.org/officeDocument/2006/relationships/slide" Target="slide66.xml" /><Relationship Id="rId139" Type="http://schemas.openxmlformats.org/officeDocument/2006/relationships/slide" Target="slide66.xml" /><Relationship Id="rId140" Type="http://schemas.openxmlformats.org/officeDocument/2006/relationships/slide" Target="slide66.xml" /><Relationship Id="rId141" Type="http://schemas.openxmlformats.org/officeDocument/2006/relationships/slide" Target="slide67.xml" /><Relationship Id="rId142" Type="http://schemas.openxmlformats.org/officeDocument/2006/relationships/slide" Target="slide67.xml" /><Relationship Id="rId143" Type="http://schemas.openxmlformats.org/officeDocument/2006/relationships/slide" Target="slide67.xml" /><Relationship Id="rId144" Type="http://schemas.openxmlformats.org/officeDocument/2006/relationships/slide" Target="slide67.xml" /><Relationship Id="rId145" Type="http://schemas.openxmlformats.org/officeDocument/2006/relationships/slide" Target="slide67.xml" /><Relationship Id="rId146" Type="http://schemas.openxmlformats.org/officeDocument/2006/relationships/slide" Target="slide67.xml" /><Relationship Id="rId147" Type="http://schemas.openxmlformats.org/officeDocument/2006/relationships/slide" Target="slide67.xml" /><Relationship Id="rId148" Type="http://schemas.openxmlformats.org/officeDocument/2006/relationships/slide" Target="slide67.xml" /><Relationship Id="rId149" Type="http://schemas.openxmlformats.org/officeDocument/2006/relationships/slide" Target="slide67.xml" /><Relationship Id="rId150" Type="http://schemas.openxmlformats.org/officeDocument/2006/relationships/slide" Target="slide68.xml" /><Relationship Id="rId151" Type="http://schemas.openxmlformats.org/officeDocument/2006/relationships/slide" Target="slide68.xml" /><Relationship Id="rId152" Type="http://schemas.openxmlformats.org/officeDocument/2006/relationships/slide" Target="slide68.xml" /><Relationship Id="rId153" Type="http://schemas.openxmlformats.org/officeDocument/2006/relationships/slide" Target="slide68.xml" /><Relationship Id="rId154" Type="http://schemas.openxmlformats.org/officeDocument/2006/relationships/slide" Target="slide69.xml" /><Relationship Id="rId155" Type="http://schemas.openxmlformats.org/officeDocument/2006/relationships/slide" Target="slide70.xml" /><Relationship Id="rId156" Type="http://schemas.openxmlformats.org/officeDocument/2006/relationships/slide" Target="slide70.xml" /><Relationship Id="rId157" Type="http://schemas.openxmlformats.org/officeDocument/2006/relationships/slide" Target="slide71.xml" /><Relationship Id="rId158" Type="http://schemas.openxmlformats.org/officeDocument/2006/relationships/slide" Target="slide72.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49.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4.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6.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cs.anthropic.com/en/docs/claude-code" TargetMode="External" /><Relationship Id="rId3" Type="http://schemas.openxmlformats.org/officeDocument/2006/relationships/hyperlink" Target="https://www.anthropic.com/engineering/claude-code-best-practices" TargetMode="External" /><Relationship Id="rId4" Type="http://schemas.openxmlformats.org/officeDocument/2006/relationships/hyperlink" Target="https://github.com/anthropics/claude-code" TargetMode="External" /></Relationships>
</file>

<file path=ppt/slides/_rels/slide70.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1.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2.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Table of Contents</a:t>
            </a:r>
          </a:p>
        </p:txBody>
      </p:sp>
      <p:sp>
        <p:nvSpPr>
          <p:cNvPr id="3" name="Content Placeholder 2"/>
          <p:cNvSpPr>
            <a:spLocks noGrp="1"/>
          </p:cNvSpPr>
          <p:nvPr>
            <p:ph idx="1"/>
          </p:nvPr>
        </p:nvSpPr>
        <p:spPr/>
        <p:txBody>
          <a:bodyPr/>
          <a:lstStyle/>
          <a:p>
            <a:pPr lvl="0"/>
            <a:r>
              <a:rPr>
                <a:hlinkClick r:id="rId2" action="ppaction://hlinksldjump"/>
              </a:rPr>
              <a:t>Cours : Maîtriser Claude Code pour Développeurs</a:t>
            </a:r>
          </a:p>
          <a:p>
            <a:pPr lvl="1"/>
            <a:r>
              <a:rPr>
                <a:hlinkClick r:id="rId3" action="ppaction://hlinksldjump"/>
              </a:rPr>
              <a:t>Objectif pédagogique global</a:t>
            </a:r>
          </a:p>
          <a:p>
            <a:pPr lvl="0"/>
            <a:r>
              <a:rPr>
                <a:hlinkClick r:id="rId4" action="ppaction://hlinksldjump"/>
              </a:rPr>
              <a:t>PARTIE 1 : FONDAMENTAUX</a:t>
            </a:r>
          </a:p>
          <a:p>
            <a:pPr lvl="1"/>
            <a:r>
              <a:rPr>
                <a:hlinkClick r:id="rId5" action="ppaction://hlinksldjump"/>
              </a:rPr>
              <a:t>Objectif de la Partie 1</a:t>
            </a:r>
          </a:p>
          <a:p>
            <a:pPr lvl="1"/>
            <a:r>
              <a:rPr>
                <a:hlinkClick r:id="rId6" action="ppaction://hlinksldjump"/>
              </a:rPr>
              <a:t>Module 1 : Introduction à Claude Code (45 min)</a:t>
            </a:r>
          </a:p>
          <a:p>
            <a:pPr lvl="2"/>
            <a:r>
              <a:rPr>
                <a:hlinkClick r:id="rId7" action="ppaction://hlinksldjump"/>
              </a:rPr>
              <a:t>1.1 Qu’est-ce qu’un assistant de codage IA ?</a:t>
            </a:r>
          </a:p>
          <a:p>
            <a:pPr lvl="2"/>
            <a:r>
              <a:rPr>
                <a:hlinkClick r:id="rId8" action="ppaction://hlinksldjump"/>
              </a:rPr>
              <a:t>1.2 Qu’est-ce que Claude Code ?</a:t>
            </a:r>
          </a:p>
          <a:p>
            <a:pPr lvl="2"/>
            <a:r>
              <a:rPr>
                <a:hlinkClick r:id="rId9" action="ppaction://hlinksldjump"/>
              </a:rPr>
              <a:t>1.3 Comment fonctionne Claude Code ?</a:t>
            </a:r>
          </a:p>
          <a:p>
            <a:pPr lvl="2"/>
            <a:r>
              <a:rPr>
                <a:hlinkClick r:id="rId10" action="ppaction://hlinksldjump"/>
              </a:rPr>
              <a:t>1.4 Les 5 concepts fondamentaux</a:t>
            </a:r>
          </a:p>
          <a:p>
            <a:pPr lvl="2"/>
            <a:r>
              <a:rPr>
                <a:hlinkClick r:id="rId11" action="ppaction://hlinksldjump"/>
              </a:rPr>
              <a:t>1.5 Prérequis et coûts</a:t>
            </a:r>
          </a:p>
          <a:p>
            <a:pPr lvl="2"/>
            <a:r>
              <a:rPr>
                <a:hlinkClick r:id="rId12" action="ppaction://hlinksldjump"/>
              </a:rPr>
              <a:t>1.6 Démo : Claude Code en action</a:t>
            </a:r>
          </a:p>
          <a:p>
            <a:pPr lvl="1"/>
            <a:r>
              <a:rPr>
                <a:hlinkClick r:id="rId13" action="ppaction://hlinksldjump"/>
              </a:rPr>
              <a:t>Module 2 : Installation et Premier Lancement (30 min)</a:t>
            </a:r>
          </a:p>
          <a:p>
            <a:pPr lvl="2"/>
            <a:r>
              <a:rPr>
                <a:hlinkClick r:id="rId14" action="ppaction://hlinksldjump"/>
              </a:rPr>
              <a:t>2.1 Installation</a:t>
            </a:r>
          </a:p>
          <a:p>
            <a:pPr lvl="2"/>
            <a:r>
              <a:rPr>
                <a:hlinkClick r:id="rId15" action="ppaction://hlinksldjump"/>
              </a:rPr>
              <a:t>2.2 Authentification</a:t>
            </a:r>
          </a:p>
          <a:p>
            <a:pPr lvl="2"/>
            <a:r>
              <a:rPr>
                <a:hlinkClick r:id="rId16" action="ppaction://hlinksldjump"/>
              </a:rPr>
              <a:t>2.3 Premier lancement</a:t>
            </a:r>
          </a:p>
          <a:p>
            <a:pPr lvl="1"/>
            <a:r>
              <a:rPr>
                <a:hlinkClick r:id="rId17" action="ppaction://hlinksldjump"/>
              </a:rPr>
              <a:t>Module 3 : CLI - Flags et Options essentiels (45 min)</a:t>
            </a:r>
          </a:p>
          <a:p>
            <a:pPr lvl="2"/>
            <a:r>
              <a:rPr>
                <a:hlinkClick r:id="rId18" action="ppaction://hlinksldjump"/>
              </a:rPr>
              <a:t>3.1 Flags de session</a:t>
            </a:r>
          </a:p>
          <a:p>
            <a:pPr lvl="2"/>
            <a:r>
              <a:rPr>
                <a:hlinkClick r:id="rId19" action="ppaction://hlinksldjump"/>
              </a:rPr>
              <a:t>3.2 Flags de mode</a:t>
            </a:r>
          </a:p>
          <a:p>
            <a:pPr lvl="2"/>
            <a:r>
              <a:rPr>
                <a:hlinkClick r:id="rId20" action="ppaction://hlinksldjump"/>
              </a:rPr>
              <a:t>3.3 Flags de configuration</a:t>
            </a:r>
          </a:p>
          <a:p>
            <a:pPr lvl="2"/>
            <a:r>
              <a:rPr>
                <a:hlinkClick r:id="rId21" action="ppaction://hlinksldjump"/>
              </a:rPr>
              <a:t>3.4 Flags avancés (aperçu)</a:t>
            </a:r>
          </a:p>
          <a:p>
            <a:pPr lvl="1"/>
            <a:r>
              <a:rPr>
                <a:hlinkClick r:id="rId22" action="ppaction://hlinksldjump"/>
              </a:rPr>
              <a:t>Module 4 : Tools - Les outils natifs (45 min)</a:t>
            </a:r>
          </a:p>
          <a:p>
            <a:pPr lvl="2"/>
            <a:r>
              <a:rPr>
                <a:hlinkClick r:id="rId23" action="ppaction://hlinksldjump"/>
              </a:rPr>
              <a:t>4.1 Comprendre les Tools</a:t>
            </a:r>
          </a:p>
          <a:p>
            <a:pPr lvl="2"/>
            <a:r>
              <a:rPr>
                <a:hlinkClick r:id="rId24" action="ppaction://hlinksldjump"/>
              </a:rPr>
              <a:t>4.2 Tools de lecture et recherche</a:t>
            </a:r>
          </a:p>
          <a:p>
            <a:pPr lvl="2"/>
            <a:r>
              <a:rPr>
                <a:hlinkClick r:id="rId25" action="ppaction://hlinksldjump"/>
              </a:rPr>
              <a:t>4.3 Tools de modification</a:t>
            </a:r>
          </a:p>
          <a:p>
            <a:pPr lvl="2"/>
            <a:r>
              <a:rPr>
                <a:hlinkClick r:id="rId26" action="ppaction://hlinksldjump"/>
              </a:rPr>
              <a:t>4.4 Tools d’orchestration</a:t>
            </a:r>
          </a:p>
          <a:p>
            <a:pPr lvl="2"/>
            <a:r>
              <a:rPr>
                <a:hlinkClick r:id="rId27" action="ppaction://hlinksldjump"/>
              </a:rPr>
              <a:t>4.5 Permissions et confirmations</a:t>
            </a:r>
          </a:p>
          <a:p>
            <a:pPr lvl="1"/>
            <a:r>
              <a:rPr>
                <a:hlinkClick r:id="rId28" action="ppaction://hlinksldjump"/>
              </a:rPr>
              <a:t>Module 5 : Slash Commands natives (30 min)</a:t>
            </a:r>
          </a:p>
          <a:p>
            <a:pPr lvl="2"/>
            <a:r>
              <a:rPr>
                <a:hlinkClick r:id="rId29" action="ppaction://hlinksldjump"/>
              </a:rPr>
              <a:t>5.1 Commandes de session</a:t>
            </a:r>
          </a:p>
          <a:p>
            <a:pPr lvl="2"/>
            <a:r>
              <a:rPr>
                <a:hlinkClick r:id="rId30" action="ppaction://hlinksldjump"/>
              </a:rPr>
              <a:t>5.2 Commandes de contexte</a:t>
            </a:r>
          </a:p>
          <a:p>
            <a:pPr lvl="2"/>
            <a:r>
              <a:rPr>
                <a:hlinkClick r:id="rId31" action="ppaction://hlinksldjump"/>
              </a:rPr>
              <a:t>5.3 Commandes de workflow</a:t>
            </a:r>
          </a:p>
          <a:p>
            <a:pPr lvl="2"/>
            <a:r>
              <a:rPr>
                <a:hlinkClick r:id="rId32" action="ppaction://hlinksldjump"/>
              </a:rPr>
              <a:t>5.4 Commandes de configuration</a:t>
            </a:r>
          </a:p>
          <a:p>
            <a:pPr lvl="2"/>
            <a:r>
              <a:rPr>
                <a:hlinkClick r:id="rId33" action="ppaction://hlinksldjump"/>
              </a:rPr>
              <a:t>5.5 Commandes avancées</a:t>
            </a:r>
          </a:p>
          <a:p>
            <a:pPr lvl="1"/>
            <a:r>
              <a:rPr>
                <a:hlinkClick r:id="rId34" action="ppaction://hlinksldjump"/>
              </a:rPr>
              <a:t>Module 6 : Raccourcis clavier (20 min)</a:t>
            </a:r>
          </a:p>
          <a:p>
            <a:pPr lvl="2"/>
            <a:r>
              <a:rPr>
                <a:hlinkClick r:id="rId35" action="ppaction://hlinksldjump"/>
              </a:rPr>
              <a:t>6.1 Contrôles généraux</a:t>
            </a:r>
          </a:p>
          <a:p>
            <a:pPr lvl="2"/>
            <a:r>
              <a:rPr>
                <a:hlinkClick r:id="rId36" action="ppaction://hlinksldjump"/>
              </a:rPr>
              <a:t>6.2 Édition de texte</a:t>
            </a:r>
          </a:p>
          <a:p>
            <a:pPr lvl="2"/>
            <a:r>
              <a:rPr>
                <a:hlinkClick r:id="rId37" action="ppaction://hlinksldjump"/>
              </a:rPr>
              <a:t>6.3 Navigation et modèles</a:t>
            </a:r>
          </a:p>
          <a:p>
            <a:pPr lvl="2"/>
            <a:r>
              <a:rPr>
                <a:hlinkClick r:id="rId38" action="ppaction://hlinksldjump"/>
              </a:rPr>
              <a:t>6.4 Raccourcis spéciaux</a:t>
            </a:r>
          </a:p>
          <a:p>
            <a:pPr lvl="1"/>
            <a:r>
              <a:rPr>
                <a:hlinkClick r:id="rId39" action="ppaction://hlinksldjump"/>
              </a:rPr>
              <a:t>Module 7 : Ajouter du contexte à Claude Code (30 min)</a:t>
            </a:r>
          </a:p>
          <a:p>
            <a:pPr lvl="2"/>
            <a:r>
              <a:rPr>
                <a:hlinkClick r:id="rId40" action="ppaction://hlinksldjump"/>
              </a:rPr>
              <a:t>7.1 Pourquoi le contexte est crucial</a:t>
            </a:r>
          </a:p>
          <a:p>
            <a:pPr lvl="2"/>
            <a:r>
              <a:rPr>
                <a:hlinkClick r:id="rId41" action="ppaction://hlinksldjump"/>
              </a:rPr>
              <a:t>7.2 Méthodes pour ajouter du contexte</a:t>
            </a:r>
          </a:p>
          <a:p>
            <a:pPr lvl="2"/>
            <a:r>
              <a:rPr>
                <a:hlinkClick r:id="rId42" action="ppaction://hlinksldjump"/>
              </a:rPr>
              <a:t>7.3 Contexte persistant avec CLAUDE.md</a:t>
            </a:r>
          </a:p>
          <a:p>
            <a:pPr lvl="2"/>
            <a:r>
              <a:rPr>
                <a:hlinkClick r:id="rId43" action="ppaction://hlinksldjump"/>
              </a:rPr>
              <a:t>7.4 Ajouter des répertoires de travail</a:t>
            </a:r>
          </a:p>
          <a:p>
            <a:pPr lvl="1"/>
            <a:r>
              <a:rPr>
                <a:hlinkClick r:id="rId44" action="ppaction://hlinksldjump"/>
              </a:rPr>
              <a:t>Module 8 : Workflow quotidien (45 min)</a:t>
            </a:r>
          </a:p>
          <a:p>
            <a:pPr lvl="2"/>
            <a:r>
              <a:rPr>
                <a:hlinkClick r:id="rId45" action="ppaction://hlinksldjump"/>
              </a:rPr>
              <a:t>8.1 Explorer une codebase</a:t>
            </a:r>
          </a:p>
          <a:p>
            <a:pPr lvl="2"/>
            <a:r>
              <a:rPr>
                <a:hlinkClick r:id="rId46" action="ppaction://hlinksldjump"/>
              </a:rPr>
              <a:t>8.2 Modifier du code</a:t>
            </a:r>
          </a:p>
          <a:p>
            <a:pPr lvl="2"/>
            <a:r>
              <a:rPr>
                <a:hlinkClick r:id="rId47" action="ppaction://hlinksldjump"/>
              </a:rPr>
              <a:t>8.3 Intégration Git</a:t>
            </a:r>
          </a:p>
          <a:p>
            <a:pPr lvl="2"/>
            <a:r>
              <a:rPr>
                <a:hlinkClick r:id="rId48" action="ppaction://hlinksldjump"/>
              </a:rPr>
              <a:t>8.4 Débugger efficacement</a:t>
            </a:r>
          </a:p>
          <a:p>
            <a:pPr lvl="2"/>
            <a:r>
              <a:rPr>
                <a:hlinkClick r:id="rId49" action="ppaction://hlinksldjump"/>
              </a:rPr>
              <a:t>8.5 Écrire des tests</a:t>
            </a:r>
          </a:p>
          <a:p>
            <a:pPr lvl="2"/>
            <a:r>
              <a:rPr>
                <a:hlinkClick r:id="rId50" action="ppaction://hlinksldjump"/>
              </a:rPr>
              <a:t>8.6 Documenter</a:t>
            </a:r>
          </a:p>
          <a:p>
            <a:pPr lvl="1"/>
            <a:r>
              <a:rPr>
                <a:hlinkClick r:id="rId51" action="ppaction://hlinksldjump"/>
              </a:rPr>
              <a:t>Module 9 : Subagents - Introduction (30 min)</a:t>
            </a:r>
          </a:p>
          <a:p>
            <a:pPr lvl="2"/>
            <a:r>
              <a:rPr>
                <a:hlinkClick r:id="rId52" action="ppaction://hlinksldjump"/>
              </a:rPr>
              <a:t>9.1 Qu’est-ce qu’un Subagent ?</a:t>
            </a:r>
          </a:p>
          <a:p>
            <a:pPr lvl="2"/>
            <a:r>
              <a:rPr>
                <a:hlinkClick r:id="rId53" action="ppaction://hlinksldjump"/>
              </a:rPr>
              <a:t>9.2 Subagents intégrés</a:t>
            </a:r>
          </a:p>
          <a:p>
            <a:pPr lvl="2"/>
            <a:r>
              <a:rPr>
                <a:hlinkClick r:id="rId54" action="ppaction://hlinksldjump"/>
              </a:rPr>
              <a:t>9.3 Observer les Subagents</a:t>
            </a:r>
          </a:p>
          <a:p>
            <a:pPr lvl="1"/>
            <a:r>
              <a:rPr>
                <a:hlinkClick r:id="rId55" action="ppaction://hlinksldjump"/>
              </a:rPr>
              <a:t>Module 10 : Skills et Plugins - Introduction (30 min)</a:t>
            </a:r>
          </a:p>
          <a:p>
            <a:pPr lvl="2"/>
            <a:r>
              <a:rPr>
                <a:hlinkClick r:id="rId56" action="ppaction://hlinksldjump"/>
              </a:rPr>
              <a:t>10.1 Qu’est-ce qu’une Skill ?</a:t>
            </a:r>
          </a:p>
          <a:p>
            <a:pPr lvl="2"/>
            <a:r>
              <a:rPr>
                <a:hlinkClick r:id="rId57" action="ppaction://hlinksldjump"/>
              </a:rPr>
              <a:t>10.2 Utiliser une Skill existante</a:t>
            </a:r>
          </a:p>
          <a:p>
            <a:pPr lvl="2"/>
            <a:r>
              <a:rPr>
                <a:hlinkClick r:id="rId58" action="ppaction://hlinksldjump"/>
              </a:rPr>
              <a:t>10.3 Qu’est-ce qu’un Plugin ?</a:t>
            </a:r>
          </a:p>
          <a:p>
            <a:pPr lvl="2"/>
            <a:r>
              <a:rPr>
                <a:hlinkClick r:id="rId59" action="ppaction://hlinksldjump"/>
              </a:rPr>
              <a:t>10.4 Bonnes pratiques débutant</a:t>
            </a:r>
          </a:p>
          <a:p>
            <a:pPr lvl="1"/>
            <a:r>
              <a:rPr>
                <a:hlinkClick r:id="rId60" action="ppaction://hlinksldjump"/>
              </a:rPr>
              <a:t>Module 11 : MCP Servers - Introduction (30 min)</a:t>
            </a:r>
          </a:p>
          <a:p>
            <a:pPr lvl="2"/>
            <a:r>
              <a:rPr>
                <a:hlinkClick r:id="rId61" action="ppaction://hlinksldjump"/>
              </a:rPr>
              <a:t>11.1 Qu’est-ce qu’un MCP Server ?</a:t>
            </a:r>
          </a:p>
          <a:p>
            <a:pPr lvl="2"/>
            <a:r>
              <a:rPr>
                <a:hlinkClick r:id="rId62" action="ppaction://hlinksldjump"/>
              </a:rPr>
              <a:t>11.2 MCP Servers pré-installés</a:t>
            </a:r>
          </a:p>
          <a:p>
            <a:pPr lvl="2"/>
            <a:r>
              <a:rPr>
                <a:hlinkClick r:id="rId63" action="ppaction://hlinksldjump"/>
              </a:rPr>
              <a:t>11.3 Installer un MCP Server simple</a:t>
            </a:r>
          </a:p>
          <a:p>
            <a:pPr lvl="2"/>
            <a:r>
              <a:rPr>
                <a:hlinkClick r:id="rId64" action="ppaction://hlinksldjump"/>
              </a:rPr>
              <a:t>11.4 Utiliser les outils MCP</a:t>
            </a:r>
          </a:p>
          <a:p>
            <a:pPr lvl="1"/>
            <a:r>
              <a:rPr>
                <a:hlinkClick r:id="rId65" action="ppaction://hlinksldjump"/>
              </a:rPr>
              <a:t>Module 12 : Gestion des sessions (20 min)</a:t>
            </a:r>
          </a:p>
          <a:p>
            <a:pPr lvl="2"/>
            <a:r>
              <a:rPr>
                <a:hlinkClick r:id="rId66" action="ppaction://hlinksldjump"/>
              </a:rPr>
              <a:t>12.1 Sessions et persistance</a:t>
            </a:r>
          </a:p>
          <a:p>
            <a:pPr lvl="2"/>
            <a:r>
              <a:rPr>
                <a:hlinkClick r:id="rId67" action="ppaction://hlinksldjump"/>
              </a:rPr>
              <a:t>12.2 Historique et navigation</a:t>
            </a:r>
          </a:p>
          <a:p>
            <a:pPr lvl="2"/>
            <a:r>
              <a:rPr>
                <a:hlinkClick r:id="rId68" action="ppaction://hlinksldjump"/>
              </a:rPr>
              <a:t>12.3 Checkpoints et Rewind</a:t>
            </a:r>
          </a:p>
          <a:p>
            <a:pPr lvl="1"/>
            <a:r>
              <a:rPr>
                <a:hlinkClick r:id="rId69" action="ppaction://hlinksldjump"/>
              </a:rPr>
              <a:t>Projet de fin de partie gratuite : BizCraft Diagnostic (Phase 0)</a:t>
            </a:r>
          </a:p>
          <a:p>
            <a:pPr lvl="2"/>
            <a:r>
              <a:rPr>
                <a:hlinkClick r:id="rId70" action="ppaction://hlinksldjump"/>
              </a:rPr>
              <a:t>Contexte du projet</a:t>
            </a:r>
          </a:p>
          <a:p>
            <a:pPr lvl="2"/>
            <a:r>
              <a:rPr>
                <a:hlinkClick r:id="rId71" action="ppaction://hlinksldjump"/>
              </a:rPr>
              <a:t>Ce qu’on construit</a:t>
            </a:r>
          </a:p>
          <a:p>
            <a:pPr lvl="2"/>
            <a:r>
              <a:rPr>
                <a:hlinkClick r:id="rId72" action="ppaction://hlinksldjump"/>
              </a:rPr>
              <a:t>Stack technique</a:t>
            </a:r>
          </a:p>
          <a:p>
            <a:pPr lvl="2"/>
            <a:r>
              <a:rPr>
                <a:hlinkClick r:id="rId73" action="ppaction://hlinksldjump"/>
              </a:rPr>
              <a:t>Étapes de construction avec Claude Code</a:t>
            </a:r>
          </a:p>
          <a:p>
            <a:pPr lvl="2"/>
            <a:r>
              <a:rPr>
                <a:hlinkClick r:id="rId74" action="ppaction://hlinksldjump"/>
              </a:rPr>
              <a:t>Livrables attendus</a:t>
            </a:r>
          </a:p>
          <a:p>
            <a:pPr lvl="0"/>
            <a:r>
              <a:rPr>
                <a:hlinkClick r:id="rId75" action="ppaction://hlinksldjump"/>
              </a:rPr>
              <a:t>PARTIE 2 : MAÎTRISE AVANCÉE</a:t>
            </a:r>
          </a:p>
          <a:p>
            <a:pPr lvl="1"/>
            <a:r>
              <a:rPr>
                <a:hlinkClick r:id="rId76" action="ppaction://hlinksldjump"/>
              </a:rPr>
              <a:t>Objectif de la Partie 2</a:t>
            </a:r>
          </a:p>
          <a:p>
            <a:pPr lvl="1"/>
            <a:r>
              <a:rPr>
                <a:hlinkClick r:id="rId77" action="ppaction://hlinksldjump"/>
              </a:rPr>
              <a:t>Module 13 : Configuration avancée - Fichiers (45 min)</a:t>
            </a:r>
          </a:p>
          <a:p>
            <a:pPr lvl="2"/>
            <a:r>
              <a:rPr>
                <a:hlinkClick r:id="rId78" action="ppaction://hlinksldjump"/>
              </a:rPr>
              <a:t>13.1 Hiérarchie des fichiers de configuration</a:t>
            </a:r>
          </a:p>
          <a:p>
            <a:pPr lvl="2"/>
            <a:r>
              <a:rPr>
                <a:hlinkClick r:id="rId79" action="ppaction://hlinksldjump"/>
              </a:rPr>
              <a:t>13.2 Le fichier settings.json</a:t>
            </a:r>
          </a:p>
          <a:p>
            <a:pPr lvl="2"/>
            <a:r>
              <a:rPr>
                <a:hlinkClick r:id="rId80" action="ppaction://hlinksldjump"/>
              </a:rPr>
              <a:t>13.3 Fichiers spéciaux</a:t>
            </a:r>
          </a:p>
          <a:p>
            <a:pPr lvl="2"/>
            <a:r>
              <a:rPr>
                <a:hlinkClick r:id="rId81" action="ppaction://hlinksldjump"/>
              </a:rPr>
              <a:t>13.4 Configuration par environnement</a:t>
            </a:r>
          </a:p>
          <a:p>
            <a:pPr lvl="1"/>
            <a:r>
              <a:rPr>
                <a:hlinkClick r:id="rId82" action="ppaction://hlinksldjump"/>
              </a:rPr>
              <a:t>Module 14 : CLAUDE.md et Memory System (45 min)</a:t>
            </a:r>
          </a:p>
          <a:p>
            <a:pPr lvl="2"/>
            <a:r>
              <a:rPr>
                <a:hlinkClick r:id="rId83" action="ppaction://hlinksldjump"/>
              </a:rPr>
              <a:t>14.1 Le fichier CLAUDE.md</a:t>
            </a:r>
          </a:p>
          <a:p>
            <a:pPr lvl="2"/>
            <a:r>
              <a:rPr>
                <a:hlinkClick r:id="rId84" action="ppaction://hlinksldjump"/>
              </a:rPr>
              <a:t>14.2 Hiérarchie des fichiers mémoire</a:t>
            </a:r>
          </a:p>
          <a:p>
            <a:pPr lvl="2"/>
            <a:r>
              <a:rPr>
                <a:hlinkClick r:id="rId85" action="ppaction://hlinksldjump"/>
              </a:rPr>
              <a:t>14.3 Imports et modularité</a:t>
            </a:r>
          </a:p>
          <a:p>
            <a:pPr lvl="2"/>
            <a:r>
              <a:rPr>
                <a:hlinkClick r:id="rId86" action="ppaction://hlinksldjump"/>
              </a:rPr>
              <a:t>14.4 Bonnes pratiques</a:t>
            </a:r>
          </a:p>
          <a:p>
            <a:pPr lvl="1"/>
            <a:r>
              <a:rPr>
                <a:hlinkClick r:id="rId87" action="ppaction://hlinksldjump"/>
              </a:rPr>
              <a:t>Module 15 : Contrôler le contexte (30 min)</a:t>
            </a:r>
          </a:p>
          <a:p>
            <a:pPr lvl="2"/>
            <a:r>
              <a:rPr>
                <a:hlinkClick r:id="rId88" action="ppaction://hlinksldjump"/>
              </a:rPr>
              <a:t>15.1 Comprendre la fenêtre de contexte</a:t>
            </a:r>
          </a:p>
          <a:p>
            <a:pPr lvl="2"/>
            <a:r>
              <a:rPr>
                <a:hlinkClick r:id="rId89" action="ppaction://hlinksldjump"/>
              </a:rPr>
              <a:t>15.2 Stratégies de compaction</a:t>
            </a:r>
          </a:p>
          <a:p>
            <a:pPr lvl="2"/>
            <a:r>
              <a:rPr>
                <a:hlinkClick r:id="rId90" action="ppaction://hlinksldjump"/>
              </a:rPr>
              <a:t>15.3 Optimiser l’utilisation du contexte</a:t>
            </a:r>
          </a:p>
          <a:p>
            <a:pPr lvl="2"/>
            <a:r>
              <a:rPr>
                <a:hlinkClick r:id="rId91" action="ppaction://hlinksldjump"/>
              </a:rPr>
              <a:t>15.4 Gérer les grands projets</a:t>
            </a:r>
          </a:p>
          <a:p>
            <a:pPr lvl="1"/>
            <a:r>
              <a:rPr>
                <a:hlinkClick r:id="rId92" action="ppaction://hlinksldjump"/>
              </a:rPr>
              <a:t>Module 16 : Permissions et Sécurité (45 min)</a:t>
            </a:r>
          </a:p>
          <a:p>
            <a:pPr lvl="2"/>
            <a:r>
              <a:rPr>
                <a:hlinkClick r:id="rId93" action="ppaction://hlinksldjump"/>
              </a:rPr>
              <a:t>16.1 Modes de permission</a:t>
            </a:r>
          </a:p>
          <a:p>
            <a:pPr lvl="2"/>
            <a:r>
              <a:rPr>
                <a:hlinkClick r:id="rId94" action="ppaction://hlinksldjump"/>
              </a:rPr>
              <a:t>16.2 Règles de permission granulaires</a:t>
            </a:r>
          </a:p>
          <a:p>
            <a:pPr lvl="2"/>
            <a:r>
              <a:rPr>
                <a:hlinkClick r:id="rId95" action="ppaction://hlinksldjump"/>
              </a:rPr>
              <a:t>16.3 Sandboxing</a:t>
            </a:r>
          </a:p>
          <a:p>
            <a:pPr lvl="2"/>
            <a:r>
              <a:rPr>
                <a:hlinkClick r:id="rId96" action="ppaction://hlinksldjump"/>
              </a:rPr>
              <a:t>16.4 Sécurité en équipe</a:t>
            </a:r>
          </a:p>
          <a:p>
            <a:pPr lvl="1"/>
            <a:r>
              <a:rPr>
                <a:hlinkClick r:id="rId97" action="ppaction://hlinksldjump"/>
              </a:rPr>
              <a:t>Module 17 : MCP Servers - Maîtrise complète (1h)</a:t>
            </a:r>
          </a:p>
          <a:p>
            <a:pPr lvl="2"/>
            <a:r>
              <a:rPr>
                <a:hlinkClick r:id="rId98" action="ppaction://hlinksldjump"/>
              </a:rPr>
              <a:t>17.1 Architecture MCP</a:t>
            </a:r>
          </a:p>
          <a:p>
            <a:pPr lvl="2"/>
            <a:r>
              <a:rPr>
                <a:hlinkClick r:id="rId99" action="ppaction://hlinksldjump"/>
              </a:rPr>
              <a:t>17.2 Gestion des serveurs MCP</a:t>
            </a:r>
          </a:p>
          <a:p>
            <a:pPr lvl="2"/>
            <a:r>
              <a:rPr>
                <a:hlinkClick r:id="rId100" action="ppaction://hlinksldjump"/>
              </a:rPr>
              <a:t>17.3 MCP Servers essentiels</a:t>
            </a:r>
          </a:p>
          <a:p>
            <a:pPr lvl="2"/>
            <a:r>
              <a:rPr>
                <a:hlinkClick r:id="rId101" action="ppaction://hlinksldjump"/>
              </a:rPr>
              <a:t>17.4 Créer son propre MCP Server</a:t>
            </a:r>
          </a:p>
          <a:p>
            <a:pPr lvl="1"/>
            <a:r>
              <a:rPr>
                <a:hlinkClick r:id="rId102" action="ppaction://hlinksldjump"/>
              </a:rPr>
              <a:t>Module 18 : Skills et Subagents personnalisés (1h)</a:t>
            </a:r>
          </a:p>
          <a:p>
            <a:pPr lvl="2"/>
            <a:r>
              <a:rPr>
                <a:hlinkClick r:id="rId103" action="ppaction://hlinksldjump"/>
              </a:rPr>
              <a:t>18.1 Créer une Skill</a:t>
            </a:r>
          </a:p>
          <a:p>
            <a:pPr lvl="2"/>
            <a:r>
              <a:rPr>
                <a:hlinkClick r:id="rId104" action="ppaction://hlinksldjump"/>
              </a:rPr>
              <a:t>18.2 Skills avancées</a:t>
            </a:r>
          </a:p>
          <a:p>
            <a:pPr lvl="2"/>
            <a:r>
              <a:rPr>
                <a:hlinkClick r:id="rId105" action="ppaction://hlinksldjump"/>
              </a:rPr>
              <a:t>18.3 Créer un Subagent personnalisé</a:t>
            </a:r>
          </a:p>
          <a:p>
            <a:pPr lvl="2"/>
            <a:r>
              <a:rPr>
                <a:hlinkClick r:id="rId106" action="ppaction://hlinksldjump"/>
              </a:rPr>
              <a:t>18.4 Partager en équipe</a:t>
            </a:r>
          </a:p>
          <a:p>
            <a:pPr lvl="1"/>
            <a:r>
              <a:rPr>
                <a:hlinkClick r:id="rId107" action="ppaction://hlinksldjump"/>
              </a:rPr>
              <a:t>Module 19 : Hooks - Automatisation événementielle (1h15)</a:t>
            </a:r>
          </a:p>
          <a:p>
            <a:pPr lvl="2"/>
            <a:r>
              <a:rPr>
                <a:hlinkClick r:id="rId108" action="ppaction://hlinksldjump"/>
              </a:rPr>
              <a:t>19.1 Comprendre les Hooks</a:t>
            </a:r>
          </a:p>
          <a:p>
            <a:pPr lvl="2"/>
            <a:r>
              <a:rPr>
                <a:hlinkClick r:id="rId109" action="ppaction://hlinksldjump"/>
              </a:rPr>
              <a:t>19.2 Événements disponibles</a:t>
            </a:r>
          </a:p>
          <a:p>
            <a:pPr lvl="2"/>
            <a:r>
              <a:rPr>
                <a:hlinkClick r:id="rId110" action="ppaction://hlinksldjump"/>
              </a:rPr>
              <a:t>19.3 Créer des Hooks</a:t>
            </a:r>
          </a:p>
          <a:p>
            <a:pPr lvl="2"/>
            <a:r>
              <a:rPr>
                <a:hlinkClick r:id="rId111" action="ppaction://hlinksldjump"/>
              </a:rPr>
              <a:t>19.4 Pièges courants avec les Hooks (Gotchas)</a:t>
            </a:r>
          </a:p>
          <a:p>
            <a:pPr lvl="2"/>
            <a:r>
              <a:rPr>
                <a:hlinkClick r:id="rId112" action="ppaction://hlinksldjump"/>
              </a:rPr>
              <a:t>19.5 Exemples de hooks utiles</a:t>
            </a:r>
          </a:p>
          <a:p>
            <a:pPr lvl="2"/>
            <a:r>
              <a:rPr>
                <a:hlinkClick r:id="rId113" action="ppaction://hlinksldjump"/>
              </a:rPr>
              <a:t>19.6 Claude Code SDK</a:t>
            </a:r>
          </a:p>
          <a:p>
            <a:pPr lvl="1"/>
            <a:r>
              <a:rPr>
                <a:hlinkClick r:id="rId114" action="ppaction://hlinksldjump"/>
              </a:rPr>
              <a:t>Module 20 : IDE Integrations (45 min)</a:t>
            </a:r>
          </a:p>
          <a:p>
            <a:pPr lvl="2"/>
            <a:r>
              <a:rPr>
                <a:hlinkClick r:id="rId115" action="ppaction://hlinksldjump"/>
              </a:rPr>
              <a:t>20.1 Extension VS Code</a:t>
            </a:r>
          </a:p>
          <a:p>
            <a:pPr lvl="2"/>
            <a:r>
              <a:rPr>
                <a:hlinkClick r:id="rId116" action="ppaction://hlinksldjump"/>
              </a:rPr>
              <a:t>20.2 Plugin JetBrains</a:t>
            </a:r>
          </a:p>
          <a:p>
            <a:pPr lvl="2"/>
            <a:r>
              <a:rPr>
                <a:hlinkClick r:id="rId117" action="ppaction://hlinksldjump"/>
              </a:rPr>
              <a:t>20.3 Chrome Integration</a:t>
            </a:r>
          </a:p>
          <a:p>
            <a:pPr lvl="2"/>
            <a:r>
              <a:rPr>
                <a:hlinkClick r:id="rId118" action="ppaction://hlinksldjump"/>
              </a:rPr>
              <a:t>20.4 Bonnes pratiques IDE</a:t>
            </a:r>
          </a:p>
          <a:p>
            <a:pPr lvl="1"/>
            <a:r>
              <a:rPr>
                <a:hlinkClick r:id="rId119" action="ppaction://hlinksldjump"/>
              </a:rPr>
              <a:t>Module 21 : Mode Headless et Automatisation (45 min)</a:t>
            </a:r>
          </a:p>
          <a:p>
            <a:pPr lvl="2"/>
            <a:r>
              <a:rPr>
                <a:hlinkClick r:id="rId120" action="ppaction://hlinksldjump"/>
              </a:rPr>
              <a:t>21.1 Print Mode (</a:t>
            </a:r>
            <a:r>
              <a:rPr>
                <a:hlinkClick r:id="rId121" action="ppaction://hlinksldjump"/>
                <a:latin typeface="Courier"/>
              </a:rPr>
              <a:t>-p</a:t>
            </a:r>
            <a:r>
              <a:rPr>
                <a:hlinkClick r:id="rId122" action="ppaction://hlinksldjump"/>
              </a:rPr>
              <a:t>)</a:t>
            </a:r>
          </a:p>
          <a:p>
            <a:pPr lvl="2"/>
            <a:r>
              <a:rPr>
                <a:hlinkClick r:id="rId123" action="ppaction://hlinksldjump"/>
              </a:rPr>
              <a:t>21.2 Options avancées</a:t>
            </a:r>
          </a:p>
          <a:p>
            <a:pPr lvl="2"/>
            <a:r>
              <a:rPr>
                <a:hlinkClick r:id="rId124" action="ppaction://hlinksldjump"/>
              </a:rPr>
              <a:t>21.3 Script exemple</a:t>
            </a:r>
          </a:p>
          <a:p>
            <a:pPr lvl="2"/>
            <a:r>
              <a:rPr>
                <a:hlinkClick r:id="rId125" action="ppaction://hlinksldjump"/>
              </a:rPr>
              <a:t>21.4 SDK</a:t>
            </a:r>
          </a:p>
          <a:p>
            <a:pPr lvl="1"/>
            <a:r>
              <a:rPr>
                <a:hlinkClick r:id="rId126" action="ppaction://hlinksldjump"/>
              </a:rPr>
              <a:t>Module 22 : CI/CD - GitHub Actions et GitLab (1h)</a:t>
            </a:r>
          </a:p>
          <a:p>
            <a:pPr lvl="2"/>
            <a:r>
              <a:rPr>
                <a:hlinkClick r:id="rId127" action="ppaction://hlinksldjump"/>
              </a:rPr>
              <a:t>22.1 GitHub Actions</a:t>
            </a:r>
          </a:p>
          <a:p>
            <a:pPr lvl="2"/>
            <a:r>
              <a:rPr>
                <a:hlinkClick r:id="rId128" action="ppaction://hlinksldjump"/>
              </a:rPr>
              <a:t>22.2 GitLab CI</a:t>
            </a:r>
          </a:p>
          <a:p>
            <a:pPr lvl="1"/>
            <a:r>
              <a:rPr>
                <a:hlinkClick r:id="rId129" action="ppaction://hlinksldjump"/>
              </a:rPr>
              <a:t>Module 23 : Patterns agentiques avancés (45 min)</a:t>
            </a:r>
          </a:p>
          <a:p>
            <a:pPr lvl="2"/>
            <a:r>
              <a:rPr>
                <a:hlinkClick r:id="rId130" action="ppaction://hlinksldjump"/>
              </a:rPr>
              <a:t>23.1 Plan Mode</a:t>
            </a:r>
          </a:p>
          <a:p>
            <a:pPr lvl="2"/>
            <a:r>
              <a:rPr>
                <a:hlinkClick r:id="rId131" action="ppaction://hlinksldjump"/>
              </a:rPr>
              <a:t>23.2 Orchestration subagents</a:t>
            </a:r>
          </a:p>
          <a:p>
            <a:pPr lvl="2"/>
            <a:r>
              <a:rPr>
                <a:hlinkClick r:id="rId132" action="ppaction://hlinksldjump"/>
              </a:rPr>
              <a:t>23.3 Extended Thinking</a:t>
            </a:r>
          </a:p>
          <a:p>
            <a:pPr lvl="1"/>
            <a:r>
              <a:rPr>
                <a:hlinkClick r:id="rId133" action="ppaction://hlinksldjump"/>
              </a:rPr>
              <a:t>Module 24 : Optimisation et Productivité (45 min)</a:t>
            </a:r>
          </a:p>
          <a:p>
            <a:pPr lvl="2"/>
            <a:r>
              <a:rPr>
                <a:hlinkClick r:id="rId134" action="ppaction://hlinksldjump"/>
              </a:rPr>
              <a:t>Gestion contexte</a:t>
            </a:r>
          </a:p>
          <a:p>
            <a:pPr lvl="2"/>
            <a:r>
              <a:rPr>
                <a:hlinkClick r:id="rId135" action="ppaction://hlinksldjump"/>
              </a:rPr>
              <a:t>Réduction tokens</a:t>
            </a:r>
          </a:p>
          <a:p>
            <a:pPr lvl="1"/>
            <a:r>
              <a:rPr>
                <a:hlinkClick r:id="rId136" action="ppaction://hlinksldjump"/>
              </a:rPr>
              <a:t>Module 25 : Configuration Terminal et UX (30 min)</a:t>
            </a:r>
          </a:p>
          <a:p>
            <a:pPr lvl="1"/>
            <a:r>
              <a:rPr>
                <a:hlinkClick r:id="rId137" action="ppaction://hlinksldjump"/>
              </a:rPr>
              <a:t>Module 26 : Déploiement Enterprise (30 min)</a:t>
            </a:r>
          </a:p>
          <a:p>
            <a:pPr lvl="2"/>
            <a:r>
              <a:rPr>
                <a:hlinkClick r:id="rId138" action="ppaction://hlinksldjump"/>
              </a:rPr>
              <a:t>Managed Settings</a:t>
            </a:r>
          </a:p>
          <a:p>
            <a:pPr lvl="2"/>
            <a:r>
              <a:rPr>
                <a:hlinkClick r:id="rId139" action="ppaction://hlinksldjump"/>
              </a:rPr>
              <a:t>Providers</a:t>
            </a:r>
          </a:p>
          <a:p>
            <a:pPr lvl="2"/>
            <a:r>
              <a:rPr>
                <a:hlinkClick r:id="rId140" action="ppaction://hlinksldjump"/>
              </a:rPr>
              <a:t>Réseau</a:t>
            </a:r>
          </a:p>
          <a:p>
            <a:pPr lvl="1"/>
            <a:r>
              <a:rPr>
                <a:hlinkClick r:id="rId141" action="ppaction://hlinksldjump"/>
              </a:rPr>
              <a:t>Projet intermédiaire : GitBar - Outil desktop rapide (2h)</a:t>
            </a:r>
          </a:p>
          <a:p>
            <a:pPr lvl="2"/>
            <a:r>
              <a:rPr>
                <a:hlinkClick r:id="rId142" action="ppaction://hlinksldjump"/>
              </a:rPr>
              <a:t>Présentation</a:t>
            </a:r>
          </a:p>
          <a:p>
            <a:pPr lvl="2"/>
            <a:r>
              <a:rPr>
                <a:hlinkClick r:id="rId143" action="ppaction://hlinksldjump"/>
              </a:rPr>
              <a:t>Stack technique</a:t>
            </a:r>
          </a:p>
          <a:p>
            <a:pPr lvl="2"/>
            <a:r>
              <a:rPr>
                <a:hlinkClick r:id="rId144" action="ppaction://hlinksldjump"/>
              </a:rPr>
              <a:t>Fonctionnalités cibles</a:t>
            </a:r>
          </a:p>
          <a:p>
            <a:pPr lvl="2"/>
            <a:r>
              <a:rPr>
                <a:hlinkClick r:id="rId145" action="ppaction://hlinksldjump"/>
              </a:rPr>
              <a:t>Workflow avec Claude Code</a:t>
            </a:r>
          </a:p>
          <a:p>
            <a:pPr lvl="2"/>
            <a:r>
              <a:rPr>
                <a:hlinkClick r:id="rId146" action="ppaction://hlinksldjump"/>
              </a:rPr>
              <a:t>Structure du projet</a:t>
            </a:r>
          </a:p>
          <a:p>
            <a:pPr lvl="2"/>
            <a:r>
              <a:rPr>
                <a:hlinkClick r:id="rId147" action="ppaction://hlinksldjump"/>
              </a:rPr>
              <a:t>CLAUDE.md pour GitBar</a:t>
            </a:r>
          </a:p>
          <a:p>
            <a:pPr lvl="2"/>
            <a:r>
              <a:rPr>
                <a:hlinkClick r:id="rId148" action="ppaction://hlinksldjump"/>
              </a:rPr>
              <a:t>Livrables</a:t>
            </a:r>
          </a:p>
          <a:p>
            <a:pPr lvl="2"/>
            <a:r>
              <a:rPr>
                <a:hlinkClick r:id="rId149" action="ppaction://hlinksldjump"/>
              </a:rPr>
              <a:t>Points d’apprentissage</a:t>
            </a:r>
          </a:p>
          <a:p>
            <a:pPr lvl="1"/>
            <a:r>
              <a:rPr>
                <a:hlinkClick r:id="rId150" action="ppaction://hlinksldjump"/>
              </a:rPr>
              <a:t>Projet final : BizCraft SaaS Complet</a:t>
            </a:r>
          </a:p>
          <a:p>
            <a:pPr lvl="2"/>
            <a:r>
              <a:rPr>
                <a:hlinkClick r:id="rId151" action="ppaction://hlinksldjump"/>
              </a:rPr>
              <a:t>Phase 1 — MVP</a:t>
            </a:r>
          </a:p>
          <a:p>
            <a:pPr lvl="2"/>
            <a:r>
              <a:rPr>
                <a:hlinkClick r:id="rId152" action="ppaction://hlinksldjump"/>
              </a:rPr>
              <a:t>Phase 2 — Avancé</a:t>
            </a:r>
          </a:p>
          <a:p>
            <a:pPr lvl="2"/>
            <a:r>
              <a:rPr>
                <a:hlinkClick r:id="rId153" action="ppaction://hlinksldjump"/>
              </a:rPr>
              <a:t>Évaluation</a:t>
            </a:r>
          </a:p>
          <a:p>
            <a:pPr lvl="0"/>
            <a:r>
              <a:rPr>
                <a:hlinkClick r:id="rId154" action="ppaction://hlinksldjump"/>
              </a:rPr>
              <a:t>RESSOURCES</a:t>
            </a:r>
          </a:p>
          <a:p>
            <a:pPr lvl="0"/>
            <a:r>
              <a:rPr>
                <a:hlinkClick r:id="rId155" action="ppaction://hlinksldjump"/>
              </a:rPr>
              <a:t>ANNEXE : RÉFÉRENCE RAPIDE</a:t>
            </a:r>
          </a:p>
          <a:p>
            <a:pPr lvl="1"/>
            <a:r>
              <a:rPr>
                <a:hlinkClick r:id="rId156" action="ppaction://hlinksldjump"/>
              </a:rPr>
              <a:t>CLI Flags</a:t>
            </a:r>
          </a:p>
          <a:p>
            <a:pPr lvl="1"/>
            <a:r>
              <a:rPr>
                <a:hlinkClick r:id="rId157" action="ppaction://hlinksldjump"/>
              </a:rPr>
              <a:t>Slash Commands</a:t>
            </a:r>
          </a:p>
          <a:p>
            <a:pPr lvl="1"/>
            <a:r>
              <a:rPr>
                <a:hlinkClick r:id="rId158" action="ppaction://hlinksldjump"/>
              </a:rPr>
              <a:t>Raccourcis</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Cours : Maîtriser Claude Code pour Développeurs</a:t>
            </a:r>
          </a:p>
        </p:txBody>
      </p:sp>
      <p:sp>
        <p:nvSpPr>
          <p:cNvPr id="3" name="Content Placeholder 2"/>
          <p:cNvSpPr>
            <a:spLocks noGrp="1"/>
          </p:cNvSpPr>
          <p:nvPr>
            <p:ph idx="1"/>
          </p:nvPr>
        </p:nvSpPr>
        <p:spPr/>
        <p:txBody>
          <a:bodyPr/>
          <a:lstStyle/>
          <a:p>
            <a:pPr lvl="0" indent="0" marL="0">
              <a:buNone/>
            </a:pPr>
            <a:r>
              <a:rPr b="1"/>
              <a:t>Formateur</a:t>
            </a:r>
            <a:r>
              <a:rPr/>
              <a:t> : [Votre nom] </a:t>
            </a:r>
            <a:r>
              <a:rPr b="1"/>
              <a:t>Durée totale</a:t>
            </a:r>
            <a:r>
              <a:rPr/>
              <a:t> : ~14h </a:t>
            </a:r>
            <a:r>
              <a:rPr b="1"/>
              <a:t>Public cible</a:t>
            </a:r>
            <a:r>
              <a:rPr/>
              <a:t> : Développeurs (junior à senior) </a:t>
            </a:r>
            <a:r>
              <a:rPr b="1"/>
              <a:t>Prérequis</a:t>
            </a:r>
            <a:r>
              <a:rPr/>
              <a:t> : Connaissances de base en programmation, familiarité avec le terminal</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Objectif pédagogique global</a:t>
            </a:r>
          </a:p>
          <a:p>
            <a:pPr lvl="0" indent="0" marL="0">
              <a:buNone/>
            </a:pPr>
            <a:r>
              <a:rPr/>
              <a:t>À l’issue de cette formation, l’apprenant sera capable de :</a:t>
            </a:r>
          </a:p>
          <a:p>
            <a:pPr lvl="0" indent="-342900" marL="342900">
              <a:buAutoNum type="arabicPeriod"/>
            </a:pPr>
            <a:r>
              <a:rPr b="1"/>
              <a:t>Utiliser Claude Code au quotidien</a:t>
            </a:r>
            <a:r>
              <a:rPr/>
              <a:t> pour explorer, modifier et débugger du code de manière autonome</a:t>
            </a:r>
          </a:p>
          <a:p>
            <a:pPr lvl="0" indent="-342900" marL="342900">
              <a:buAutoNum type="arabicPeriod"/>
            </a:pPr>
            <a:r>
              <a:rPr b="1"/>
              <a:t>Configurer un environnement Claude Code optimisé</a:t>
            </a:r>
            <a:r>
              <a:rPr/>
              <a:t> adapté à son projet et à son équipe</a:t>
            </a:r>
          </a:p>
          <a:p>
            <a:pPr lvl="0" indent="-342900" marL="342900">
              <a:buAutoNum type="arabicPeriod"/>
            </a:pPr>
            <a:r>
              <a:rPr b="1"/>
              <a:t>Étendre les capacités de Claude Code</a:t>
            </a:r>
            <a:r>
              <a:rPr/>
              <a:t> avec des skills personnalisées, des hooks d’automatisation et des serveurs MCP</a:t>
            </a:r>
          </a:p>
          <a:p>
            <a:pPr lvl="0" indent="-342900" marL="342900">
              <a:buAutoNum type="arabicPeriod"/>
            </a:pPr>
            <a:r>
              <a:rPr b="1"/>
              <a:t>Intégrer Claude Code dans des workflows CI/CD</a:t>
            </a:r>
            <a:r>
              <a:rPr/>
              <a:t> pour automatiser les tâches de développement</a:t>
            </a:r>
          </a:p>
          <a:p>
            <a:pPr lvl="0" indent="-342900" marL="342900">
              <a:buAutoNum type="arabicPeriod"/>
            </a:pPr>
            <a:r>
              <a:rPr b="1"/>
              <a:t>Construire une application SaaS complète</a:t>
            </a:r>
            <a:r>
              <a:rPr/>
              <a:t> (BizCraft) en utilisant Claude Code comme assistant principal</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PARTIE 1 : FONDAMENTAUX</a:t>
            </a:r>
          </a:p>
        </p:txBody>
      </p:sp>
      <p:sp>
        <p:nvSpPr>
          <p:cNvPr id="3" name="Content Placeholder 2"/>
          <p:cNvSpPr>
            <a:spLocks noGrp="1"/>
          </p:cNvSpPr>
          <p:nvPr>
            <p:ph idx="1"/>
          </p:nvPr>
        </p:nvSpPr>
        <p:spPr/>
        <p:txBody>
          <a:bodyPr/>
          <a:lstStyle/>
          <a:p>
            <a:pPr lvl="0" indent="0" marL="0">
              <a:spcBef>
                <a:spcPts val="3000"/>
              </a:spcBef>
              <a:buNone/>
            </a:pPr>
            <a:r>
              <a:rPr b="1"/>
              <a:t>Objectif de la Partie 1</a:t>
            </a:r>
          </a:p>
          <a:p>
            <a:pPr lvl="0" indent="0" marL="0">
              <a:buNone/>
            </a:pPr>
            <a:r>
              <a:rPr/>
              <a:t>À l’issue de cette partie, l’apprenant sera capable de : - Installer et configurer Claude Code sur sa machine - Naviguer efficacement dans l’interface CLI avec les raccourcis et commandes - Utiliser les outils natifs (Read, Edit, Bash, Grep, Glob) pour des tâches quotidiennes - Explorer, modifier et débugger du code avec Claude Code - Créer des commits Git structurés avec Claude Code - Configurer le contexte projet avec CLAUDE.md - Comprendre le rôle des subagents, skills et MCP servers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Module 1 : Introduction à Claude Code (45 min)</a:t>
            </a:r>
          </a:p>
          <a:p>
            <a:pPr lvl="0" indent="0" marL="0">
              <a:buNone/>
            </a:pPr>
            <a:r>
              <a:rPr b="1"/>
              <a:t>Objectif pédagogique</a:t>
            </a:r>
            <a:r>
              <a:rPr/>
              <a:t> : À l’issue de ce module, l’apprenant sera capable d’expliquer ce qu’est Claude Code, de le positionner par rapport aux autres outils IA de développement, et de comprendre ses concepts fondamentaux (Tools, Slash Commands, Skills, Subagents, MCP Servers).</a:t>
            </a:r>
          </a:p>
          <a:p>
            <a:pPr lvl="0" indent="0" marL="0">
              <a:spcBef>
                <a:spcPts val="3000"/>
              </a:spcBef>
              <a:buNone/>
            </a:pPr>
            <a:r>
              <a:rPr b="1"/>
              <a:t>1.1 Qu’est-ce qu’un assistant de codage IA ?</a:t>
            </a:r>
          </a:p>
          <a:p>
            <a:pPr lvl="0" indent="0" marL="0">
              <a:buNone/>
            </a:pPr>
            <a:r>
              <a:rPr/>
              <a:t>L’évolution des outils d’aide au développement a connu plusieurs phases majeures :</a:t>
            </a:r>
          </a:p>
          <a:p>
            <a:pPr lvl="0" indent="0" marL="0">
              <a:buNone/>
            </a:pPr>
            <a:r>
              <a:rPr b="1"/>
              <a:t>Phase 1 : Autocomplétion basique</a:t>
            </a:r>
            <a:r>
              <a:rPr/>
              <a:t> - Suggestions basées sur des patterns syntaxiques - Complétion de noms de variables et fonctions - Aucune compréhension sémantique du code</a:t>
            </a:r>
          </a:p>
          <a:p>
            <a:pPr lvl="0" indent="0" marL="0">
              <a:buNone/>
            </a:pPr>
            <a:r>
              <a:rPr b="1"/>
              <a:t>Phase 2 : Copilots (2021-2023)</a:t>
            </a:r>
            <a:r>
              <a:rPr/>
              <a:t> - GitHub Copilot, TabNine, Codeium - Suggestions de lignes ou blocs de code - Compréhension limitée du contexte projet - Mode “passif” : suggère, l’humain décide et exécute</a:t>
            </a:r>
          </a:p>
          <a:p>
            <a:pPr lvl="0" indent="0" marL="0">
              <a:buNone/>
            </a:pPr>
            <a:r>
              <a:rPr b="1"/>
              <a:t>Phase 3 : Assistants conversationnels (2023-2024)</a:t>
            </a:r>
            <a:r>
              <a:rPr/>
              <a:t> - ChatGPT, Claude.ai, Gemini - Dialogue en langage naturel sur le code - Génération de snippets à copier-coller - Pas d’accès direct au système de fichiers</a:t>
            </a:r>
          </a:p>
          <a:p>
            <a:pPr lvl="0" indent="0" marL="0">
              <a:buNone/>
            </a:pPr>
            <a:r>
              <a:rPr b="1"/>
              <a:t>Phase 4 : Agents autonomes (2024+)</a:t>
            </a:r>
            <a:r>
              <a:rPr/>
              <a:t> - Claude Code, Cursor Composer, Aider - Accès complet au projet et au terminal - Exécution autonome de tâches complexes - Mode “actif” : l’agent explore, modifie, teste</a:t>
            </a:r>
          </a:p>
          <a:p>
            <a:pPr lvl="0" indent="0" marL="0">
              <a:buNone/>
            </a:pPr>
            <a:r>
              <a:rPr b="1"/>
              <a:t>Les 3 catégories d’outils IA pour le code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Catégorie</a:t>
                      </a:r>
                    </a:p>
                  </a:txBody>
                  <a:tcPr/>
                </a:tc>
                <a:tc>
                  <a:txBody>
                    <a:bodyPr/>
                    <a:lstStyle/>
                    <a:p>
                      <a:pPr lvl="0" indent="0" marL="0">
                        <a:buNone/>
                      </a:pPr>
                      <a:r>
                        <a:rPr/>
                        <a:t>Exemples</a:t>
                      </a:r>
                    </a:p>
                  </a:txBody>
                  <a:tcPr/>
                </a:tc>
                <a:tc>
                  <a:txBody>
                    <a:bodyPr/>
                    <a:lstStyle/>
                    <a:p>
                      <a:pPr lvl="0" indent="0" marL="0">
                        <a:buNone/>
                      </a:pPr>
                      <a:r>
                        <a:rPr/>
                        <a:t>Mode d’interaction</a:t>
                      </a:r>
                    </a:p>
                  </a:txBody>
                  <a:tcPr/>
                </a:tc>
                <a:tc>
                  <a:txBody>
                    <a:bodyPr/>
                    <a:lstStyle/>
                    <a:p>
                      <a:pPr lvl="0" indent="0" marL="0">
                        <a:buNone/>
                      </a:pPr>
                      <a:r>
                        <a:rPr/>
                        <a:t>Autonomie</a:t>
                      </a:r>
                    </a:p>
                  </a:txBody>
                  <a:tcPr/>
                </a:tc>
              </a:tr>
              <a:tr h="0">
                <a:tc>
                  <a:txBody>
                    <a:bodyPr/>
                    <a:lstStyle/>
                    <a:p>
                      <a:pPr lvl="0" indent="0" marL="0">
                        <a:buNone/>
                      </a:pPr>
                      <a:r>
                        <a:rPr/>
                        <a:t>Copilots</a:t>
                      </a:r>
                    </a:p>
                  </a:txBody>
                </a:tc>
                <a:tc>
                  <a:txBody>
                    <a:bodyPr/>
                    <a:lstStyle/>
                    <a:p>
                      <a:pPr lvl="0" indent="0" marL="0">
                        <a:buNone/>
                      </a:pPr>
                      <a:r>
                        <a:rPr/>
                        <a:t>GitHub Copilot, TabNine</a:t>
                      </a:r>
                    </a:p>
                  </a:txBody>
                </a:tc>
                <a:tc>
                  <a:txBody>
                    <a:bodyPr/>
                    <a:lstStyle/>
                    <a:p>
                      <a:pPr lvl="0" indent="0" marL="0">
                        <a:buNone/>
                      </a:pPr>
                      <a:r>
                        <a:rPr/>
                        <a:t>Inline suggestions</a:t>
                      </a:r>
                    </a:p>
                  </a:txBody>
                </a:tc>
                <a:tc>
                  <a:txBody>
                    <a:bodyPr/>
                    <a:lstStyle/>
                    <a:p>
                      <a:pPr lvl="0" indent="0" marL="0">
                        <a:buNone/>
                      </a:pPr>
                      <a:r>
                        <a:rPr/>
                        <a:t>Faible</a:t>
                      </a:r>
                    </a:p>
                  </a:txBody>
                </a:tc>
              </a:tr>
              <a:tr h="0">
                <a:tc>
                  <a:txBody>
                    <a:bodyPr/>
                    <a:lstStyle/>
                    <a:p>
                      <a:pPr lvl="0" indent="0" marL="0">
                        <a:buNone/>
                      </a:pPr>
                      <a:r>
                        <a:rPr/>
                        <a:t>Assistants</a:t>
                      </a:r>
                    </a:p>
                  </a:txBody>
                </a:tc>
                <a:tc>
                  <a:txBody>
                    <a:bodyPr/>
                    <a:lstStyle/>
                    <a:p>
                      <a:pPr lvl="0" indent="0" marL="0">
                        <a:buNone/>
                      </a:pPr>
                      <a:r>
                        <a:rPr/>
                        <a:t>Claude.ai, ChatGPT</a:t>
                      </a:r>
                    </a:p>
                  </a:txBody>
                </a:tc>
                <a:tc>
                  <a:txBody>
                    <a:bodyPr/>
                    <a:lstStyle/>
                    <a:p>
                      <a:pPr lvl="0" indent="0" marL="0">
                        <a:buNone/>
                      </a:pPr>
                      <a:r>
                        <a:rPr/>
                        <a:t>Chat + copier-coller</a:t>
                      </a:r>
                    </a:p>
                  </a:txBody>
                </a:tc>
                <a:tc>
                  <a:txBody>
                    <a:bodyPr/>
                    <a:lstStyle/>
                    <a:p>
                      <a:pPr lvl="0" indent="0" marL="0">
                        <a:buNone/>
                      </a:pPr>
                      <a:r>
                        <a:rPr/>
                        <a:t>Moyenne</a:t>
                      </a:r>
                    </a:p>
                  </a:txBody>
                </a:tc>
              </a:tr>
              <a:tr h="0">
                <a:tc>
                  <a:txBody>
                    <a:bodyPr/>
                    <a:lstStyle/>
                    <a:p>
                      <a:pPr lvl="0" indent="0" marL="0">
                        <a:buNone/>
                      </a:pPr>
                      <a:r>
                        <a:rPr/>
                        <a:t>Agents</a:t>
                      </a:r>
                    </a:p>
                  </a:txBody>
                </a:tc>
                <a:tc>
                  <a:txBody>
                    <a:bodyPr/>
                    <a:lstStyle/>
                    <a:p>
                      <a:pPr lvl="0" indent="0" marL="0">
                        <a:buNone/>
                      </a:pPr>
                      <a:r>
                        <a:rPr/>
                        <a:t>Claude Code, Cursor, Aider</a:t>
                      </a:r>
                    </a:p>
                  </a:txBody>
                </a:tc>
                <a:tc>
                  <a:txBody>
                    <a:bodyPr/>
                    <a:lstStyle/>
                    <a:p>
                      <a:pPr lvl="0" indent="0" marL="0">
                        <a:buNone/>
                      </a:pPr>
                      <a:r>
                        <a:rPr/>
                        <a:t>Terminal/IDE complet</a:t>
                      </a:r>
                    </a:p>
                  </a:txBody>
                </a:tc>
                <a:tc>
                  <a:txBody>
                    <a:bodyPr/>
                    <a:lstStyle/>
                    <a:p>
                      <a:pPr lvl="0" indent="0" marL="0">
                        <a:buNone/>
                      </a:pPr>
                      <a:r>
                        <a:rPr/>
                        <a:t>Élevée</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1.2 Qu’est-ce que Claude Code ?</a:t>
            </a:r>
          </a:p>
          <a:p>
            <a:pPr lvl="0" indent="0" marL="0">
              <a:buNone/>
            </a:pPr>
            <a:r>
              <a:rPr/>
              <a:t>Claude Code est un </a:t>
            </a:r>
            <a:r>
              <a:rPr b="1"/>
              <a:t>agent de développement autonome</a:t>
            </a:r>
            <a:r>
              <a:rPr/>
              <a:t> qui s’exécute dans votre terminal. Contrairement à Claude (le chatbot web), Claude Code :</a:t>
            </a:r>
          </a:p>
          <a:p>
            <a:pPr lvl="0"/>
            <a:r>
              <a:rPr/>
              <a:t>A accès à votre système de fichiers</a:t>
            </a:r>
          </a:p>
          <a:p>
            <a:pPr lvl="0"/>
            <a:r>
              <a:rPr/>
              <a:t>Peut exécuter des commandes shell</a:t>
            </a:r>
          </a:p>
          <a:p>
            <a:pPr lvl="0"/>
            <a:r>
              <a:rPr/>
              <a:t>Comprend le contexte de votre projet entier</a:t>
            </a:r>
          </a:p>
          <a:p>
            <a:pPr lvl="0"/>
            <a:r>
              <a:rPr/>
              <a:t>Peut modifier, créer et supprimer des fichiers</a:t>
            </a:r>
          </a:p>
          <a:p>
            <a:pPr lvl="0"/>
            <a:r>
              <a:rPr/>
              <a:t>Peut lancer des tests, commits, builds</a:t>
            </a:r>
          </a:p>
          <a:p>
            <a:pPr lvl="0" indent="0" marL="0">
              <a:buNone/>
            </a:pPr>
            <a:r>
              <a:rPr b="1"/>
              <a:t>Différences clés avec Claude (chat web)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Aspect</a:t>
                      </a:r>
                    </a:p>
                  </a:txBody>
                  <a:tcPr/>
                </a:tc>
                <a:tc>
                  <a:txBody>
                    <a:bodyPr/>
                    <a:lstStyle/>
                    <a:p>
                      <a:pPr lvl="0" indent="0" marL="0">
                        <a:buNone/>
                      </a:pPr>
                      <a:r>
                        <a:rPr/>
                        <a:t>Claude (chat)</a:t>
                      </a:r>
                    </a:p>
                  </a:txBody>
                  <a:tcPr/>
                </a:tc>
                <a:tc>
                  <a:txBody>
                    <a:bodyPr/>
                    <a:lstStyle/>
                    <a:p>
                      <a:pPr lvl="0" indent="0" marL="0">
                        <a:buNone/>
                      </a:pPr>
                      <a:r>
                        <a:rPr/>
                        <a:t>Claude Code</a:t>
                      </a:r>
                    </a:p>
                  </a:txBody>
                  <a:tcPr/>
                </a:tc>
              </a:tr>
              <a:tr h="0">
                <a:tc>
                  <a:txBody>
                    <a:bodyPr/>
                    <a:lstStyle/>
                    <a:p>
                      <a:pPr lvl="0" indent="0" marL="0">
                        <a:buNone/>
                      </a:pPr>
                      <a:r>
                        <a:rPr/>
                        <a:t>Accès fichiers</a:t>
                      </a:r>
                    </a:p>
                  </a:txBody>
                </a:tc>
                <a:tc>
                  <a:txBody>
                    <a:bodyPr/>
                    <a:lstStyle/>
                    <a:p>
                      <a:pPr lvl="0" indent="0" marL="0">
                        <a:buNone/>
                      </a:pPr>
                      <a:r>
                        <a:rPr/>
                        <a:t>Non</a:t>
                      </a:r>
                    </a:p>
                  </a:txBody>
                </a:tc>
                <a:tc>
                  <a:txBody>
                    <a:bodyPr/>
                    <a:lstStyle/>
                    <a:p>
                      <a:pPr lvl="0" indent="0" marL="0">
                        <a:buNone/>
                      </a:pPr>
                      <a:r>
                        <a:rPr/>
                        <a:t>Oui</a:t>
                      </a:r>
                    </a:p>
                  </a:txBody>
                </a:tc>
              </a:tr>
              <a:tr h="0">
                <a:tc>
                  <a:txBody>
                    <a:bodyPr/>
                    <a:lstStyle/>
                    <a:p>
                      <a:pPr lvl="0" indent="0" marL="0">
                        <a:buNone/>
                      </a:pPr>
                      <a:r>
                        <a:rPr/>
                        <a:t>Exécution shell</a:t>
                      </a:r>
                    </a:p>
                  </a:txBody>
                </a:tc>
                <a:tc>
                  <a:txBody>
                    <a:bodyPr/>
                    <a:lstStyle/>
                    <a:p>
                      <a:pPr lvl="0" indent="0" marL="0">
                        <a:buNone/>
                      </a:pPr>
                      <a:r>
                        <a:rPr/>
                        <a:t>Non</a:t>
                      </a:r>
                    </a:p>
                  </a:txBody>
                </a:tc>
                <a:tc>
                  <a:txBody>
                    <a:bodyPr/>
                    <a:lstStyle/>
                    <a:p>
                      <a:pPr lvl="0" indent="0" marL="0">
                        <a:buNone/>
                      </a:pPr>
                      <a:r>
                        <a:rPr/>
                        <a:t>Oui</a:t>
                      </a:r>
                    </a:p>
                  </a:txBody>
                </a:tc>
              </a:tr>
              <a:tr h="0">
                <a:tc>
                  <a:txBody>
                    <a:bodyPr/>
                    <a:lstStyle/>
                    <a:p>
                      <a:pPr lvl="0" indent="0" marL="0">
                        <a:buNone/>
                      </a:pPr>
                      <a:r>
                        <a:rPr/>
                        <a:t>Contexte projet</a:t>
                      </a:r>
                    </a:p>
                  </a:txBody>
                </a:tc>
                <a:tc>
                  <a:txBody>
                    <a:bodyPr/>
                    <a:lstStyle/>
                    <a:p>
                      <a:pPr lvl="0" indent="0" marL="0">
                        <a:buNone/>
                      </a:pPr>
                      <a:r>
                        <a:rPr/>
                        <a:t>Copier-coller</a:t>
                      </a:r>
                    </a:p>
                  </a:txBody>
                </a:tc>
                <a:tc>
                  <a:txBody>
                    <a:bodyPr/>
                    <a:lstStyle/>
                    <a:p>
                      <a:pPr lvl="0" indent="0" marL="0">
                        <a:buNone/>
                      </a:pPr>
                      <a:r>
                        <a:rPr/>
                        <a:t>Automatique</a:t>
                      </a:r>
                    </a:p>
                  </a:txBody>
                </a:tc>
              </a:tr>
              <a:tr h="0">
                <a:tc>
                  <a:txBody>
                    <a:bodyPr/>
                    <a:lstStyle/>
                    <a:p>
                      <a:pPr lvl="0" indent="0" marL="0">
                        <a:buNone/>
                      </a:pPr>
                      <a:r>
                        <a:rPr/>
                        <a:t>Modifications</a:t>
                      </a:r>
                    </a:p>
                  </a:txBody>
                </a:tc>
                <a:tc>
                  <a:txBody>
                    <a:bodyPr/>
                    <a:lstStyle/>
                    <a:p>
                      <a:pPr lvl="0" indent="0" marL="0">
                        <a:buNone/>
                      </a:pPr>
                      <a:r>
                        <a:rPr/>
                        <a:t>Manuelles</a:t>
                      </a:r>
                    </a:p>
                  </a:txBody>
                </a:tc>
                <a:tc>
                  <a:txBody>
                    <a:bodyPr/>
                    <a:lstStyle/>
                    <a:p>
                      <a:pPr lvl="0" indent="0" marL="0">
                        <a:buNone/>
                      </a:pPr>
                      <a:r>
                        <a:rPr/>
                        <a:t>Directes</a:t>
                      </a:r>
                    </a:p>
                  </a:txBody>
                </a:tc>
              </a:tr>
              <a:tr h="0">
                <a:tc>
                  <a:txBody>
                    <a:bodyPr/>
                    <a:lstStyle/>
                    <a:p>
                      <a:pPr lvl="0" indent="0" marL="0">
                        <a:buNone/>
                      </a:pPr>
                      <a:r>
                        <a:rPr/>
                        <a:t>Persistance</a:t>
                      </a:r>
                    </a:p>
                  </a:txBody>
                </a:tc>
                <a:tc>
                  <a:txBody>
                    <a:bodyPr/>
                    <a:lstStyle/>
                    <a:p>
                      <a:pPr lvl="0" indent="0" marL="0">
                        <a:buNone/>
                      </a:pPr>
                      <a:r>
                        <a:rPr/>
                        <a:t>Session web</a:t>
                      </a:r>
                    </a:p>
                  </a:txBody>
                </a:tc>
                <a:tc>
                  <a:txBody>
                    <a:bodyPr/>
                    <a:lstStyle/>
                    <a:p>
                      <a:pPr lvl="0" indent="0" marL="0">
                        <a:buNone/>
                      </a:pPr>
                      <a:r>
                        <a:rPr/>
                        <a:t>Sessions sauvegardées</a:t>
                      </a:r>
                    </a:p>
                  </a:txBody>
                </a:tc>
              </a:tr>
            </a:tbl>
          </a:graphicData>
        </a:graphic>
      </p:graphicFrame>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Positionnement vs concurrents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825500"/>
                <a:gridCol w="711200"/>
                <a:gridCol w="1663700"/>
                <a:gridCol w="1905000"/>
              </a:tblGrid>
              <a:tr h="0">
                <a:tc>
                  <a:txBody>
                    <a:bodyPr/>
                    <a:lstStyle/>
                    <a:p>
                      <a:pPr lvl="0" indent="0" marL="0">
                        <a:buNone/>
                      </a:pPr>
                      <a:r>
                        <a:rPr/>
                        <a:t>Outil</a:t>
                      </a:r>
                    </a:p>
                  </a:txBody>
                  <a:tcPr/>
                </a:tc>
                <a:tc>
                  <a:txBody>
                    <a:bodyPr/>
                    <a:lstStyle/>
                    <a:p>
                      <a:pPr lvl="0" indent="0" marL="0">
                        <a:buNone/>
                      </a:pPr>
                      <a:r>
                        <a:rPr/>
                        <a:t>Type</a:t>
                      </a:r>
                    </a:p>
                  </a:txBody>
                  <a:tcPr/>
                </a:tc>
                <a:tc>
                  <a:txBody>
                    <a:bodyPr/>
                    <a:lstStyle/>
                    <a:p>
                      <a:pPr lvl="0" indent="0" marL="0">
                        <a:buNone/>
                      </a:pPr>
                      <a:r>
                        <a:rPr/>
                        <a:t>Points forts</a:t>
                      </a:r>
                    </a:p>
                  </a:txBody>
                  <a:tcPr/>
                </a:tc>
                <a:tc>
                  <a:txBody>
                    <a:bodyPr/>
                    <a:lstStyle/>
                    <a:p>
                      <a:pPr lvl="0" indent="0" marL="0">
                        <a:buNone/>
                      </a:pPr>
                      <a:r>
                        <a:rPr/>
                        <a:t>Points faibles</a:t>
                      </a:r>
                    </a:p>
                  </a:txBody>
                  <a:tcPr/>
                </a:tc>
              </a:tr>
              <a:tr h="0">
                <a:tc>
                  <a:txBody>
                    <a:bodyPr/>
                    <a:lstStyle/>
                    <a:p>
                      <a:pPr lvl="0" indent="0" marL="0">
                        <a:buNone/>
                      </a:pPr>
                      <a:r>
                        <a:rPr b="1"/>
                        <a:t>Claude Code</a:t>
                      </a:r>
                    </a:p>
                  </a:txBody>
                </a:tc>
                <a:tc>
                  <a:txBody>
                    <a:bodyPr/>
                    <a:lstStyle/>
                    <a:p>
                      <a:pPr lvl="0" indent="0" marL="0">
                        <a:buNone/>
                      </a:pPr>
                      <a:r>
                        <a:rPr/>
                        <a:t>CLI agentique</a:t>
                      </a:r>
                    </a:p>
                  </a:txBody>
                </a:tc>
                <a:tc>
                  <a:txBody>
                    <a:bodyPr/>
                    <a:lstStyle/>
                    <a:p>
                      <a:pPr lvl="0" indent="0" marL="0">
                        <a:buNone/>
                      </a:pPr>
                      <a:r>
                        <a:rPr/>
                        <a:t>Autonomie, qualité raisonnement</a:t>
                      </a:r>
                    </a:p>
                  </a:txBody>
                </a:tc>
                <a:tc>
                  <a:txBody>
                    <a:bodyPr/>
                    <a:lstStyle/>
                    <a:p>
                      <a:pPr lvl="0" indent="0" marL="0">
                        <a:buNone/>
                      </a:pPr>
                      <a:r>
                        <a:rPr/>
                        <a:t>Terminal uniquement</a:t>
                      </a:r>
                    </a:p>
                  </a:txBody>
                </a:tc>
              </a:tr>
              <a:tr h="0">
                <a:tc>
                  <a:txBody>
                    <a:bodyPr/>
                    <a:lstStyle/>
                    <a:p>
                      <a:pPr lvl="0" indent="0" marL="0">
                        <a:buNone/>
                      </a:pPr>
                      <a:r>
                        <a:rPr/>
                        <a:t>GitHub Copilot</a:t>
                      </a:r>
                    </a:p>
                  </a:txBody>
                </a:tc>
                <a:tc>
                  <a:txBody>
                    <a:bodyPr/>
                    <a:lstStyle/>
                    <a:p>
                      <a:pPr lvl="0" indent="0" marL="0">
                        <a:buNone/>
                      </a:pPr>
                      <a:r>
                        <a:rPr/>
                        <a:t>Extension IDE</a:t>
                      </a:r>
                    </a:p>
                  </a:txBody>
                </a:tc>
                <a:tc>
                  <a:txBody>
                    <a:bodyPr/>
                    <a:lstStyle/>
                    <a:p>
                      <a:pPr lvl="0" indent="0" marL="0">
                        <a:buNone/>
                      </a:pPr>
                      <a:r>
                        <a:rPr/>
                        <a:t>Intégration IDE native</a:t>
                      </a:r>
                    </a:p>
                  </a:txBody>
                </a:tc>
                <a:tc>
                  <a:txBody>
                    <a:bodyPr/>
                    <a:lstStyle/>
                    <a:p>
                      <a:pPr lvl="0" indent="0" marL="0">
                        <a:buNone/>
                      </a:pPr>
                      <a:r>
                        <a:rPr/>
                        <a:t>Suggestions limitées</a:t>
                      </a:r>
                    </a:p>
                  </a:txBody>
                </a:tc>
              </a:tr>
              <a:tr h="0">
                <a:tc>
                  <a:txBody>
                    <a:bodyPr/>
                    <a:lstStyle/>
                    <a:p>
                      <a:pPr lvl="0" indent="0" marL="0">
                        <a:buNone/>
                      </a:pPr>
                      <a:r>
                        <a:rPr/>
                        <a:t>Cursor</a:t>
                      </a:r>
                    </a:p>
                  </a:txBody>
                </a:tc>
                <a:tc>
                  <a:txBody>
                    <a:bodyPr/>
                    <a:lstStyle/>
                    <a:p>
                      <a:pPr lvl="0" indent="0" marL="0">
                        <a:buNone/>
                      </a:pPr>
                      <a:r>
                        <a:rPr/>
                        <a:t>IDE complet</a:t>
                      </a:r>
                    </a:p>
                  </a:txBody>
                </a:tc>
                <a:tc>
                  <a:txBody>
                    <a:bodyPr/>
                    <a:lstStyle/>
                    <a:p>
                      <a:pPr lvl="0" indent="0" marL="0">
                        <a:buNone/>
                      </a:pPr>
                      <a:r>
                        <a:rPr/>
                        <a:t>Interface visuelle</a:t>
                      </a:r>
                    </a:p>
                  </a:txBody>
                </a:tc>
                <a:tc>
                  <a:txBody>
                    <a:bodyPr/>
                    <a:lstStyle/>
                    <a:p>
                      <a:pPr lvl="0" indent="0" marL="0">
                        <a:buNone/>
                      </a:pPr>
                      <a:r>
                        <a:rPr/>
                        <a:t>IDE propriétaire</a:t>
                      </a:r>
                    </a:p>
                  </a:txBody>
                </a:tc>
              </a:tr>
              <a:tr h="0">
                <a:tc>
                  <a:txBody>
                    <a:bodyPr/>
                    <a:lstStyle/>
                    <a:p>
                      <a:pPr lvl="0" indent="0" marL="0">
                        <a:buNone/>
                      </a:pPr>
                      <a:r>
                        <a:rPr/>
                        <a:t>Cody</a:t>
                      </a:r>
                    </a:p>
                  </a:txBody>
                </a:tc>
                <a:tc>
                  <a:txBody>
                    <a:bodyPr/>
                    <a:lstStyle/>
                    <a:p>
                      <a:pPr lvl="0" indent="0" marL="0">
                        <a:buNone/>
                      </a:pPr>
                      <a:r>
                        <a:rPr/>
                        <a:t>Extension</a:t>
                      </a:r>
                    </a:p>
                  </a:txBody>
                </a:tc>
                <a:tc>
                  <a:txBody>
                    <a:bodyPr/>
                    <a:lstStyle/>
                    <a:p>
                      <a:pPr lvl="0" indent="0" marL="0">
                        <a:buNone/>
                      </a:pPr>
                      <a:r>
                        <a:rPr/>
                        <a:t>Gratuit, multi-IDE</a:t>
                      </a:r>
                    </a:p>
                  </a:txBody>
                </a:tc>
                <a:tc>
                  <a:txBody>
                    <a:bodyPr/>
                    <a:lstStyle/>
                    <a:p>
                      <a:pPr lvl="0" indent="0" marL="0">
                        <a:buNone/>
                      </a:pPr>
                      <a:r>
                        <a:rPr/>
                        <a:t>Moins autonome</a:t>
                      </a:r>
                    </a:p>
                  </a:txBody>
                </a:tc>
              </a:tr>
              <a:tr h="0">
                <a:tc>
                  <a:txBody>
                    <a:bodyPr/>
                    <a:lstStyle/>
                    <a:p>
                      <a:pPr lvl="0" indent="0" marL="0">
                        <a:buNone/>
                      </a:pPr>
                      <a:r>
                        <a:rPr/>
                        <a:t>Aider</a:t>
                      </a:r>
                    </a:p>
                  </a:txBody>
                </a:tc>
                <a:tc>
                  <a:txBody>
                    <a:bodyPr/>
                    <a:lstStyle/>
                    <a:p>
                      <a:pPr lvl="0" indent="0" marL="0">
                        <a:buNone/>
                      </a:pPr>
                      <a:r>
                        <a:rPr/>
                        <a:t>CLI</a:t>
                      </a:r>
                    </a:p>
                  </a:txBody>
                </a:tc>
                <a:tc>
                  <a:txBody>
                    <a:bodyPr/>
                    <a:lstStyle/>
                    <a:p>
                      <a:pPr lvl="0" indent="0" marL="0">
                        <a:buNone/>
                      </a:pPr>
                      <a:r>
                        <a:rPr/>
                        <a:t>Open source</a:t>
                      </a:r>
                    </a:p>
                  </a:txBody>
                </a:tc>
                <a:tc>
                  <a:txBody>
                    <a:bodyPr/>
                    <a:lstStyle/>
                    <a:p>
                      <a:pPr lvl="0" indent="0" marL="0">
                        <a:buNone/>
                      </a:pPr>
                      <a:r>
                        <a:rPr/>
                        <a:t>Moins de contexte</a:t>
                      </a:r>
                    </a:p>
                  </a:txBody>
                </a:tc>
              </a:tr>
            </a:tbl>
          </a:graphicData>
        </a:graphic>
      </p:graphicFrame>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Cas d’usage idéaux pour Claude Code :</a:t>
            </a:r>
          </a:p>
          <a:p>
            <a:pPr lvl="0" indent="-342900" marL="342900">
              <a:buAutoNum type="arabicPeriod"/>
            </a:pPr>
            <a:r>
              <a:rPr b="1"/>
              <a:t>Exploration de codebase</a:t>
            </a:r>
            <a:r>
              <a:rPr/>
              <a:t> : “Explique-moi comment fonctionne l’authentification dans ce projet”</a:t>
            </a:r>
          </a:p>
          <a:p>
            <a:pPr lvl="0" indent="-342900" marL="342900">
              <a:buAutoNum type="arabicPeriod"/>
            </a:pPr>
            <a:r>
              <a:rPr b="1"/>
              <a:t>Refactoring</a:t>
            </a:r>
            <a:r>
              <a:rPr/>
              <a:t> : “Refactorise cette fonction pour utiliser des async/await”</a:t>
            </a:r>
          </a:p>
          <a:p>
            <a:pPr lvl="0" indent="-342900" marL="342900">
              <a:buAutoNum type="arabicPeriod"/>
            </a:pPr>
            <a:r>
              <a:rPr b="1"/>
              <a:t>Debugging</a:t>
            </a:r>
            <a:r>
              <a:rPr/>
              <a:t> : “Trouve pourquoi ce test échoue et corrige le bug”</a:t>
            </a:r>
          </a:p>
          <a:p>
            <a:pPr lvl="0" indent="-342900" marL="342900">
              <a:buAutoNum type="arabicPeriod"/>
            </a:pPr>
            <a:r>
              <a:rPr b="1"/>
              <a:t>Génération</a:t>
            </a:r>
            <a:r>
              <a:rPr/>
              <a:t> : “Crée les tests unitaires pour ce service”</a:t>
            </a:r>
          </a:p>
          <a:p>
            <a:pPr lvl="0" indent="-342900" marL="342900">
              <a:buAutoNum type="arabicPeriod"/>
            </a:pPr>
            <a:r>
              <a:rPr b="1"/>
              <a:t>Documentation</a:t>
            </a:r>
            <a:r>
              <a:rPr/>
              <a:t> : “Génère la documentation API pour ces endpoints”</a:t>
            </a:r>
          </a:p>
          <a:p>
            <a:pPr lvl="0" indent="0" marL="0">
              <a:spcBef>
                <a:spcPts val="3000"/>
              </a:spcBef>
              <a:buNone/>
            </a:pPr>
            <a:r>
              <a:rPr b="1"/>
              <a:t>1.3 Comment fonctionne Claude Code ?</a:t>
            </a:r>
          </a:p>
          <a:p>
            <a:pPr lvl="0" indent="0" marL="0">
              <a:buNone/>
            </a:pPr>
            <a:r>
              <a:rPr b="1"/>
              <a:t>Architecture simplifiée :</a:t>
            </a:r>
          </a:p>
          <a:p>
            <a:pPr lvl="0" indent="0">
              <a:buNone/>
            </a:pPr>
            <a:r>
              <a:rPr>
                <a:latin typeface="Courier"/>
              </a:rPr>
              <a:t>┌─────────────────────────────────────────────────────────┐
│                     CLAUDE CODE                          │
├─────────────────────────────────────────────────────────┤
│  ┌─────────────┐    ┌─────────────┐    ┌─────────────┐ │
│  │   Modèle    │    │  Contexte   │    │   Tools     │ │
│  │   Claude    │◄──►│   Projet    │◄──►│  (Actions)  │ │
│  │  (Sonnet/   │    │  (fichiers, │    │  Read,Edit  │ │
│  │   Opus)     │    │   git, etc) │    │  Bash, etc  │ │
│  └─────────────┘    └─────────────┘    └─────────────┘ │
├─────────────────────────────────────────────────────────┤
│                    VOTRE TERMINAL                        │
│  ┌─────────────────────────────────────────────────┐    │
│  │  Système de fichiers  │  Shell  │  Git  │  etc  │    │
│  └─────────────────────────────────────────────────┘    │
└─────────────────────────────────────────────────────────┘</a:t>
            </a:r>
          </a:p>
          <a:p>
            <a:pPr lvl="0" indent="0" marL="0">
              <a:buNone/>
            </a:pPr>
            <a:r>
              <a:rPr b="1"/>
              <a:t>Le concept d’agent autonome :</a:t>
            </a:r>
          </a:p>
          <a:p>
            <a:pPr lvl="0" indent="0" marL="0">
              <a:buNone/>
            </a:pPr>
            <a:r>
              <a:rPr/>
              <a:t>Un agent, contrairement à un simple chatbot : 1. </a:t>
            </a:r>
            <a:r>
              <a:rPr b="1"/>
              <a:t>Observe</a:t>
            </a:r>
            <a:r>
              <a:rPr/>
              <a:t> : Lit les fichiers, comprend la structure 2. </a:t>
            </a:r>
            <a:r>
              <a:rPr b="1"/>
              <a:t>Planifie</a:t>
            </a:r>
            <a:r>
              <a:rPr/>
              <a:t> : Décompose la tâche en étapes 3. </a:t>
            </a:r>
            <a:r>
              <a:rPr b="1"/>
              <a:t>Agit</a:t>
            </a:r>
            <a:r>
              <a:rPr/>
              <a:t> : Exécute des actions (édition, commandes) 4. </a:t>
            </a:r>
            <a:r>
              <a:rPr b="1"/>
              <a:t>Évalue</a:t>
            </a:r>
            <a:r>
              <a:rPr/>
              <a:t> : Vérifie le résultat 5. </a:t>
            </a:r>
            <a:r>
              <a:rPr b="1"/>
              <a:t>Itère</a:t>
            </a:r>
            <a:r>
              <a:rPr/>
              <a:t> : Corrige si nécessaire</a:t>
            </a:r>
          </a:p>
          <a:p>
            <a:pPr lvl="0" indent="0" marL="0">
              <a:buNone/>
            </a:pPr>
            <a:r>
              <a:rPr b="1"/>
              <a:t>Gestion du contexte :</a:t>
            </a:r>
          </a:p>
          <a:p>
            <a:pPr lvl="0" indent="0" marL="0">
              <a:buNone/>
            </a:pPr>
            <a:r>
              <a:rPr/>
              <a:t>Claude Code maintient une “fenêtre de contexte” qui inclut : - Votre conversation actuelle - Les fichiers que vous référencez - Les fichiers qu’il a lu ou modifié - Les résultats des commandes exécutées - Le contenu de </a:t>
            </a:r>
            <a:r>
              <a:rPr>
                <a:latin typeface="Courier"/>
              </a:rPr>
              <a:t>CLAUDE.md</a:t>
            </a:r>
            <a:r>
              <a:rPr/>
              <a:t> (mémoire projet)</a:t>
            </a:r>
          </a:p>
          <a:p>
            <a:pPr lvl="0" indent="0" marL="0">
              <a:buNone/>
            </a:pPr>
            <a:r>
              <a:rPr b="1"/>
              <a:t>Les 3 modes d’interaction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Mode</a:t>
                      </a:r>
                    </a:p>
                  </a:txBody>
                  <a:tcPr/>
                </a:tc>
                <a:tc>
                  <a:txBody>
                    <a:bodyPr/>
                    <a:lstStyle/>
                    <a:p>
                      <a:pPr lvl="0" indent="0" marL="0">
                        <a:buNone/>
                      </a:pPr>
                      <a:r>
                        <a:rPr/>
                        <a:t>Commande</a:t>
                      </a:r>
                    </a:p>
                  </a:txBody>
                  <a:tcPr/>
                </a:tc>
                <a:tc>
                  <a:txBody>
                    <a:bodyPr/>
                    <a:lstStyle/>
                    <a:p>
                      <a:pPr lvl="0" indent="0" marL="0">
                        <a:buNone/>
                      </a:pPr>
                      <a:r>
                        <a:rPr/>
                        <a:t>Usage</a:t>
                      </a:r>
                    </a:p>
                  </a:txBody>
                  <a:tcPr/>
                </a:tc>
              </a:tr>
              <a:tr h="0">
                <a:tc>
                  <a:txBody>
                    <a:bodyPr/>
                    <a:lstStyle/>
                    <a:p>
                      <a:pPr lvl="0" indent="0" marL="0">
                        <a:buNone/>
                      </a:pPr>
                      <a:r>
                        <a:rPr b="1"/>
                        <a:t>Interactif</a:t>
                      </a:r>
                    </a:p>
                  </a:txBody>
                </a:tc>
                <a:tc>
                  <a:txBody>
                    <a:bodyPr/>
                    <a:lstStyle/>
                    <a:p>
                      <a:pPr lvl="0" indent="0" marL="0">
                        <a:buNone/>
                      </a:pPr>
                      <a:r>
                        <a:rPr>
                          <a:latin typeface="Courier"/>
                        </a:rPr>
                        <a:t>claude</a:t>
                      </a:r>
                    </a:p>
                  </a:txBody>
                </a:tc>
                <a:tc>
                  <a:txBody>
                    <a:bodyPr/>
                    <a:lstStyle/>
                    <a:p>
                      <a:pPr lvl="0" indent="0" marL="0">
                        <a:buNone/>
                      </a:pPr>
                      <a:r>
                        <a:rPr/>
                        <a:t>Sessions de travail normales</a:t>
                      </a:r>
                    </a:p>
                  </a:txBody>
                </a:tc>
              </a:tr>
              <a:tr h="0">
                <a:tc>
                  <a:txBody>
                    <a:bodyPr/>
                    <a:lstStyle/>
                    <a:p>
                      <a:pPr lvl="0" indent="0" marL="0">
                        <a:buNone/>
                      </a:pPr>
                      <a:r>
                        <a:rPr b="1"/>
                        <a:t>Headless</a:t>
                      </a:r>
                    </a:p>
                  </a:txBody>
                </a:tc>
                <a:tc>
                  <a:txBody>
                    <a:bodyPr/>
                    <a:lstStyle/>
                    <a:p>
                      <a:pPr lvl="0" indent="0" marL="0">
                        <a:buNone/>
                      </a:pPr>
                      <a:r>
                        <a:rPr>
                          <a:latin typeface="Courier"/>
                        </a:rPr>
                        <a:t>claude -p "..."</a:t>
                      </a:r>
                    </a:p>
                  </a:txBody>
                </a:tc>
                <a:tc>
                  <a:txBody>
                    <a:bodyPr/>
                    <a:lstStyle/>
                    <a:p>
                      <a:pPr lvl="0" indent="0" marL="0">
                        <a:buNone/>
                      </a:pPr>
                      <a:r>
                        <a:rPr/>
                        <a:t>Scripts, automation, CI/CD</a:t>
                      </a:r>
                    </a:p>
                  </a:txBody>
                </a:tc>
              </a:tr>
              <a:tr h="0">
                <a:tc>
                  <a:txBody>
                    <a:bodyPr/>
                    <a:lstStyle/>
                    <a:p>
                      <a:pPr lvl="0" indent="0" marL="0">
                        <a:buNone/>
                      </a:pPr>
                      <a:r>
                        <a:rPr b="1"/>
                        <a:t>Intégré</a:t>
                      </a:r>
                    </a:p>
                  </a:txBody>
                </a:tc>
                <a:tc>
                  <a:txBody>
                    <a:bodyPr/>
                    <a:lstStyle/>
                    <a:p>
                      <a:pPr lvl="0" indent="0" marL="0">
                        <a:buNone/>
                      </a:pPr>
                      <a:r>
                        <a:rPr/>
                        <a:t>Extension VS Code/JetBrains</a:t>
                      </a:r>
                    </a:p>
                  </a:txBody>
                </a:tc>
                <a:tc>
                  <a:txBody>
                    <a:bodyPr/>
                    <a:lstStyle/>
                    <a:p>
                      <a:pPr lvl="0" indent="0" marL="0">
                        <a:buNone/>
                      </a:pPr>
                      <a:r>
                        <a:rPr/>
                        <a:t>Dans votre IDE</a:t>
                      </a:r>
                    </a:p>
                  </a:txBody>
                </a:tc>
              </a:tr>
            </a:tbl>
          </a:graphicData>
        </a:graphic>
      </p:graphicFrame>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1.4 Les 5 concepts fondamentaux</a:t>
            </a:r>
          </a:p>
          <a:p>
            <a:pPr lvl="0" indent="0" marL="0">
              <a:buNone/>
            </a:pPr>
            <a:r>
              <a:rPr/>
              <a:t>Claude Code repose sur 5 concepts clés qu’il faut maîtriser :</a:t>
            </a:r>
          </a:p>
          <a:p>
            <a:pPr lvl="0" indent="0" marL="0">
              <a:spcBef>
                <a:spcPts val="3000"/>
              </a:spcBef>
              <a:buNone/>
            </a:pPr>
            <a:r>
              <a:rPr b="1"/>
              <a:t>1. Tools (Outils)</a:t>
            </a:r>
          </a:p>
          <a:p>
            <a:pPr lvl="0" indent="0" marL="0">
              <a:buNone/>
            </a:pPr>
            <a:r>
              <a:rPr/>
              <a:t>Les Tools sont les </a:t>
            </a:r>
            <a:r>
              <a:rPr b="1"/>
              <a:t>capacités d’action</a:t>
            </a:r>
            <a:r>
              <a:rPr/>
              <a:t> de Claude Code. Ce sont les “mains” de l’agent.</a:t>
            </a:r>
          </a:p>
          <a:p>
            <a:pPr lvl="0" indent="0" marL="0">
              <a:buNone/>
            </a:pPr>
            <a:r>
              <a:rPr b="1"/>
              <a:t>Tools de lecture :</a:t>
            </a:r>
            <a:r>
              <a:rPr/>
              <a:t> - </a:t>
            </a:r>
            <a:r>
              <a:rPr>
                <a:latin typeface="Courier"/>
              </a:rPr>
              <a:t>Read</a:t>
            </a:r>
            <a:r>
              <a:rPr/>
              <a:t> : Lire le contenu d’un fichier - </a:t>
            </a:r>
            <a:r>
              <a:rPr>
                <a:latin typeface="Courier"/>
              </a:rPr>
              <a:t>Glob</a:t>
            </a:r>
            <a:r>
              <a:rPr/>
              <a:t> : Trouver des fichiers par pattern - </a:t>
            </a:r>
            <a:r>
              <a:rPr>
                <a:latin typeface="Courier"/>
              </a:rPr>
              <a:t>Grep</a:t>
            </a:r>
            <a:r>
              <a:rPr/>
              <a:t> : Rechercher du texte dans les fichiers - </a:t>
            </a:r>
            <a:r>
              <a:rPr>
                <a:latin typeface="Courier"/>
              </a:rPr>
              <a:t>WebSearch</a:t>
            </a:r>
            <a:r>
              <a:rPr/>
              <a:t> / </a:t>
            </a:r>
            <a:r>
              <a:rPr>
                <a:latin typeface="Courier"/>
              </a:rPr>
              <a:t>WebFetch</a:t>
            </a:r>
            <a:r>
              <a:rPr/>
              <a:t> : Rechercher sur internet</a:t>
            </a:r>
          </a:p>
          <a:p>
            <a:pPr lvl="0" indent="0" marL="0">
              <a:buNone/>
            </a:pPr>
            <a:r>
              <a:rPr b="1"/>
              <a:t>Tools de modification :</a:t>
            </a:r>
            <a:r>
              <a:rPr/>
              <a:t> - </a:t>
            </a:r>
            <a:r>
              <a:rPr>
                <a:latin typeface="Courier"/>
              </a:rPr>
              <a:t>Write</a:t>
            </a:r>
            <a:r>
              <a:rPr/>
              <a:t> : Créer un nouveau fichier - </a:t>
            </a:r>
            <a:r>
              <a:rPr>
                <a:latin typeface="Courier"/>
              </a:rPr>
              <a:t>Edit</a:t>
            </a:r>
            <a:r>
              <a:rPr/>
              <a:t> : Modifier une partie d’un fichier - </a:t>
            </a:r>
            <a:r>
              <a:rPr>
                <a:latin typeface="Courier"/>
              </a:rPr>
              <a:t>Bash</a:t>
            </a:r>
            <a:r>
              <a:rPr/>
              <a:t> : Exécuter des commandes terminal</a:t>
            </a:r>
          </a:p>
          <a:p>
            <a:pPr lvl="0" indent="0" marL="0">
              <a:buNone/>
            </a:pPr>
            <a:r>
              <a:rPr b="1"/>
              <a:t>Tools d’orchestration :</a:t>
            </a:r>
            <a:r>
              <a:rPr/>
              <a:t> - </a:t>
            </a:r>
            <a:r>
              <a:rPr>
                <a:latin typeface="Courier"/>
              </a:rPr>
              <a:t>Task</a:t>
            </a:r>
            <a:r>
              <a:rPr/>
              <a:t> : Lancer un sous-agent spécialisé - </a:t>
            </a:r>
            <a:r>
              <a:rPr>
                <a:latin typeface="Courier"/>
              </a:rPr>
              <a:t>AskUserQuestion</a:t>
            </a:r>
            <a:r>
              <a:rPr/>
              <a:t> : Poser une question à l’utilisateur</a:t>
            </a:r>
          </a:p>
          <a:p>
            <a:pPr lvl="0" indent="0" marL="0">
              <a:spcBef>
                <a:spcPts val="3000"/>
              </a:spcBef>
              <a:buNone/>
            </a:pPr>
            <a:r>
              <a:rPr b="1"/>
              <a:t>2. Slash Commands</a:t>
            </a:r>
          </a:p>
          <a:p>
            <a:pPr lvl="0" indent="0" marL="0">
              <a:buNone/>
            </a:pPr>
            <a:r>
              <a:rPr/>
              <a:t>Les Slash Commands sont des </a:t>
            </a:r>
            <a:r>
              <a:rPr b="1"/>
              <a:t>raccourcis</a:t>
            </a:r>
            <a:r>
              <a:rPr/>
              <a:t> pour des actions fréquentes. Elles commencent par </a:t>
            </a:r>
            <a:r>
              <a:rPr>
                <a:latin typeface="Courier"/>
              </a:rPr>
              <a:t>/</a:t>
            </a:r>
            <a:r>
              <a:rPr/>
              <a:t>.</a:t>
            </a:r>
          </a:p>
          <a:p>
            <a:pPr lvl="0" indent="0">
              <a:buNone/>
            </a:pPr>
            <a:r>
              <a:rPr>
                <a:latin typeface="Courier"/>
              </a:rPr>
              <a:t>/help      → Affiche l'aide
/commit    → Crée un commit git
/clear     → Efface la conversation
/model     → Change le modèle</a:t>
            </a:r>
          </a:p>
          <a:p>
            <a:pPr lvl="0" indent="0" marL="0">
              <a:spcBef>
                <a:spcPts val="3000"/>
              </a:spcBef>
              <a:buNone/>
            </a:pPr>
            <a:r>
              <a:rPr b="1"/>
              <a:t>3. Skills</a:t>
            </a:r>
          </a:p>
          <a:p>
            <a:pPr lvl="0" indent="0" marL="0">
              <a:buNone/>
            </a:pPr>
            <a:r>
              <a:rPr/>
              <a:t>Les Skills sont des </a:t>
            </a:r>
            <a:r>
              <a:rPr b="1"/>
              <a:t>prompts packagés</a:t>
            </a:r>
            <a:r>
              <a:rPr/>
              <a:t> réutilisables. Elles étendent les capacités de Claude Code avec des workflows personnalisés.</a:t>
            </a:r>
          </a:p>
          <a:p>
            <a:pPr lvl="0" indent="0">
              <a:buNone/>
            </a:pPr>
            <a:r>
              <a:rPr>
                <a:latin typeface="Courier"/>
              </a:rPr>
              <a:t>/code-review    → Lancer une revue de code
/standup        → Générer un rapport de standup
/deploy         → Déployer l'application</a:t>
            </a:r>
          </a:p>
          <a:p>
            <a:pPr lvl="0" indent="0" marL="0">
              <a:spcBef>
                <a:spcPts val="3000"/>
              </a:spcBef>
              <a:buNone/>
            </a:pPr>
            <a:r>
              <a:rPr b="1"/>
              <a:t>4. Subagents</a:t>
            </a:r>
          </a:p>
          <a:p>
            <a:pPr lvl="0" indent="0" marL="0">
              <a:buNone/>
            </a:pPr>
            <a:r>
              <a:rPr/>
              <a:t>Les Subagents sont des </a:t>
            </a:r>
            <a:r>
              <a:rPr b="1"/>
              <a:t>agents spécialisés</a:t>
            </a:r>
            <a:r>
              <a:rPr/>
              <a:t> que Claude Code peut lancer pour des tâches spécifiques :</a:t>
            </a:r>
          </a:p>
          <a:p>
            <a:pPr lvl="0"/>
            <a:r>
              <a:rPr b="1"/>
              <a:t>Explore</a:t>
            </a:r>
            <a:r>
              <a:rPr/>
              <a:t> : Explorer et comprendre une codebase</a:t>
            </a:r>
          </a:p>
          <a:p>
            <a:pPr lvl="0"/>
            <a:r>
              <a:rPr b="1"/>
              <a:t>Plan</a:t>
            </a:r>
            <a:r>
              <a:rPr/>
              <a:t> : Planifier une implémentation complexe</a:t>
            </a:r>
          </a:p>
          <a:p>
            <a:pPr lvl="0"/>
            <a:r>
              <a:rPr b="1"/>
              <a:t>Bash</a:t>
            </a:r>
            <a:r>
              <a:rPr/>
              <a:t> : Exécuter des commandes shell</a:t>
            </a:r>
          </a:p>
          <a:p>
            <a:pPr lvl="0"/>
            <a:r>
              <a:rPr b="1"/>
              <a:t>general-purpose</a:t>
            </a:r>
            <a:r>
              <a:rPr/>
              <a:t> : Tâches variées</a:t>
            </a:r>
          </a:p>
          <a:p>
            <a:pPr lvl="0" indent="0" marL="0">
              <a:spcBef>
                <a:spcPts val="3000"/>
              </a:spcBef>
              <a:buNone/>
            </a:pPr>
            <a:r>
              <a:rPr b="1"/>
              <a:t>5. MCP Servers</a:t>
            </a:r>
          </a:p>
          <a:p>
            <a:pPr lvl="0" indent="0" marL="0">
              <a:buNone/>
            </a:pPr>
            <a:r>
              <a:rPr/>
              <a:t>Les MCP (Model Context Protocol) Servers sont des </a:t>
            </a:r>
            <a:r>
              <a:rPr b="1"/>
              <a:t>extensions externes</a:t>
            </a:r>
            <a:r>
              <a:rPr/>
              <a:t> qui donnent de nouveaux outils à Claude Code :</a:t>
            </a:r>
          </a:p>
          <a:p>
            <a:pPr lvl="0"/>
            <a:r>
              <a:rPr/>
              <a:t>Accès aux bases de données (PostgreSQL, SQLite)</a:t>
            </a:r>
          </a:p>
          <a:p>
            <a:pPr lvl="0"/>
            <a:r>
              <a:rPr/>
              <a:t>Intégrations (GitHub, Slack, Jira)</a:t>
            </a:r>
          </a:p>
          <a:p>
            <a:pPr lvl="0"/>
            <a:r>
              <a:rPr/>
              <a:t>Automatisation navigateur (Chrome DevTools)</a:t>
            </a:r>
          </a:p>
          <a:p>
            <a:pPr lvl="0" indent="0" marL="0">
              <a:spcBef>
                <a:spcPts val="3000"/>
              </a:spcBef>
              <a:buNone/>
            </a:pPr>
            <a:r>
              <a:rPr b="1"/>
              <a:t>1.5 Prérequis et coûts</a:t>
            </a:r>
          </a:p>
          <a:p>
            <a:pPr lvl="0" indent="0" marL="0">
              <a:buNone/>
            </a:pPr>
            <a:r>
              <a:rPr b="1"/>
              <a:t>Compte Anthropic requis :</a:t>
            </a:r>
          </a:p>
          <a:p>
            <a:pPr lvl="0" indent="0" marL="0">
              <a:buNone/>
            </a:pPr>
            <a:r>
              <a:rPr/>
              <a:t>Pour utiliser Claude Code, vous avez besoin d’un compte Anthropic avec l’une de ces options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Plan</a:t>
                      </a:r>
                    </a:p>
                  </a:txBody>
                  <a:tcPr/>
                </a:tc>
                <a:tc>
                  <a:txBody>
                    <a:bodyPr/>
                    <a:lstStyle/>
                    <a:p>
                      <a:pPr lvl="0" indent="0" marL="0">
                        <a:buNone/>
                      </a:pPr>
                      <a:r>
                        <a:rPr/>
                        <a:t>Prix</a:t>
                      </a:r>
                    </a:p>
                  </a:txBody>
                  <a:tcPr/>
                </a:tc>
                <a:tc>
                  <a:txBody>
                    <a:bodyPr/>
                    <a:lstStyle/>
                    <a:p>
                      <a:pPr lvl="0" indent="0" marL="0">
                        <a:buNone/>
                      </a:pPr>
                      <a:r>
                        <a:rPr/>
                        <a:t>Caractéristiques</a:t>
                      </a:r>
                    </a:p>
                  </a:txBody>
                  <a:tcPr/>
                </a:tc>
              </a:tr>
              <a:tr h="0">
                <a:tc>
                  <a:txBody>
                    <a:bodyPr/>
                    <a:lstStyle/>
                    <a:p>
                      <a:pPr lvl="0" indent="0" marL="0">
                        <a:buNone/>
                      </a:pPr>
                      <a:r>
                        <a:rPr b="1"/>
                        <a:t>Pro</a:t>
                      </a:r>
                    </a:p>
                  </a:txBody>
                </a:tc>
                <a:tc>
                  <a:txBody>
                    <a:bodyPr/>
                    <a:lstStyle/>
                    <a:p>
                      <a:pPr lvl="0" indent="0" marL="0">
                        <a:buNone/>
                      </a:pPr>
                      <a:r>
                        <a:rPr/>
                        <a:t>20$/mois</a:t>
                      </a:r>
                    </a:p>
                  </a:txBody>
                </a:tc>
                <a:tc>
                  <a:txBody>
                    <a:bodyPr/>
                    <a:lstStyle/>
                    <a:p>
                      <a:pPr lvl="0" indent="0" marL="0">
                        <a:buNone/>
                      </a:pPr>
                      <a:r>
                        <a:rPr/>
                        <a:t>Usage limité, idéal pour débuter</a:t>
                      </a:r>
                    </a:p>
                  </a:txBody>
                </a:tc>
              </a:tr>
              <a:tr h="0">
                <a:tc>
                  <a:txBody>
                    <a:bodyPr/>
                    <a:lstStyle/>
                    <a:p>
                      <a:pPr lvl="0" indent="0" marL="0">
                        <a:buNone/>
                      </a:pPr>
                      <a:r>
                        <a:rPr b="1"/>
                        <a:t>Max</a:t>
                      </a:r>
                    </a:p>
                  </a:txBody>
                </a:tc>
                <a:tc>
                  <a:txBody>
                    <a:bodyPr/>
                    <a:lstStyle/>
                    <a:p>
                      <a:pPr lvl="0" indent="0" marL="0">
                        <a:buNone/>
                      </a:pPr>
                      <a:r>
                        <a:rPr/>
                        <a:t>Variable</a:t>
                      </a:r>
                    </a:p>
                  </a:txBody>
                </a:tc>
                <a:tc>
                  <a:txBody>
                    <a:bodyPr/>
                    <a:lstStyle/>
                    <a:p>
                      <a:pPr lvl="0" indent="0" marL="0">
                        <a:buNone/>
                      </a:pPr>
                      <a:r>
                        <a:rPr/>
                        <a:t>Usage intensif, limites élevées</a:t>
                      </a:r>
                    </a:p>
                  </a:txBody>
                </a:tc>
              </a:tr>
              <a:tr h="0">
                <a:tc>
                  <a:txBody>
                    <a:bodyPr/>
                    <a:lstStyle/>
                    <a:p>
                      <a:pPr lvl="0" indent="0" marL="0">
                        <a:buNone/>
                      </a:pPr>
                      <a:r>
                        <a:rPr b="1"/>
                        <a:t>API</a:t>
                      </a:r>
                    </a:p>
                  </a:txBody>
                </a:tc>
                <a:tc>
                  <a:txBody>
                    <a:bodyPr/>
                    <a:lstStyle/>
                    <a:p>
                      <a:pPr lvl="0" indent="0" marL="0">
                        <a:buNone/>
                      </a:pPr>
                      <a:r>
                        <a:rPr/>
                        <a:t>Pay-as-you-go</a:t>
                      </a:r>
                    </a:p>
                  </a:txBody>
                </a:tc>
                <a:tc>
                  <a:txBody>
                    <a:bodyPr/>
                    <a:lstStyle/>
                    <a:p>
                      <a:pPr lvl="0" indent="0" marL="0">
                        <a:buNone/>
                      </a:pPr>
                      <a:r>
                        <a:rPr/>
                        <a:t>Facturation à l’usage</a:t>
                      </a:r>
                    </a:p>
                  </a:txBody>
                </a:tc>
              </a:tr>
            </a:tbl>
          </a:graphicData>
        </a:graphic>
      </p:graphicFrame>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Estimation des coûts API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Usage</a:t>
                      </a:r>
                    </a:p>
                  </a:txBody>
                  <a:tcPr/>
                </a:tc>
                <a:tc>
                  <a:txBody>
                    <a:bodyPr/>
                    <a:lstStyle/>
                    <a:p>
                      <a:pPr lvl="0" indent="0" marL="0">
                        <a:buNone/>
                      </a:pPr>
                      <a:r>
                        <a:rPr/>
                        <a:t>Coût estimé/mois</a:t>
                      </a:r>
                    </a:p>
                  </a:txBody>
                  <a:tcPr/>
                </a:tc>
              </a:tr>
              <a:tr h="0">
                <a:tc>
                  <a:txBody>
                    <a:bodyPr/>
                    <a:lstStyle/>
                    <a:p>
                      <a:pPr lvl="0" indent="0" marL="0">
                        <a:buNone/>
                      </a:pPr>
                      <a:r>
                        <a:rPr/>
                        <a:t>Léger (1-2h/jour)</a:t>
                      </a:r>
                    </a:p>
                  </a:txBody>
                </a:tc>
                <a:tc>
                  <a:txBody>
                    <a:bodyPr/>
                    <a:lstStyle/>
                    <a:p>
                      <a:pPr lvl="0" indent="0" marL="0">
                        <a:buNone/>
                      </a:pPr>
                      <a:r>
                        <a:rPr/>
                        <a:t>20-50$</a:t>
                      </a:r>
                    </a:p>
                  </a:txBody>
                </a:tc>
              </a:tr>
              <a:tr h="0">
                <a:tc>
                  <a:txBody>
                    <a:bodyPr/>
                    <a:lstStyle/>
                    <a:p>
                      <a:pPr lvl="0" indent="0" marL="0">
                        <a:buNone/>
                      </a:pPr>
                      <a:r>
                        <a:rPr/>
                        <a:t>Modéré (4h/jour)</a:t>
                      </a:r>
                    </a:p>
                  </a:txBody>
                </a:tc>
                <a:tc>
                  <a:txBody>
                    <a:bodyPr/>
                    <a:lstStyle/>
                    <a:p>
                      <a:pPr lvl="0" indent="0" marL="0">
                        <a:buNone/>
                      </a:pPr>
                      <a:r>
                        <a:rPr/>
                        <a:t>50-150$</a:t>
                      </a:r>
                    </a:p>
                  </a:txBody>
                </a:tc>
              </a:tr>
              <a:tr h="0">
                <a:tc>
                  <a:txBody>
                    <a:bodyPr/>
                    <a:lstStyle/>
                    <a:p>
                      <a:pPr lvl="0" indent="0" marL="0">
                        <a:buNone/>
                      </a:pPr>
                      <a:r>
                        <a:rPr/>
                        <a:t>Intensif (8h/jour)</a:t>
                      </a:r>
                    </a:p>
                  </a:txBody>
                </a:tc>
                <a:tc>
                  <a:txBody>
                    <a:bodyPr/>
                    <a:lstStyle/>
                    <a:p>
                      <a:pPr lvl="0" indent="0" marL="0">
                        <a:buNone/>
                      </a:pPr>
                      <a:r>
                        <a:rPr/>
                        <a:t>150-400$</a:t>
                      </a:r>
                    </a:p>
                  </a:txBody>
                </a:tc>
              </a:tr>
            </a:tbl>
          </a:graphicData>
        </a:graphic>
      </p:graphicFrame>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Providers alternatifs :</a:t>
            </a:r>
          </a:p>
          <a:p>
            <a:pPr lvl="0" indent="0" marL="0">
              <a:buNone/>
            </a:pPr>
            <a:r>
              <a:rPr/>
              <a:t>Claude Code supporte aussi : - </a:t>
            </a:r>
            <a:r>
              <a:rPr b="1"/>
              <a:t>AWS Bedrock</a:t>
            </a:r>
            <a:r>
              <a:rPr/>
              <a:t> : Pour les entreprises AWS - </a:t>
            </a:r>
            <a:r>
              <a:rPr b="1"/>
              <a:t>Google Vertex AI</a:t>
            </a:r>
            <a:r>
              <a:rPr/>
              <a:t> : Pour les environnements GCP - </a:t>
            </a:r>
            <a:r>
              <a:rPr b="1"/>
              <a:t>Azure Foundry</a:t>
            </a:r>
            <a:r>
              <a:rPr/>
              <a:t> : Pour les environnements Azure</a:t>
            </a:r>
          </a:p>
          <a:p>
            <a:pPr lvl="0" indent="0" marL="0">
              <a:spcBef>
                <a:spcPts val="3000"/>
              </a:spcBef>
              <a:buNone/>
            </a:pPr>
            <a:r>
              <a:rPr b="1"/>
              <a:t>1.6 Démo : Claude Code en action</a:t>
            </a:r>
          </a:p>
          <a:p>
            <a:pPr lvl="0" indent="0" marL="0">
              <a:buNone/>
            </a:pPr>
            <a:r>
              <a:rPr/>
              <a:t>Dans cette section, nous allons voir 3 démonstrations pratiques de Claude Code.</a:t>
            </a:r>
          </a:p>
          <a:p>
            <a:pPr lvl="0" indent="0" marL="0">
              <a:buNone/>
            </a:pPr>
            <a:r>
              <a:rPr b="1"/>
              <a:t>Démo 1 : Explorer un projet inconnu (5 min)</a:t>
            </a:r>
          </a:p>
          <a:p>
            <a:pPr lvl="0" indent="0">
              <a:buNone/>
            </a:pPr>
            <a:r>
              <a:rPr>
                <a:solidFill>
                  <a:srgbClr val="7F9F7F"/>
                </a:solidFill>
                <a:latin typeface="Courier"/>
              </a:rPr>
              <a:t># Lancez Claude Code dans un projet</a:t>
            </a:r>
            <a:br/>
            <a:r>
              <a:rPr>
                <a:solidFill>
                  <a:srgbClr val="CCCCCC"/>
                </a:solidFill>
                <a:latin typeface="Courier"/>
              </a:rPr>
              <a:t>cd ~/mon-projet-inconnu</a:t>
            </a:r>
            <a:br/>
            <a:r>
              <a:rPr>
                <a:solidFill>
                  <a:srgbClr val="CCCCCC"/>
                </a:solidFill>
                <a:latin typeface="Courier"/>
              </a:rPr>
              <a:t>claude</a:t>
            </a:r>
            <a:br/>
            <a:br/>
            <a:r>
              <a:rPr>
                <a:solidFill>
                  <a:srgbClr val="7F9F7F"/>
                </a:solidFill>
                <a:latin typeface="Courier"/>
              </a:rPr>
              <a:t># Demandez une vue d'ensemble</a:t>
            </a:r>
            <a:br/>
            <a:r>
              <a:rPr>
                <a:solidFill>
                  <a:srgbClr val="F0EFD0"/>
                </a:solidFill>
                <a:latin typeface="Courier"/>
              </a:rPr>
              <a:t>&gt;</a:t>
            </a:r>
            <a:r>
              <a:rPr>
                <a:solidFill>
                  <a:srgbClr val="CCCCCC"/>
                </a:solidFill>
                <a:latin typeface="Courier"/>
              </a:rPr>
              <a:t> Décris-moi ce projet. Quelle est sa structure,</a:t>
            </a:r>
            <a:br/>
            <a:r>
              <a:rPr>
                <a:solidFill>
                  <a:srgbClr val="F0EFD0"/>
                </a:solidFill>
                <a:latin typeface="Courier"/>
              </a:rPr>
              <a:t>&gt;</a:t>
            </a:r>
            <a:r>
              <a:rPr>
                <a:solidFill>
                  <a:srgbClr val="CCCCCC"/>
                </a:solidFill>
                <a:latin typeface="Courier"/>
              </a:rPr>
              <a:t> sa stack technique, et comment il fonctionne </a:t>
            </a:r>
            <a:r>
              <a:rPr b="1">
                <a:solidFill>
                  <a:srgbClr val="FFCFAF"/>
                </a:solidFill>
                <a:latin typeface="Courier"/>
              </a:rPr>
              <a:t>?</a:t>
            </a:r>
          </a:p>
          <a:p>
            <a:pPr lvl="0" indent="0" marL="0">
              <a:buNone/>
            </a:pPr>
            <a:r>
              <a:rPr/>
              <a:t>Claude va automatiquement : 1. Lire les fichiers de configuration (package.json, go.mod, etc.) 2. Analyser la structure des dossiers 3. Identifier les patterns et frameworks utilisés 4. Vous présenter un résumé clair</a:t>
            </a:r>
          </a:p>
          <a:p>
            <a:pPr lvl="0" indent="0" marL="0">
              <a:buNone/>
            </a:pPr>
            <a:r>
              <a:rPr b="1"/>
              <a:t>Démo 2 : Corriger un bug (10 min)</a:t>
            </a:r>
          </a:p>
          <a:p>
            <a:pPr lvl="0" indent="0">
              <a:buNone/>
            </a:pPr>
            <a:r>
              <a:rPr>
                <a:solidFill>
                  <a:srgbClr val="F0EFD0"/>
                </a:solidFill>
                <a:latin typeface="Courier"/>
              </a:rPr>
              <a:t>&gt;</a:t>
            </a:r>
            <a:r>
              <a:rPr>
                <a:solidFill>
                  <a:srgbClr val="CCCCCC"/>
                </a:solidFill>
                <a:latin typeface="Courier"/>
              </a:rPr>
              <a:t> J</a:t>
            </a:r>
            <a:r>
              <a:rPr>
                <a:solidFill>
                  <a:srgbClr val="CC9393"/>
                </a:solidFill>
                <a:latin typeface="Courier"/>
              </a:rPr>
              <a:t>'ai une erreur "undefined is not a function"</a:t>
            </a:r>
            <a:br/>
            <a:r>
              <a:rPr>
                <a:solidFill>
                  <a:srgbClr val="CC9393"/>
                </a:solidFill>
                <a:latin typeface="Courier"/>
              </a:rPr>
              <a:t>&gt; quand je clique sur le bouton de login.</a:t>
            </a:r>
            <a:br/>
            <a:r>
              <a:rPr>
                <a:solidFill>
                  <a:srgbClr val="CC9393"/>
                </a:solidFill>
                <a:latin typeface="Courier"/>
              </a:rPr>
              <a:t>&gt; Voici la stack trace : [coller la stack trace]</a:t>
            </a:r>
            <a:br/>
            <a:r>
              <a:rPr>
                <a:solidFill>
                  <a:srgbClr val="CC9393"/>
                </a:solidFill>
                <a:latin typeface="Courier"/>
              </a:rPr>
              <a:t>&gt; Trouve la cause et corrige le bug.</a:t>
            </a:r>
          </a:p>
          <a:p>
            <a:pPr lvl="0" indent="0" marL="0">
              <a:buNone/>
            </a:pPr>
            <a:r>
              <a:rPr/>
              <a:t>Claude va : 1. Analyser la stack trace 2. Lire les fichiers concernés 3. Identifier la cause racine 4. Proposer et appliquer la correction 5. Suggérer de lancer les tests</a:t>
            </a:r>
          </a:p>
          <a:p>
            <a:pPr lvl="0" indent="0" marL="0">
              <a:buNone/>
            </a:pPr>
            <a:r>
              <a:rPr b="1"/>
              <a:t>Démo 3 : Générer des tests (5 min)</a:t>
            </a:r>
          </a:p>
          <a:p>
            <a:pPr lvl="0" indent="0">
              <a:buNone/>
            </a:pPr>
            <a:r>
              <a:rPr>
                <a:solidFill>
                  <a:srgbClr val="F0EFD0"/>
                </a:solidFill>
                <a:latin typeface="Courier"/>
              </a:rPr>
              <a:t>&gt;</a:t>
            </a:r>
            <a:r>
              <a:rPr>
                <a:solidFill>
                  <a:srgbClr val="CCCCCC"/>
                </a:solidFill>
                <a:latin typeface="Courier"/>
              </a:rPr>
              <a:t> Génère les tests unitaires pour le fichier</a:t>
            </a:r>
            <a:br/>
            <a:r>
              <a:rPr>
                <a:solidFill>
                  <a:srgbClr val="F0EFD0"/>
                </a:solidFill>
                <a:latin typeface="Courier"/>
              </a:rPr>
              <a:t>&gt;</a:t>
            </a:r>
            <a:r>
              <a:rPr>
                <a:solidFill>
                  <a:srgbClr val="CCCCCC"/>
                </a:solidFill>
                <a:latin typeface="Courier"/>
              </a:rPr>
              <a:t> src/services/auth.service.ts</a:t>
            </a:r>
            <a:br/>
            <a:r>
              <a:rPr>
                <a:solidFill>
                  <a:srgbClr val="F0EFD0"/>
                </a:solidFill>
                <a:latin typeface="Courier"/>
              </a:rPr>
              <a:t>&gt;</a:t>
            </a:r>
            <a:r>
              <a:rPr>
                <a:solidFill>
                  <a:srgbClr val="CCCCCC"/>
                </a:solidFill>
                <a:latin typeface="Courier"/>
              </a:rPr>
              <a:t> Utilise Jest et couvre les cas limites.</a:t>
            </a:r>
          </a:p>
          <a:p>
            <a:pPr lvl="0" indent="0" marL="0">
              <a:buNone/>
            </a:pPr>
            <a:r>
              <a:rPr/>
              <a:t>Claude va : 1. Lire le fichier source 2. Comprendre les fonctions à tester 3. Créer un fichier de tests complet 4. Couvrir les cas nominaux et limites</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Module 2 : Installation et Premier Lancement (30 min)</a:t>
            </a:r>
          </a:p>
          <a:p>
            <a:pPr lvl="0" indent="0" marL="0">
              <a:buNone/>
            </a:pPr>
            <a:r>
              <a:rPr b="1"/>
              <a:t>Objectif pédagogique</a:t>
            </a:r>
            <a:r>
              <a:rPr/>
              <a:t> : À l’issue de ce module, l’apprenant sera capable d’installer Claude Code via npm ou Homebrew, de s’authentifier avec son compte Anthropic ou une API key, et de lancer sa première session interactive.</a:t>
            </a:r>
          </a:p>
          <a:p>
            <a:pPr lvl="0" indent="0" marL="0">
              <a:spcBef>
                <a:spcPts val="3000"/>
              </a:spcBef>
              <a:buNone/>
            </a:pPr>
            <a:r>
              <a:rPr b="1"/>
              <a:t>2.1 Installation</a:t>
            </a:r>
          </a:p>
          <a:p>
            <a:pPr lvl="0" indent="0" marL="0">
              <a:buNone/>
            </a:pPr>
            <a:r>
              <a:rPr b="1"/>
              <a:t>Méthode 1 : npm (recommandé)</a:t>
            </a:r>
          </a:p>
          <a:p>
            <a:pPr lvl="0" indent="0">
              <a:buNone/>
            </a:pPr>
            <a:r>
              <a:rPr>
                <a:solidFill>
                  <a:srgbClr val="7F9F7F"/>
                </a:solidFill>
                <a:latin typeface="Courier"/>
              </a:rPr>
              <a:t># Installation globale via npm</a:t>
            </a:r>
            <a:br/>
            <a:r>
              <a:rPr>
                <a:solidFill>
                  <a:srgbClr val="CCCCCC"/>
                </a:solidFill>
                <a:latin typeface="Courier"/>
              </a:rPr>
              <a:t>npm install -g @anthropic-ai/claude-code</a:t>
            </a:r>
            <a:br/>
            <a:br/>
            <a:r>
              <a:rPr>
                <a:solidFill>
                  <a:srgbClr val="7F9F7F"/>
                </a:solidFill>
                <a:latin typeface="Courier"/>
              </a:rPr>
              <a:t># Vérification</a:t>
            </a:r>
            <a:br/>
            <a:r>
              <a:rPr>
                <a:solidFill>
                  <a:srgbClr val="CCCCCC"/>
                </a:solidFill>
                <a:latin typeface="Courier"/>
              </a:rPr>
              <a:t>claude --version</a:t>
            </a:r>
          </a:p>
          <a:p>
            <a:pPr lvl="0" indent="0" marL="0">
              <a:buNone/>
            </a:pPr>
            <a:r>
              <a:rPr b="1"/>
              <a:t>Méthode 2 : Homebrew (macOS)</a:t>
            </a:r>
          </a:p>
          <a:p>
            <a:pPr lvl="0" indent="0">
              <a:buNone/>
            </a:pPr>
            <a:r>
              <a:rPr>
                <a:solidFill>
                  <a:srgbClr val="7F9F7F"/>
                </a:solidFill>
                <a:latin typeface="Courier"/>
              </a:rPr>
              <a:t># Installation via Homebrew</a:t>
            </a:r>
            <a:br/>
            <a:r>
              <a:rPr>
                <a:solidFill>
                  <a:srgbClr val="CCCCCC"/>
                </a:solidFill>
                <a:latin typeface="Courier"/>
              </a:rPr>
              <a:t>brew install claude-code</a:t>
            </a:r>
            <a:br/>
            <a:br/>
            <a:r>
              <a:rPr>
                <a:solidFill>
                  <a:srgbClr val="7F9F7F"/>
                </a:solidFill>
                <a:latin typeface="Courier"/>
              </a:rPr>
              <a:t># Vérification</a:t>
            </a:r>
            <a:br/>
            <a:r>
              <a:rPr>
                <a:solidFill>
                  <a:srgbClr val="CCCCCC"/>
                </a:solidFill>
                <a:latin typeface="Courier"/>
              </a:rPr>
              <a:t>claude --version</a:t>
            </a:r>
          </a:p>
          <a:p>
            <a:pPr lvl="0" indent="0" marL="0">
              <a:buNone/>
            </a:pPr>
            <a:r>
              <a:rPr b="1"/>
              <a:t>Mise à jour :</a:t>
            </a:r>
          </a:p>
          <a:p>
            <a:pPr lvl="0" indent="0">
              <a:buNone/>
            </a:pPr>
            <a:r>
              <a:rPr>
                <a:solidFill>
                  <a:srgbClr val="7F9F7F"/>
                </a:solidFill>
                <a:latin typeface="Courier"/>
              </a:rPr>
              <a:t># Mettre à jour Claude Code</a:t>
            </a:r>
            <a:br/>
            <a:r>
              <a:rPr>
                <a:solidFill>
                  <a:srgbClr val="CCCCCC"/>
                </a:solidFill>
                <a:latin typeface="Courier"/>
              </a:rPr>
              <a:t>claude update</a:t>
            </a:r>
            <a:br/>
            <a:br/>
            <a:r>
              <a:rPr>
                <a:solidFill>
                  <a:srgbClr val="7F9F7F"/>
                </a:solidFill>
                <a:latin typeface="Courier"/>
              </a:rPr>
              <a:t># Ou via npm</a:t>
            </a:r>
            <a:br/>
            <a:r>
              <a:rPr>
                <a:solidFill>
                  <a:srgbClr val="CCCCCC"/>
                </a:solidFill>
                <a:latin typeface="Courier"/>
              </a:rPr>
              <a:t>npm update -g @anthropic-ai/claude-code</a:t>
            </a:r>
          </a:p>
          <a:p>
            <a:pPr lvl="0" indent="0" marL="0">
              <a:buNone/>
            </a:pPr>
            <a:r>
              <a:rPr b="1"/>
              <a:t>Configuration requise :</a:t>
            </a:r>
            <a:r>
              <a:rPr/>
              <a:t> - Node.js 18+ - Terminal compatible (iTerm2, Terminal.app, Windows Terminal, etc.) - Connexion internet</a:t>
            </a:r>
          </a:p>
          <a:p>
            <a:pPr lvl="0" indent="0" marL="0">
              <a:spcBef>
                <a:spcPts val="3000"/>
              </a:spcBef>
              <a:buNone/>
            </a:pPr>
            <a:r>
              <a:rPr b="1"/>
              <a:t>2.2 Authentification</a:t>
            </a:r>
          </a:p>
          <a:p>
            <a:pPr lvl="0" indent="0" marL="0">
              <a:buNone/>
            </a:pPr>
            <a:r>
              <a:rPr b="1"/>
              <a:t>Option 1 : Connexion avec compte Anthropic (recommandé)</a:t>
            </a:r>
          </a:p>
          <a:p>
            <a:pPr lvl="0" indent="0">
              <a:buNone/>
            </a:pPr>
            <a:r>
              <a:rPr>
                <a:solidFill>
                  <a:srgbClr val="7F9F7F"/>
                </a:solidFill>
                <a:latin typeface="Courier"/>
              </a:rPr>
              <a:t># Premier lancement - ouvre un navigateur pour l'auth</a:t>
            </a:r>
            <a:br/>
            <a:r>
              <a:rPr>
                <a:solidFill>
                  <a:srgbClr val="CCCCCC"/>
                </a:solidFill>
                <a:latin typeface="Courier"/>
              </a:rPr>
              <a:t>claude</a:t>
            </a:r>
            <a:br/>
            <a:br/>
            <a:r>
              <a:rPr>
                <a:solidFill>
                  <a:srgbClr val="7F9F7F"/>
                </a:solidFill>
                <a:latin typeface="Courier"/>
              </a:rPr>
              <a:t># Suivez les instructions à l'écran</a:t>
            </a:r>
          </a:p>
          <a:p>
            <a:pPr lvl="0" indent="0" marL="0">
              <a:buNone/>
            </a:pPr>
            <a:r>
              <a:rPr b="1"/>
              <a:t>Option 2 : API Key</a:t>
            </a:r>
          </a:p>
          <a:p>
            <a:pPr lvl="0" indent="0">
              <a:buNone/>
            </a:pPr>
            <a:r>
              <a:rPr>
                <a:solidFill>
                  <a:srgbClr val="7F9F7F"/>
                </a:solidFill>
                <a:latin typeface="Courier"/>
              </a:rPr>
              <a:t># Définir la clé API dans votre shell</a:t>
            </a:r>
            <a:br/>
            <a:r>
              <a:rPr>
                <a:solidFill>
                  <a:srgbClr val="CCCCCC"/>
                </a:solidFill>
                <a:latin typeface="Courier"/>
              </a:rPr>
              <a:t>export ANTHROPIC_API_KEY</a:t>
            </a:r>
            <a:r>
              <a:rPr>
                <a:solidFill>
                  <a:srgbClr val="F0EFD0"/>
                </a:solidFill>
                <a:latin typeface="Courier"/>
              </a:rPr>
              <a:t>=</a:t>
            </a:r>
            <a:r>
              <a:rPr>
                <a:solidFill>
                  <a:srgbClr val="CC9393"/>
                </a:solidFill>
                <a:latin typeface="Courier"/>
              </a:rPr>
              <a:t>"sk-ant-..."</a:t>
            </a:r>
            <a:br/>
            <a:br/>
            <a:r>
              <a:rPr>
                <a:solidFill>
                  <a:srgbClr val="7F9F7F"/>
                </a:solidFill>
                <a:latin typeface="Courier"/>
              </a:rPr>
              <a:t># Ou dans un fichier .env</a:t>
            </a:r>
            <a:br/>
            <a:r>
              <a:rPr>
                <a:solidFill>
                  <a:srgbClr val="CCCCCC"/>
                </a:solidFill>
                <a:latin typeface="Courier"/>
              </a:rPr>
              <a:t>echo </a:t>
            </a:r>
            <a:r>
              <a:rPr>
                <a:solidFill>
                  <a:srgbClr val="CC9393"/>
                </a:solidFill>
                <a:latin typeface="Courier"/>
              </a:rPr>
              <a:t>'ANTHROPIC_API_KEY=sk-ant-...'</a:t>
            </a:r>
            <a:r>
              <a:rPr>
                <a:solidFill>
                  <a:srgbClr val="CCCCCC"/>
                </a:solidFill>
                <a:latin typeface="Courier"/>
              </a:rPr>
              <a:t> </a:t>
            </a:r>
            <a:r>
              <a:rPr>
                <a:solidFill>
                  <a:srgbClr val="F0EFD0"/>
                </a:solidFill>
                <a:latin typeface="Courier"/>
              </a:rPr>
              <a:t>&gt;&gt;</a:t>
            </a:r>
            <a:r>
              <a:rPr>
                <a:solidFill>
                  <a:srgbClr val="CCCCCC"/>
                </a:solidFill>
                <a:latin typeface="Courier"/>
              </a:rPr>
              <a:t> ~/.zshrc</a:t>
            </a:r>
            <a:br/>
            <a:r>
              <a:rPr>
                <a:solidFill>
                  <a:srgbClr val="CCCCCC"/>
                </a:solidFill>
                <a:latin typeface="Courier"/>
              </a:rPr>
              <a:t>source ~/.zshrc</a:t>
            </a:r>
          </a:p>
          <a:p>
            <a:pPr lvl="0" indent="0" marL="0">
              <a:buNone/>
            </a:pPr>
            <a:r>
              <a:rPr b="1"/>
              <a:t>Vérifier l’authentification :</a:t>
            </a:r>
          </a:p>
          <a:p>
            <a:pPr lvl="0" indent="0">
              <a:buNone/>
            </a:pPr>
            <a:r>
              <a:rPr>
                <a:solidFill>
                  <a:srgbClr val="7F9F7F"/>
                </a:solidFill>
                <a:latin typeface="Courier"/>
              </a:rPr>
              <a:t># Affiche le status de connexion</a:t>
            </a:r>
            <a:br/>
            <a:r>
              <a:rPr>
                <a:solidFill>
                  <a:srgbClr val="CCCCCC"/>
                </a:solidFill>
                <a:latin typeface="Courier"/>
              </a:rPr>
              <a:t>claude /status</a:t>
            </a:r>
          </a:p>
          <a:p>
            <a:pPr lvl="0" indent="0" marL="0">
              <a:spcBef>
                <a:spcPts val="3000"/>
              </a:spcBef>
              <a:buNone/>
            </a:pPr>
            <a:r>
              <a:rPr b="1"/>
              <a:t>2.3 Premier lancement</a:t>
            </a:r>
          </a:p>
          <a:p>
            <a:pPr lvl="0" indent="0" marL="0">
              <a:buNone/>
            </a:pPr>
            <a:r>
              <a:rPr b="1"/>
              <a:t>Démarrer une session interactive :</a:t>
            </a:r>
          </a:p>
          <a:p>
            <a:pPr lvl="0" indent="0">
              <a:buNone/>
            </a:pPr>
            <a:r>
              <a:rPr>
                <a:solidFill>
                  <a:srgbClr val="7F9F7F"/>
                </a:solidFill>
                <a:latin typeface="Courier"/>
              </a:rPr>
              <a:t># Dans le dossier de votre projet</a:t>
            </a:r>
            <a:br/>
            <a:r>
              <a:rPr>
                <a:solidFill>
                  <a:srgbClr val="CCCCCC"/>
                </a:solidFill>
                <a:latin typeface="Courier"/>
              </a:rPr>
              <a:t>cd ~/mon-projet</a:t>
            </a:r>
            <a:br/>
            <a:r>
              <a:rPr>
                <a:solidFill>
                  <a:srgbClr val="CCCCCC"/>
                </a:solidFill>
                <a:latin typeface="Courier"/>
              </a:rPr>
              <a:t>claude</a:t>
            </a:r>
          </a:p>
          <a:p>
            <a:pPr lvl="0" indent="0" marL="0">
              <a:buNone/>
            </a:pPr>
            <a:r>
              <a:rPr b="1"/>
              <a:t>Démarrer avec un prompt initial :</a:t>
            </a:r>
          </a:p>
          <a:p>
            <a:pPr lvl="0" indent="0">
              <a:buNone/>
            </a:pPr>
            <a:r>
              <a:rPr>
                <a:solidFill>
                  <a:srgbClr val="7F9F7F"/>
                </a:solidFill>
                <a:latin typeface="Courier"/>
              </a:rPr>
              <a:t># Poser directement une question</a:t>
            </a:r>
            <a:br/>
            <a:r>
              <a:rPr>
                <a:solidFill>
                  <a:srgbClr val="CCCCCC"/>
                </a:solidFill>
                <a:latin typeface="Courier"/>
              </a:rPr>
              <a:t>claude </a:t>
            </a:r>
            <a:r>
              <a:rPr>
                <a:solidFill>
                  <a:srgbClr val="CC9393"/>
                </a:solidFill>
                <a:latin typeface="Courier"/>
              </a:rPr>
              <a:t>"Explique-moi ce projet"</a:t>
            </a:r>
          </a:p>
          <a:p>
            <a:pPr lvl="0" indent="0" marL="0">
              <a:buNone/>
            </a:pPr>
            <a:r>
              <a:rPr b="1"/>
              <a:t>Comprendre l’interface terminal :</a:t>
            </a:r>
          </a:p>
          <a:p>
            <a:pPr lvl="0" indent="0" marL="0">
              <a:buNone/>
            </a:pPr>
            <a:r>
              <a:rPr b="1"/>
              <a:t>Les indicateurs visuels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Indicateur</a:t>
                      </a:r>
                    </a:p>
                  </a:txBody>
                  <a:tcPr/>
                </a:tc>
                <a:tc>
                  <a:txBody>
                    <a:bodyPr/>
                    <a:lstStyle/>
                    <a:p>
                      <a:pPr lvl="0" indent="0" marL="0">
                        <a:buNone/>
                      </a:pPr>
                      <a:r>
                        <a:rPr/>
                        <a:t>Signification</a:t>
                      </a:r>
                    </a:p>
                  </a:txBody>
                  <a:tcPr/>
                </a:tc>
              </a:tr>
              <a:tr h="0">
                <a:tc>
                  <a:txBody>
                    <a:bodyPr/>
                    <a:lstStyle/>
                    <a:p>
                      <a:pPr lvl="0" indent="0" marL="0">
                        <a:buNone/>
                      </a:pPr>
                      <a:r>
                        <a:rPr>
                          <a:latin typeface="Courier"/>
                        </a:rPr>
                        <a:t>●</a:t>
                      </a:r>
                      <a:r>
                        <a:rPr/>
                        <a:t> Spinner</a:t>
                      </a:r>
                    </a:p>
                  </a:txBody>
                </a:tc>
                <a:tc>
                  <a:txBody>
                    <a:bodyPr/>
                    <a:lstStyle/>
                    <a:p>
                      <a:pPr lvl="0" indent="0" marL="0">
                        <a:buNone/>
                      </a:pPr>
                      <a:r>
                        <a:rPr/>
                        <a:t>Claude réfléchit</a:t>
                      </a:r>
                    </a:p>
                  </a:txBody>
                </a:tc>
              </a:tr>
              <a:tr h="0">
                <a:tc>
                  <a:txBody>
                    <a:bodyPr/>
                    <a:lstStyle/>
                    <a:p>
                      <a:pPr lvl="0" indent="0" marL="0">
                        <a:buNone/>
                      </a:pPr>
                      <a:r>
                        <a:rPr>
                          <a:latin typeface="Courier"/>
                        </a:rPr>
                        <a:t>Reading...</a:t>
                      </a:r>
                    </a:p>
                  </a:txBody>
                </a:tc>
                <a:tc>
                  <a:txBody>
                    <a:bodyPr/>
                    <a:lstStyle/>
                    <a:p>
                      <a:pPr lvl="0" indent="0" marL="0">
                        <a:buNone/>
                      </a:pPr>
                      <a:r>
                        <a:rPr/>
                        <a:t>Lecture de fichier</a:t>
                      </a:r>
                    </a:p>
                  </a:txBody>
                </a:tc>
              </a:tr>
              <a:tr h="0">
                <a:tc>
                  <a:txBody>
                    <a:bodyPr/>
                    <a:lstStyle/>
                    <a:p>
                      <a:pPr lvl="0" indent="0" marL="0">
                        <a:buNone/>
                      </a:pPr>
                      <a:r>
                        <a:rPr>
                          <a:latin typeface="Courier"/>
                        </a:rPr>
                        <a:t>Editing...</a:t>
                      </a:r>
                    </a:p>
                  </a:txBody>
                </a:tc>
                <a:tc>
                  <a:txBody>
                    <a:bodyPr/>
                    <a:lstStyle/>
                    <a:p>
                      <a:pPr lvl="0" indent="0" marL="0">
                        <a:buNone/>
                      </a:pPr>
                      <a:r>
                        <a:rPr/>
                        <a:t>Modification en cours</a:t>
                      </a:r>
                    </a:p>
                  </a:txBody>
                </a:tc>
              </a:tr>
              <a:tr h="0">
                <a:tc>
                  <a:txBody>
                    <a:bodyPr/>
                    <a:lstStyle/>
                    <a:p>
                      <a:pPr lvl="0" indent="0" marL="0">
                        <a:buNone/>
                      </a:pPr>
                      <a:r>
                        <a:rPr>
                          <a:latin typeface="Courier"/>
                        </a:rPr>
                        <a:t>Running...</a:t>
                      </a:r>
                    </a:p>
                  </a:txBody>
                </a:tc>
                <a:tc>
                  <a:txBody>
                    <a:bodyPr/>
                    <a:lstStyle/>
                    <a:p>
                      <a:pPr lvl="0" indent="0" marL="0">
                        <a:buNone/>
                      </a:pPr>
                      <a:r>
                        <a:rPr/>
                        <a:t>Exécution de commande</a:t>
                      </a:r>
                    </a:p>
                  </a:txBody>
                </a:tc>
              </a:tr>
              <a:tr h="0">
                <a:tc>
                  <a:txBody>
                    <a:bodyPr/>
                    <a:lstStyle/>
                    <a:p>
                      <a:pPr lvl="0" indent="0" marL="0">
                        <a:buNone/>
                      </a:pPr>
                      <a:r>
                        <a:rPr>
                          <a:latin typeface="Courier"/>
                        </a:rPr>
                        <a:t>✓</a:t>
                      </a:r>
                      <a:r>
                        <a:rPr/>
                        <a:t> Checkmark</a:t>
                      </a:r>
                    </a:p>
                  </a:txBody>
                </a:tc>
                <a:tc>
                  <a:txBody>
                    <a:bodyPr/>
                    <a:lstStyle/>
                    <a:p>
                      <a:pPr lvl="0" indent="0" marL="0">
                        <a:buNone/>
                      </a:pPr>
                      <a:r>
                        <a:rPr/>
                        <a:t>Action réussie</a:t>
                      </a:r>
                    </a:p>
                  </a:txBody>
                </a:tc>
              </a:tr>
              <a:tr h="0">
                <a:tc>
                  <a:txBody>
                    <a:bodyPr/>
                    <a:lstStyle/>
                    <a:p>
                      <a:pPr lvl="0" indent="0" marL="0">
                        <a:buNone/>
                      </a:pPr>
                      <a:r>
                        <a:rPr>
                          <a:latin typeface="Courier"/>
                        </a:rPr>
                        <a:t>✗</a:t>
                      </a:r>
                      <a:r>
                        <a:rPr/>
                        <a:t> Croix</a:t>
                      </a:r>
                    </a:p>
                  </a:txBody>
                </a:tc>
                <a:tc>
                  <a:txBody>
                    <a:bodyPr/>
                    <a:lstStyle/>
                    <a:p>
                      <a:pPr lvl="0" indent="0" marL="0">
                        <a:buNone/>
                      </a:pPr>
                      <a:r>
                        <a:rPr/>
                        <a:t>Erreur</a:t>
                      </a:r>
                    </a:p>
                  </a:txBody>
                </a:tc>
              </a:tr>
            </a:tbl>
          </a:graphicData>
        </a:graphic>
      </p:graphicFrame>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Exercice pratique :</a:t>
            </a:r>
          </a:p>
          <a:p>
            <a:pPr lvl="0" indent="-342900" marL="342900">
              <a:buAutoNum type="arabicPeriod"/>
            </a:pPr>
            <a:r>
              <a:rPr/>
              <a:t>Installez Claude Code avec la méthode de votre choix</a:t>
            </a:r>
          </a:p>
          <a:p>
            <a:pPr lvl="0" indent="-342900" marL="342900">
              <a:buAutoNum type="arabicPeriod"/>
            </a:pPr>
            <a:r>
              <a:rPr/>
              <a:t>Authentifiez-vous</a:t>
            </a:r>
          </a:p>
          <a:p>
            <a:pPr lvl="0" indent="-342900" marL="342900">
              <a:buAutoNum type="arabicPeriod"/>
            </a:pPr>
            <a:r>
              <a:rPr/>
              <a:t>Naviguez vers un projet existant</a:t>
            </a:r>
          </a:p>
          <a:p>
            <a:pPr lvl="0" indent="-342900" marL="342900">
              <a:buAutoNum type="arabicPeriod"/>
            </a:pPr>
            <a:r>
              <a:rPr/>
              <a:t>Lancez </a:t>
            </a:r>
            <a:r>
              <a:rPr>
                <a:latin typeface="Courier"/>
              </a:rPr>
              <a:t>claude</a:t>
            </a:r>
          </a:p>
          <a:p>
            <a:pPr lvl="0" indent="-342900" marL="342900">
              <a:buAutoNum type="arabicPeriod"/>
            </a:pPr>
            <a:r>
              <a:rPr/>
              <a:t>Posez la question : “Qu’est-ce que ce projet fait ?”</a:t>
            </a:r>
          </a:p>
          <a:p>
            <a:pPr lvl="0" indent="-342900" marL="342900">
              <a:buAutoNum type="arabicPeriod"/>
            </a:pPr>
            <a:r>
              <a:rPr/>
              <a:t>Observez comment Claude explore les fichiers</a:t>
            </a:r>
          </a:p>
        </p:txBody>
      </p:sp>
    </p:spTree>
  </p:cSld>
</p:sld>
</file>

<file path=ppt/slides/slide14.xml><?xml version="1.0" encoding="UTF-8"?><p:sld xmlns:a="http://schemas.openxmlformats.org/drawingml/2006/main" xmlns:r="http://schemas.openxmlformats.org/officeDocument/2006/relationships" xmlns:p="http://schemas.openxmlformats.org/presentationml/2006/main"><p:cSld><p:spTree><p:nvGrpSpPr><p:cNvPr id="1" name="" /><p:cNvGrpSpPr /><p:nvPr /></p:nvGrpSpPr><p:grpSpPr><a:xfrm><a:off x="0" y="0" /><a:ext cx="0" cy="0" /><a:chOff x="0" y="0" /><a:chExt cx="0" cy="0" /></a:xfrm></p:grpSpPr><p:sp><p:nvSpPr><p:cNvPr id="4" name="Text Placeholder 3" /><p:cNvSpPr><a:spLocks noGrp="1" /></p:cNvSpPr><p:nvPr><p:ph idx="2" sz="half" type="body" /></p:nvPr></p:nvSpPr><p:spPr /><p:txBody><a:bodyPr /><a:lstStyle /><a:p><a:pPr lvl="0" indent="0" marL="0"><a:spcBef><a:spcPts val="3000" /></a:spcBef><a:buNone /></a:pPr><a:r><a:rPr b="1" /><a:t>Module 3 : CLI - Flags et Options essentiels (45 min)</a:t></a:r></a:p><a:p><a:pPr lvl="0" indent="0" marL="0"><a:buNone /></a:pPr><a:r><a:rPr b="1" /><a:t>Objectif pédagogique</a:t></a:r><a:r><a:rPr /><a:t> : À l’issue de ce module, l’apprenant sera capable d’utiliser les flags CLI essentiels pour gérer ses sessions (</a:t></a:r><a:r><a:rPr><a:latin typeface="Courier" /></a:rPr><a:t>-c</a:t></a:r><a:r><a:rPr /><a:t>, </a:t></a:r><a:r><a:rPr><a:latin typeface="Courier" /></a:rPr><a:t>-r</a:t></a:r><a:r><a:rPr /><a:t>), choisir le modèle (</a:t></a:r><a:r><a:rPr><a:latin typeface="Courier" /></a:rPr><a:t>--model</a:t></a:r><a:r><a:rPr /><a:t>), configurer le mode de permissions (</a:t></a:r><a:r><a:rPr><a:latin typeface="Courier" /></a:rPr><a:t>--permission-mode</a:t></a:r><a:r><a:rPr /><a:t>), et exécuter des commandes headless (</a:t></a:r><a:r><a:rPr><a:latin typeface="Courier" /></a:rPr><a:t>-p</a:t></a:r><a:r><a:rPr /><a:t>).</a:t></a:r></a:p><a:p><a:pPr lvl="0" indent="0" marL="0"><a:spcBef><a:spcPts val="3000" /></a:spcBef><a:buNone /></a:pPr><a:r><a:rPr b="1" /><a:t>3.1 Flags de session</a:t></a:r></a:p><a:p><a:pPr lvl="0" indent="0" marL="0"><a:buNone /></a:pPr><a:r><a:rPr /><a:t>Ces flags contrôlent comment vous interagissez avec vos sessions de travail.</a:t></a:r></a:p><a:p><a:pPr lvl="0" indent="0" marL="0"><a:buNone /></a:pPr><a:r><a:rPr b="1"><a:latin typeface="Courier" /></a:rPr><a:t>--continue</a:t></a:r><a:r><a:rPr b="1" /><a:t> / </a:t></a:r><a:r><a:rPr b="1"><a:latin typeface="Courier" /></a:rPr><a:t>-c</a:t></a:r><a:r><a:rPr b="1" /><a:t> : Reprendre la dernière conversation</a:t></a:r></a:p><a:p><a:pPr lvl="0" indent="0"><a:buNone /></a:pPr><a:r><a:rPr><a:solidFill><a:srgbClr val="7F9F7F" /></a:solidFill><a:latin typeface="Courier" /></a:rPr><a:t># Reprendre exactement où vous vous êtes arrêté</a:t></a:r><a:br /><a:r><a:rPr><a:solidFill><a:srgbClr val="CCCCCC" /></a:solidFill><a:latin typeface="Courier" /></a:rPr><a:t>claude -c</a:t></a:r><a:br /><a:br /><a:r><a:rPr><a:solidFill><a:srgbClr val="7F9F7F" /></a:solidFill><a:latin typeface="Courier" /></a:rPr><a:t># Cas d&#39;usage : Vous avez fermé le terminal par erreur</a:t></a:r></a:p><a:p><a:pPr lvl="0" indent="0" marL="0"><a:buNone /></a:pPr><a:r><a:rPr b="1"><a:latin typeface="Courier" /></a:rPr><a:t>--resume</a:t></a:r><a:r><a:rPr b="1" /><a:t> / </a:t></a:r><a:r><a:rPr b="1"><a:latin typeface="Courier" /></a:rPr><a:t>-r</a:t></a:r><a:r><a:rPr b="1" /><a:t> : Reprendre une session spécifique</a:t></a:r></a:p><a:p><a:pPr lvl="0" indent="0"><a:buNone /></a:pPr><a:r><a:rPr><a:solidFill><a:srgbClr val="7F9F7F" /></a:solidFill><a:latin typeface="Courier" /></a:rPr><a:t># Par nom de session</a:t></a:r><a:br /><a:r><a:rPr><a:solidFill><a:srgbClr val="CCCCCC" /></a:solidFill><a:latin typeface="Courier" /></a:rPr><a:t>claude -r </a:t></a:r><a:r><a:rPr><a:solidFill><a:srgbClr val="CC9393" /></a:solidFill><a:latin typeface="Courier" /></a:rPr><a:t>&quot;refactoring-auth&quot;</a:t></a:r><a:br /><a:br /><a:r><a:rPr><a:solidFill><a:srgbClr val="7F9F7F" /></a:solidFill><a:latin typeface="Courier" /></a:rPr><a:t># Par ID de session</a:t></a:r><a:br /><a:r><a:rPr><a:solidFill><a:srgbClr val="CCCCCC" /></a:solidFill><a:latin typeface="Courier" /></a:rPr><a:t>claude -r abc123</a:t></a:r><a:br /><a:br /><a:r><a:rPr><a:solidFill><a:srgbClr val="7F9F7F" /></a:solidFill><a:latin typeface="Courier" /></a:rPr><a:t># Lister les sessions disponibles</a:t></a:r><a:br /><a:r><a:rPr><a:solidFill><a:srgbClr val="CCCCCC" /></a:solidFill><a:latin typeface="Courier" /></a:rPr><a:t>claude sessions list</a:t></a:r></a:p><a:p><a:pPr lvl="0" indent="0" marL="0"><a:buNone /></a:pPr><a:r><a:rPr b="1"><a:latin typeface="Courier" /></a:rPr><a:t>--model</a:t></a:r><a:r><a:rPr b="1" /><a:t> : Choisir le modèle</a:t></a:r></a:p><a:p><a:pPr lvl="0" indent="0"><a:buNone /></a:pPr><a:r><a:rPr><a:solidFill><a:srgbClr val="7F9F7F" /></a:solidFill><a:latin typeface="Courier" /></a:rPr><a:t># Utiliser Sonnet (par défaut, bon équilibre)</a:t></a:r><a:br /><a:r><a:rPr><a:solidFill><a:srgbClr val="CCCCCC" /></a:solidFill><a:latin typeface="Courier" /></a:rPr><a:t>claude --model sonnet</a:t></a:r><a:br /><a:br /><a:r><a:rPr><a:solidFill><a:srgbClr val="7F9F7F" /></a:solidFill><a:latin typeface="Courier" /></a:rPr><a:t># Utiliser Opus (plus puissant, plus cher)</a:t></a:r><a:br /><a:r><a:rPr><a:solidFill><a:srgbClr val="CCCCCC" /></a:solidFill><a:latin typeface="Courier" /></a:rPr><a:t>claude --model opus</a:t></a:r><a:br /><a:br /><a:r><a:rPr><a:solidFill><a:srgbClr val="7F9F7F" /></a:solidFill><a:latin typeface="Courier" /></a:rPr><a:t># Utiliser Haiku (rapide, économique)</a:t></a:r><a:br /><a:r><a:rPr><a:solidFill><a:srgbClr val="CCCCCC" /></a:solidFill><a:latin typeface="Courier" /></a:rPr><a:t>claude --model haiku</a:t></a:r></a:p></p:txBody></p:sp><p:graphicFrame><p:nvGraphicFramePr><p:cNvPr id="6" name="Content Placeholder 5" /><p:cNvGraphicFramePr><a:graphicFrameLocks noGrp="1" /></p:cNvGraphicFramePr><p:nvPr><p:ph idx="1" /></p:nvPr></p:nvGraphicFramePr><p:xfrm><a:off x="3568700" y="203200" /><a:ext cx="5105400" cy="4381500" /></p:xfrm><a:graphic><a:graphicData uri="http://schemas.openxmlformats.org/drawingml/2006/table"><a:tbl><a:tblPr firstRow="1" bandRow="1"><a:tableStyleId>{5C22544A-7EE6-4342-B048-85BDC9FD1C3A}</a:tableStyleId></a:tblPr><a:tblGrid><a:gridCol w="1358900" /><a:gridCol w="1358900" /><a:gridCol w="2387600" /></a:tblGrid><a:tr h="0"><a:tc><a:txBody><a:bodyPr /><a:lstStyle /><a:p><a:pPr lvl="0" indent="0" marL="0"><a:buNone /></a:pPr><a:r><a:rPr /><a:t>Modèle</a:t></a:r></a:p></a:txBody><a:tcPr /></a:tc><a:tc><a:txBody><a:bodyPr /><a:lstStyle /><a:p><a:pPr lvl="0" indent="0" marL="0"><a:buNone /></a:pPr><a:r><a:rPr /><a:t>Forces</a:t></a:r></a:p></a:txBody><a:tcPr /></a:tc><a:tc><a:txBody><a:bodyPr /><a:lstStyle /><a:p><a:pPr lvl="0" indent="0" marL="0"><a:buNone /></a:pPr><a:r><a:rPr /><a:t>Coût relatif</a:t></a:r></a:p></a:txBody><a:tcPr /></a:tc></a:tr><a:tr h="0"><a:tc><a:txBody><a:bodyPr /><a:lstStyle /><a:p><a:pPr lvl="0" indent="0" marL="0"><a:buNone /></a:pPr><a:r><a:rPr b="1" /><a:t>Haiku</a:t></a:r></a:p></a:txBody></a:tc><a:tc><a:txBody><a:bodyPr /><a:lstStyle /><a:p><a:pPr lvl="0" indent="0" marL="0"><a:buNone /></a:pPr><a:r><a:rPr /><a:t>Rapide, tâches simples</a:t></a:r></a:p></a:txBody></a:tc><a:tc><a:txBody><a:bodyPr /><a:lstStyle /><a:p><a:pPr lvl="0" indent="0" marL="0"><a:buNone /></a:pPr><a:r><a:rPr /><a:t>$</a:t></a:r></a:p></a:txBody></a:tc></a:tr><a:tr h="0"><a:tc><a:txBody><a:bodyPr /><a:lstStyle /><a:p><a:pPr lvl="0" indent="0" marL="0"><a:buNone /></a:pPr><a:r><a:rPr b="1" /><a:t>Sonnet</a:t></a:r></a:p></a:txBody></a:tc><a:tc><a:txBody><a:bodyPr /><a:lstStyle /><a:p><a:pPr lvl="0" indent="0" marL="0"><a:buNone /></a:pPr><a:r><a:rPr /><a:t>Équilibré, usage quotidien</a:t></a:r></a:p></a:txBody></a:tc><a:tc><a:txBody><a:bodyPr /><a:lstStyle /><a:p><a:pPr lvl="0" indent="0" marL="0"><a:buNone /></a:pPr><a14:m><m:oMathPara xmlns:m="http://schemas.openxmlformats.org/officeDocument/2006/math"><m:oMathParaPr><m:jc m:val="center" /></m:oMathParaPr><m:oMath><m:r><m:rPr><m:sty m:val="p" /></m:rPr><m:t>|</m:t></m:r><m:r><m:rPr><m:sty m:val="p" /></m:rPr><m:t>|</m:t></m:r><m:r><m:rPr><m:sty m:val="p" /></m:rPr><m:t>*</m:t></m:r><m:r><m:rPr><m:sty m:val="p" /></m:rPr><m:t>*</m:t></m:r><m:r><m:t>O</m:t></m:r><m:r><m:t>p</m:t></m:r><m:r><m:t>u</m:t></m:r><m:r><m:t>s</m:t></m:r><m:r><m:rPr><m:sty m:val="p" /></m:rPr><m:t>*</m:t></m:r><m:r><m:rPr><m:sty m:val="p" /></m:rPr><m:t>*</m:t></m:r><m:r><m:rPr><m:sty m:val="p" /></m:rPr><m:t>|</m:t></m:r><m:r><m:t>R</m:t></m:r><m:r><m:t>a</m:t></m:r><m:r><m:t>i</m:t></m:r><m:r><m:t>s</m:t></m:r><m:r><m:t>o</m:t></m:r><m:r><m:t>n</m:t></m:r><m:r><m:t>n</m:t></m:r><m:r><m:t>e</m:t></m:r><m:r><m:t>m</m:t></m:r><m:r><m:t>e</m:t></m:r><m:r><m:t>n</m:t></m:r><m:r><m:t>t</m:t></m:r><m:r><m:t>c</m:t></m:r><m:r><m:t>o</m:t></m:r><m:r><m:t>m</m:t></m:r><m:r><m:t>p</m:t></m:r><m:r><m:t>l</m:t></m:r><m:r><m:t>e</m:t></m:r><m:r><m:t>x</m:t></m:r><m:r><m:t>e</m:t></m:r><m:r><m:rPr><m:sty m:val="p" /></m:rPr><m:t>|</m:t></m:r></m:oMath></m:oMathPara></a14:m></a:p><a:p><a:pPr lvl="0" indent="0" marL="0"><a:buNone /></a:pPr><a:r><a:rPr /><a:t>$$</a:t></a:r></a:p></a:txBody></a:tc></a:tr></a:tbl></a:graphicData></a:graphic></p:graphicFrame></p:spTree></p:cSld></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3.2 Flags de mode</a:t>
            </a:r>
          </a:p>
          <a:p>
            <a:pPr lvl="0" indent="0" marL="0">
              <a:buNone/>
            </a:pPr>
            <a:r>
              <a:rPr b="1">
                <a:latin typeface="Courier"/>
              </a:rPr>
              <a:t>--print</a:t>
            </a:r>
            <a:r>
              <a:rPr b="1"/>
              <a:t> / </a:t>
            </a:r>
            <a:r>
              <a:rPr b="1">
                <a:latin typeface="Courier"/>
              </a:rPr>
              <a:t>-p</a:t>
            </a:r>
            <a:r>
              <a:rPr b="1"/>
              <a:t> : Mode non-interactif (headless)</a:t>
            </a:r>
          </a:p>
          <a:p>
            <a:pPr lvl="0" indent="0">
              <a:buNone/>
            </a:pPr>
            <a:r>
              <a:rPr>
                <a:solidFill>
                  <a:srgbClr val="7F9F7F"/>
                </a:solidFill>
                <a:latin typeface="Courier"/>
              </a:rPr>
              <a:t># Exécuter et quitter immédiatement</a:t>
            </a:r>
            <a:br/>
            <a:r>
              <a:rPr>
                <a:solidFill>
                  <a:srgbClr val="CCCCCC"/>
                </a:solidFill>
                <a:latin typeface="Courier"/>
              </a:rPr>
              <a:t>claude -p </a:t>
            </a:r>
            <a:r>
              <a:rPr>
                <a:solidFill>
                  <a:srgbClr val="CC9393"/>
                </a:solidFill>
                <a:latin typeface="Courier"/>
              </a:rPr>
              <a:t>"Liste tous les TODO dans ce projet"</a:t>
            </a:r>
            <a:br/>
            <a:br/>
            <a:r>
              <a:rPr>
                <a:solidFill>
                  <a:srgbClr val="7F9F7F"/>
                </a:solidFill>
                <a:latin typeface="Courier"/>
              </a:rPr>
              <a:t># Parfait pour les scripts</a:t>
            </a:r>
            <a:br/>
            <a:r>
              <a:rPr>
                <a:solidFill>
                  <a:srgbClr val="CCCCCC"/>
                </a:solidFill>
                <a:latin typeface="Courier"/>
              </a:rPr>
              <a:t>result</a:t>
            </a:r>
            <a:r>
              <a:rPr>
                <a:solidFill>
                  <a:srgbClr val="F0EFD0"/>
                </a:solidFill>
                <a:latin typeface="Courier"/>
              </a:rPr>
              <a:t>=</a:t>
            </a:r>
            <a:r>
              <a:rPr>
                <a:solidFill>
                  <a:srgbClr val="CCCCCC"/>
                </a:solidFill>
                <a:latin typeface="Courier"/>
              </a:rPr>
              <a:t>$(claude -p </a:t>
            </a:r>
            <a:r>
              <a:rPr>
                <a:solidFill>
                  <a:srgbClr val="CC9393"/>
                </a:solidFill>
                <a:latin typeface="Courier"/>
              </a:rPr>
              <a:t>"Génère un résumé de CHANGELOG.md"</a:t>
            </a:r>
            <a:r>
              <a:rPr>
                <a:solidFill>
                  <a:srgbClr val="CCCCCC"/>
                </a:solidFill>
                <a:latin typeface="Courier"/>
              </a:rPr>
              <a:t>)</a:t>
            </a:r>
            <a:br/>
            <a:r>
              <a:rPr>
                <a:solidFill>
                  <a:srgbClr val="CCCCCC"/>
                </a:solidFill>
                <a:latin typeface="Courier"/>
              </a:rPr>
              <a:t>echo </a:t>
            </a:r>
            <a:r>
              <a:rPr>
                <a:solidFill>
                  <a:srgbClr val="CC9393"/>
                </a:solidFill>
                <a:latin typeface="Courier"/>
              </a:rPr>
              <a:t>"</a:t>
            </a:r>
            <a:r>
              <a:rPr>
                <a:solidFill>
                  <a:srgbClr val="CCCCCC"/>
                </a:solidFill>
                <a:latin typeface="Courier"/>
              </a:rPr>
              <a:t>$result</a:t>
            </a:r>
            <a:r>
              <a:rPr>
                <a:solidFill>
                  <a:srgbClr val="CC9393"/>
                </a:solidFill>
                <a:latin typeface="Courier"/>
              </a:rPr>
              <a:t>"</a:t>
            </a:r>
          </a:p>
          <a:p>
            <a:pPr lvl="0" indent="0" marL="0">
              <a:buNone/>
            </a:pPr>
            <a:r>
              <a:rPr b="1">
                <a:latin typeface="Courier"/>
              </a:rPr>
              <a:t>--permission-mode</a:t>
            </a:r>
            <a:r>
              <a:rPr b="1"/>
              <a:t> : Niveau de permissions</a:t>
            </a:r>
          </a:p>
          <a:p>
            <a:pPr lvl="0" indent="0">
              <a:buNone/>
            </a:pPr>
            <a:r>
              <a:rPr>
                <a:solidFill>
                  <a:srgbClr val="7F9F7F"/>
                </a:solidFill>
                <a:latin typeface="Courier"/>
              </a:rPr>
              <a:t># Mode plan : affiche ce qu'il ferait sans exécuter</a:t>
            </a:r>
            <a:br/>
            <a:r>
              <a:rPr>
                <a:solidFill>
                  <a:srgbClr val="CCCCCC"/>
                </a:solidFill>
                <a:latin typeface="Courier"/>
              </a:rPr>
              <a:t>claude --permission-mode plan</a:t>
            </a:r>
            <a:br/>
            <a:br/>
            <a:r>
              <a:rPr>
                <a:solidFill>
                  <a:srgbClr val="7F9F7F"/>
                </a:solidFill>
                <a:latin typeface="Courier"/>
              </a:rPr>
              <a:t># Mode acceptEdits : auto-accepte les modifications de fichiers</a:t>
            </a:r>
            <a:br/>
            <a:r>
              <a:rPr>
                <a:solidFill>
                  <a:srgbClr val="CCCCCC"/>
                </a:solidFill>
                <a:latin typeface="Courier"/>
              </a:rPr>
              <a:t>claude --permission-mode acceptEdits</a:t>
            </a:r>
            <a:br/>
            <a:br/>
            <a:r>
              <a:rPr>
                <a:solidFill>
                  <a:srgbClr val="7F9F7F"/>
                </a:solidFill>
                <a:latin typeface="Courier"/>
              </a:rPr>
              <a:t># Mode default : demande confirmation pour tout</a:t>
            </a:r>
            <a:br/>
            <a:r>
              <a:rPr>
                <a:solidFill>
                  <a:srgbClr val="CCCCCC"/>
                </a:solidFill>
                <a:latin typeface="Courier"/>
              </a:rPr>
              <a:t>claude --permission-mode default</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270000"/>
                <a:gridCol w="1270000"/>
                <a:gridCol w="1270000"/>
                <a:gridCol w="1270000"/>
              </a:tblGrid>
              <a:tr h="0">
                <a:tc>
                  <a:txBody>
                    <a:bodyPr/>
                    <a:lstStyle/>
                    <a:p>
                      <a:pPr lvl="0" indent="0" marL="0">
                        <a:buNone/>
                      </a:pPr>
                      <a:r>
                        <a:rPr/>
                        <a:t>Mode</a:t>
                      </a:r>
                    </a:p>
                  </a:txBody>
                  <a:tcPr/>
                </a:tc>
                <a:tc>
                  <a:txBody>
                    <a:bodyPr/>
                    <a:lstStyle/>
                    <a:p>
                      <a:pPr lvl="0" indent="0" marL="0">
                        <a:buNone/>
                      </a:pPr>
                      <a:r>
                        <a:rPr/>
                        <a:t>Fichiers</a:t>
                      </a:r>
                    </a:p>
                  </a:txBody>
                  <a:tcPr/>
                </a:tc>
                <a:tc>
                  <a:txBody>
                    <a:bodyPr/>
                    <a:lstStyle/>
                    <a:p>
                      <a:pPr lvl="0" indent="0" marL="0">
                        <a:buNone/>
                      </a:pPr>
                      <a:r>
                        <a:rPr/>
                        <a:t>Commandes</a:t>
                      </a:r>
                    </a:p>
                  </a:txBody>
                  <a:tcPr/>
                </a:tc>
                <a:tc>
                  <a:txBody>
                    <a:bodyPr/>
                    <a:lstStyle/>
                    <a:p>
                      <a:pPr lvl="0" indent="0" marL="0">
                        <a:buNone/>
                      </a:pPr>
                      <a:r>
                        <a:rPr/>
                        <a:t>Usage</a:t>
                      </a:r>
                    </a:p>
                  </a:txBody>
                  <a:tcPr/>
                </a:tc>
              </a:tr>
              <a:tr h="0">
                <a:tc>
                  <a:txBody>
                    <a:bodyPr/>
                    <a:lstStyle/>
                    <a:p>
                      <a:pPr lvl="0" indent="0" marL="0">
                        <a:buNone/>
                      </a:pPr>
                      <a:r>
                        <a:rPr>
                          <a:latin typeface="Courier"/>
                        </a:rPr>
                        <a:t>default</a:t>
                      </a:r>
                    </a:p>
                  </a:txBody>
                </a:tc>
                <a:tc>
                  <a:txBody>
                    <a:bodyPr/>
                    <a:lstStyle/>
                    <a:p>
                      <a:pPr lvl="0" indent="0" marL="0">
                        <a:buNone/>
                      </a:pPr>
                      <a:r>
                        <a:rPr/>
                        <a:t>Demande</a:t>
                      </a:r>
                    </a:p>
                  </a:txBody>
                </a:tc>
                <a:tc>
                  <a:txBody>
                    <a:bodyPr/>
                    <a:lstStyle/>
                    <a:p>
                      <a:pPr lvl="0" indent="0" marL="0">
                        <a:buNone/>
                      </a:pPr>
                      <a:r>
                        <a:rPr/>
                        <a:t>Demande</a:t>
                      </a:r>
                    </a:p>
                  </a:txBody>
                </a:tc>
                <a:tc>
                  <a:txBody>
                    <a:bodyPr/>
                    <a:lstStyle/>
                    <a:p>
                      <a:pPr lvl="0" indent="0" marL="0">
                        <a:buNone/>
                      </a:pPr>
                      <a:r>
                        <a:rPr/>
                        <a:t>Normal</a:t>
                      </a:r>
                    </a:p>
                  </a:txBody>
                </a:tc>
              </a:tr>
              <a:tr h="0">
                <a:tc>
                  <a:txBody>
                    <a:bodyPr/>
                    <a:lstStyle/>
                    <a:p>
                      <a:pPr lvl="0" indent="0" marL="0">
                        <a:buNone/>
                      </a:pPr>
                      <a:r>
                        <a:rPr>
                          <a:latin typeface="Courier"/>
                        </a:rPr>
                        <a:t>plan</a:t>
                      </a:r>
                    </a:p>
                  </a:txBody>
                </a:tc>
                <a:tc>
                  <a:txBody>
                    <a:bodyPr/>
                    <a:lstStyle/>
                    <a:p>
                      <a:pPr lvl="0" indent="0" marL="0">
                        <a:buNone/>
                      </a:pPr>
                      <a:r>
                        <a:rPr/>
                        <a:t>Bloqué</a:t>
                      </a:r>
                    </a:p>
                  </a:txBody>
                </a:tc>
                <a:tc>
                  <a:txBody>
                    <a:bodyPr/>
                    <a:lstStyle/>
                    <a:p>
                      <a:pPr lvl="0" indent="0" marL="0">
                        <a:buNone/>
                      </a:pPr>
                      <a:r>
                        <a:rPr/>
                        <a:t>Bloqué</a:t>
                      </a:r>
                    </a:p>
                  </a:txBody>
                </a:tc>
                <a:tc>
                  <a:txBody>
                    <a:bodyPr/>
                    <a:lstStyle/>
                    <a:p>
                      <a:pPr lvl="0" indent="0" marL="0">
                        <a:buNone/>
                      </a:pPr>
                      <a:r>
                        <a:rPr/>
                        <a:t>Planification</a:t>
                      </a:r>
                    </a:p>
                  </a:txBody>
                </a:tc>
              </a:tr>
              <a:tr h="0">
                <a:tc>
                  <a:txBody>
                    <a:bodyPr/>
                    <a:lstStyle/>
                    <a:p>
                      <a:pPr lvl="0" indent="0" marL="0">
                        <a:buNone/>
                      </a:pPr>
                      <a:r>
                        <a:rPr>
                          <a:latin typeface="Courier"/>
                        </a:rPr>
                        <a:t>acceptEdits</a:t>
                      </a:r>
                    </a:p>
                  </a:txBody>
                </a:tc>
                <a:tc>
                  <a:txBody>
                    <a:bodyPr/>
                    <a:lstStyle/>
                    <a:p>
                      <a:pPr lvl="0" indent="0" marL="0">
                        <a:buNone/>
                      </a:pPr>
                      <a:r>
                        <a:rPr/>
                        <a:t>Auto</a:t>
                      </a:r>
                    </a:p>
                  </a:txBody>
                </a:tc>
                <a:tc>
                  <a:txBody>
                    <a:bodyPr/>
                    <a:lstStyle/>
                    <a:p>
                      <a:pPr lvl="0" indent="0" marL="0">
                        <a:buNone/>
                      </a:pPr>
                      <a:r>
                        <a:rPr/>
                        <a:t>Demande</a:t>
                      </a:r>
                    </a:p>
                  </a:txBody>
                </a:tc>
                <a:tc>
                  <a:txBody>
                    <a:bodyPr/>
                    <a:lstStyle/>
                    <a:p>
                      <a:pPr lvl="0" indent="0" marL="0">
                        <a:buNone/>
                      </a:pPr>
                      <a:r>
                        <a:rPr/>
                        <a:t>Confiance modérée</a:t>
                      </a:r>
                    </a:p>
                  </a:txBody>
                </a:tc>
              </a:tr>
              <a:tr h="0">
                <a:tc>
                  <a:txBody>
                    <a:bodyPr/>
                    <a:lstStyle/>
                    <a:p>
                      <a:pPr lvl="0" indent="0" marL="0">
                        <a:buNone/>
                      </a:pPr>
                      <a:r>
                        <a:rPr>
                          <a:latin typeface="Courier"/>
                        </a:rPr>
                        <a:t>bypass</a:t>
                      </a:r>
                    </a:p>
                  </a:txBody>
                </a:tc>
                <a:tc>
                  <a:txBody>
                    <a:bodyPr/>
                    <a:lstStyle/>
                    <a:p>
                      <a:pPr lvl="0" indent="0" marL="0">
                        <a:buNone/>
                      </a:pPr>
                      <a:r>
                        <a:rPr/>
                        <a:t>Auto</a:t>
                      </a:r>
                    </a:p>
                  </a:txBody>
                </a:tc>
                <a:tc>
                  <a:txBody>
                    <a:bodyPr/>
                    <a:lstStyle/>
                    <a:p>
                      <a:pPr lvl="0" indent="0" marL="0">
                        <a:buNone/>
                      </a:pPr>
                      <a:r>
                        <a:rPr/>
                        <a:t>Auto</a:t>
                      </a:r>
                    </a:p>
                  </a:txBody>
                </a:tc>
                <a:tc>
                  <a:txBody>
                    <a:bodyPr/>
                    <a:lstStyle/>
                    <a:p>
                      <a:pPr lvl="0" indent="0" marL="0">
                        <a:buNone/>
                      </a:pPr>
                      <a:r>
                        <a:rPr/>
                        <a:t>Scripts (risqué)</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latin typeface="Courier"/>
              </a:rPr>
              <a:t>--output-format</a:t>
            </a:r>
            <a:r>
              <a:rPr b="1"/>
              <a:t> : Format de sortie</a:t>
            </a:r>
          </a:p>
          <a:p>
            <a:pPr lvl="0" indent="0">
              <a:buNone/>
            </a:pPr>
            <a:r>
              <a:rPr>
                <a:solidFill>
                  <a:srgbClr val="7F9F7F"/>
                </a:solidFill>
                <a:latin typeface="Courier"/>
              </a:rPr>
              <a:t># Texte brut (défaut)</a:t>
            </a:r>
            <a:br/>
            <a:r>
              <a:rPr>
                <a:solidFill>
                  <a:srgbClr val="CCCCCC"/>
                </a:solidFill>
                <a:latin typeface="Courier"/>
              </a:rPr>
              <a:t>claude -p </a:t>
            </a:r>
            <a:r>
              <a:rPr>
                <a:solidFill>
                  <a:srgbClr val="CC9393"/>
                </a:solidFill>
                <a:latin typeface="Courier"/>
              </a:rPr>
              <a:t>"question"</a:t>
            </a:r>
            <a:r>
              <a:rPr>
                <a:solidFill>
                  <a:srgbClr val="CCCCCC"/>
                </a:solidFill>
                <a:latin typeface="Courier"/>
              </a:rPr>
              <a:t> --output-format text</a:t>
            </a:r>
            <a:br/>
            <a:br/>
            <a:r>
              <a:rPr>
                <a:solidFill>
                  <a:srgbClr val="7F9F7F"/>
                </a:solidFill>
                <a:latin typeface="Courier"/>
              </a:rPr>
              <a:t># JSON structuré</a:t>
            </a:r>
            <a:br/>
            <a:r>
              <a:rPr>
                <a:solidFill>
                  <a:srgbClr val="CCCCCC"/>
                </a:solidFill>
                <a:latin typeface="Courier"/>
              </a:rPr>
              <a:t>claude -p </a:t>
            </a:r>
            <a:r>
              <a:rPr>
                <a:solidFill>
                  <a:srgbClr val="CC9393"/>
                </a:solidFill>
                <a:latin typeface="Courier"/>
              </a:rPr>
              <a:t>"question"</a:t>
            </a:r>
            <a:r>
              <a:rPr>
                <a:solidFill>
                  <a:srgbClr val="CCCCCC"/>
                </a:solidFill>
                <a:latin typeface="Courier"/>
              </a:rPr>
              <a:t> --output-format json</a:t>
            </a:r>
            <a:br/>
            <a:br/>
            <a:r>
              <a:rPr>
                <a:solidFill>
                  <a:srgbClr val="7F9F7F"/>
                </a:solidFill>
                <a:latin typeface="Courier"/>
              </a:rPr>
              <a:t># JSON en streaming</a:t>
            </a:r>
            <a:br/>
            <a:r>
              <a:rPr>
                <a:solidFill>
                  <a:srgbClr val="CCCCCC"/>
                </a:solidFill>
                <a:latin typeface="Courier"/>
              </a:rPr>
              <a:t>claude -p </a:t>
            </a:r>
            <a:r>
              <a:rPr>
                <a:solidFill>
                  <a:srgbClr val="CC9393"/>
                </a:solidFill>
                <a:latin typeface="Courier"/>
              </a:rPr>
              <a:t>"question"</a:t>
            </a:r>
            <a:r>
              <a:rPr>
                <a:solidFill>
                  <a:srgbClr val="CCCCCC"/>
                </a:solidFill>
                <a:latin typeface="Courier"/>
              </a:rPr>
              <a:t> --output-format stream-json</a:t>
            </a:r>
          </a:p>
          <a:p>
            <a:pPr lvl="0" indent="0" marL="0">
              <a:spcBef>
                <a:spcPts val="3000"/>
              </a:spcBef>
              <a:buNone/>
            </a:pPr>
            <a:r>
              <a:rPr b="1"/>
              <a:t>3.3 Flags de configuration</a:t>
            </a:r>
          </a:p>
          <a:p>
            <a:pPr lvl="0" indent="0" marL="0">
              <a:buNone/>
            </a:pPr>
            <a:r>
              <a:rPr b="1">
                <a:latin typeface="Courier"/>
              </a:rPr>
              <a:t>--add-dir</a:t>
            </a:r>
            <a:r>
              <a:rPr b="1"/>
              <a:t> : Ajouter des répertoires de travail</a:t>
            </a:r>
          </a:p>
          <a:p>
            <a:pPr lvl="0" indent="0">
              <a:buNone/>
            </a:pPr>
            <a:r>
              <a:rPr>
                <a:solidFill>
                  <a:srgbClr val="7F9F7F"/>
                </a:solidFill>
                <a:latin typeface="Courier"/>
              </a:rPr>
              <a:t># Travailler sur plusieurs dossiers</a:t>
            </a:r>
            <a:br/>
            <a:r>
              <a:rPr>
                <a:solidFill>
                  <a:srgbClr val="CCCCCC"/>
                </a:solidFill>
                <a:latin typeface="Courier"/>
              </a:rPr>
              <a:t>claude --add-dir ../shared-lib --add-dir ../common-types</a:t>
            </a:r>
            <a:br/>
            <a:br/>
            <a:r>
              <a:rPr>
                <a:solidFill>
                  <a:srgbClr val="7F9F7F"/>
                </a:solidFill>
                <a:latin typeface="Courier"/>
              </a:rPr>
              <a:t># Cas d'usage : monorepos, dépendances locales</a:t>
            </a:r>
          </a:p>
          <a:p>
            <a:pPr lvl="0" indent="0" marL="0">
              <a:buNone/>
            </a:pPr>
            <a:r>
              <a:rPr b="1">
                <a:latin typeface="Courier"/>
              </a:rPr>
              <a:t>--mcp-config</a:t>
            </a:r>
            <a:r>
              <a:rPr b="1"/>
              <a:t> : Charger des serveurs MCP</a:t>
            </a:r>
          </a:p>
          <a:p>
            <a:pPr lvl="0" indent="0">
              <a:buNone/>
            </a:pPr>
            <a:r>
              <a:rPr>
                <a:solidFill>
                  <a:srgbClr val="7F9F7F"/>
                </a:solidFill>
                <a:latin typeface="Courier"/>
              </a:rPr>
              <a:t># Charger une config MCP spécifique</a:t>
            </a:r>
            <a:br/>
            <a:r>
              <a:rPr>
                <a:solidFill>
                  <a:srgbClr val="CCCCCC"/>
                </a:solidFill>
                <a:latin typeface="Courier"/>
              </a:rPr>
              <a:t>claude --mcp-config ./my-mcp-servers.json</a:t>
            </a:r>
          </a:p>
          <a:p>
            <a:pPr lvl="0" indent="0" marL="0">
              <a:buNone/>
            </a:pPr>
            <a:r>
              <a:rPr b="1">
                <a:latin typeface="Courier"/>
              </a:rPr>
              <a:t>--settings</a:t>
            </a:r>
            <a:r>
              <a:rPr b="1"/>
              <a:t> : Charger des paramètres supplémentaires</a:t>
            </a:r>
          </a:p>
          <a:p>
            <a:pPr lvl="0" indent="0">
              <a:buNone/>
            </a:pPr>
            <a:r>
              <a:rPr>
                <a:solidFill>
                  <a:srgbClr val="7F9F7F"/>
                </a:solidFill>
                <a:latin typeface="Courier"/>
              </a:rPr>
              <a:t># Charger des settings personnalisés</a:t>
            </a:r>
            <a:br/>
            <a:r>
              <a:rPr>
                <a:solidFill>
                  <a:srgbClr val="CCCCCC"/>
                </a:solidFill>
                <a:latin typeface="Courier"/>
              </a:rPr>
              <a:t>claude --settings ./project-settings.json</a:t>
            </a:r>
          </a:p>
          <a:p>
            <a:pPr lvl="0" indent="0" marL="0">
              <a:spcBef>
                <a:spcPts val="3000"/>
              </a:spcBef>
              <a:buNone/>
            </a:pPr>
            <a:r>
              <a:rPr b="1"/>
              <a:t>3.4 Flags avancés (aperçu)</a:t>
            </a:r>
          </a:p>
          <a:p>
            <a:pPr lvl="0" indent="0" marL="0">
              <a:buNone/>
            </a:pPr>
            <a:r>
              <a:rPr b="1">
                <a:latin typeface="Courier"/>
              </a:rPr>
              <a:t>--max-turns</a:t>
            </a:r>
            <a:r>
              <a:rPr b="1"/>
              <a:t> : Limiter les tours agentiques</a:t>
            </a:r>
          </a:p>
          <a:p>
            <a:pPr lvl="0" indent="0">
              <a:buNone/>
            </a:pPr>
            <a:r>
              <a:rPr>
                <a:solidFill>
                  <a:srgbClr val="7F9F7F"/>
                </a:solidFill>
                <a:latin typeface="Courier"/>
              </a:rPr>
              <a:t># Maximum 5 tours d'interaction</a:t>
            </a:r>
            <a:br/>
            <a:r>
              <a:rPr>
                <a:solidFill>
                  <a:srgbClr val="CCCCCC"/>
                </a:solidFill>
                <a:latin typeface="Courier"/>
              </a:rPr>
              <a:t>claude -p </a:t>
            </a:r>
            <a:r>
              <a:rPr>
                <a:solidFill>
                  <a:srgbClr val="CC9393"/>
                </a:solidFill>
                <a:latin typeface="Courier"/>
              </a:rPr>
              <a:t>"Corrige ce bug"</a:t>
            </a:r>
            <a:r>
              <a:rPr>
                <a:solidFill>
                  <a:srgbClr val="CCCCCC"/>
                </a:solidFill>
                <a:latin typeface="Courier"/>
              </a:rPr>
              <a:t> --max-turns 5</a:t>
            </a:r>
            <a:br/>
            <a:br/>
            <a:r>
              <a:rPr>
                <a:solidFill>
                  <a:srgbClr val="7F9F7F"/>
                </a:solidFill>
                <a:latin typeface="Courier"/>
              </a:rPr>
              <a:t># Utile pour éviter les boucles infinies</a:t>
            </a:r>
          </a:p>
          <a:p>
            <a:pPr lvl="0" indent="0" marL="0">
              <a:buNone/>
            </a:pPr>
            <a:r>
              <a:rPr b="1">
                <a:latin typeface="Courier"/>
              </a:rPr>
              <a:t>--max-budget-usd</a:t>
            </a:r>
            <a:r>
              <a:rPr b="1"/>
              <a:t> : Budget maximum</a:t>
            </a:r>
          </a:p>
          <a:p>
            <a:pPr lvl="0" indent="0">
              <a:buNone/>
            </a:pPr>
            <a:r>
              <a:rPr>
                <a:solidFill>
                  <a:srgbClr val="7F9F7F"/>
                </a:solidFill>
                <a:latin typeface="Courier"/>
              </a:rPr>
              <a:t># Ne pas dépasser 1$ pour cette session</a:t>
            </a:r>
            <a:br/>
            <a:r>
              <a:rPr>
                <a:solidFill>
                  <a:srgbClr val="CCCCCC"/>
                </a:solidFill>
                <a:latin typeface="Courier"/>
              </a:rPr>
              <a:t>claude --max-budget-usd 1.0</a:t>
            </a:r>
            <a:br/>
            <a:br/>
            <a:r>
              <a:rPr>
                <a:solidFill>
                  <a:srgbClr val="7F9F7F"/>
                </a:solidFill>
                <a:latin typeface="Courier"/>
              </a:rPr>
              <a:t># Utile pour les environnements de CI/CD</a:t>
            </a:r>
          </a:p>
          <a:p>
            <a:pPr lvl="0" indent="0" marL="0">
              <a:buNone/>
            </a:pPr>
            <a:r>
              <a:rPr b="1">
                <a:latin typeface="Courier"/>
              </a:rPr>
              <a:t>--system-prompt</a:t>
            </a:r>
            <a:r>
              <a:rPr b="1"/>
              <a:t> : Remplacer le prompt système</a:t>
            </a:r>
          </a:p>
          <a:p>
            <a:pPr lvl="0" indent="0">
              <a:buNone/>
            </a:pPr>
            <a:r>
              <a:rPr>
                <a:solidFill>
                  <a:srgbClr val="7F9F7F"/>
                </a:solidFill>
                <a:latin typeface="Courier"/>
              </a:rPr>
              <a:t># Comportement personnalisé</a:t>
            </a:r>
            <a:br/>
            <a:r>
              <a:rPr>
                <a:solidFill>
                  <a:srgbClr val="CCCCCC"/>
                </a:solidFill>
                <a:latin typeface="Courier"/>
              </a:rPr>
              <a:t>claude --system-prompt </a:t>
            </a:r>
            <a:r>
              <a:rPr>
                <a:solidFill>
                  <a:srgbClr val="CC9393"/>
                </a:solidFill>
                <a:latin typeface="Courier"/>
              </a:rPr>
              <a:t>"Tu es un expert en sécurité. Analyse uniquement les aspects sécurité du code."</a:t>
            </a:r>
          </a:p>
          <a:p>
            <a:pPr lvl="0" indent="0" marL="0">
              <a:buNone/>
            </a:pPr>
            <a:r>
              <a:rPr b="1"/>
              <a:t>Exercice pratique :</a:t>
            </a:r>
          </a:p>
          <a:p>
            <a:pPr lvl="0" indent="-342900" marL="342900">
              <a:buAutoNum type="arabicPeriod"/>
            </a:pPr>
            <a:r>
              <a:rPr/>
              <a:t>Lancez Claude Code avec différents modèles et comparez</a:t>
            </a:r>
          </a:p>
          <a:p>
            <a:pPr lvl="0" indent="-342900" marL="342900">
              <a:buAutoNum type="arabicPeriod"/>
            </a:pPr>
            <a:r>
              <a:rPr/>
              <a:t>Utilisez le mode </a:t>
            </a:r>
            <a:r>
              <a:rPr>
                <a:latin typeface="Courier"/>
              </a:rPr>
              <a:t>-p</a:t>
            </a:r>
            <a:r>
              <a:rPr/>
              <a:t> pour obtenir une information rapide</a:t>
            </a:r>
          </a:p>
          <a:p>
            <a:pPr lvl="0" indent="-342900" marL="342900">
              <a:buAutoNum type="arabicPeriod"/>
            </a:pPr>
            <a:r>
              <a:rPr/>
              <a:t>Essayez le mode </a:t>
            </a:r>
            <a:r>
              <a:rPr>
                <a:latin typeface="Courier"/>
              </a:rPr>
              <a:t>plan</a:t>
            </a:r>
            <a:r>
              <a:rPr/>
              <a:t> pour voir ce que Claude ferait</a:t>
            </a:r>
          </a:p>
          <a:p>
            <a:pPr lvl="0" indent="-342900" marL="342900">
              <a:buAutoNum type="arabicPeriod"/>
            </a:pPr>
            <a:r>
              <a:rPr/>
              <a:t>Créez un alias bash avec vos flags préférés</a:t>
            </a:r>
          </a:p>
          <a:p>
            <a:pPr lvl="0" indent="0">
              <a:buNone/>
            </a:pPr>
            <a:r>
              <a:rPr>
                <a:solidFill>
                  <a:srgbClr val="7F9F7F"/>
                </a:solidFill>
                <a:latin typeface="Courier"/>
              </a:rPr>
              <a:t># Exemple d'alias</a:t>
            </a:r>
            <a:br/>
            <a:r>
              <a:rPr>
                <a:solidFill>
                  <a:srgbClr val="CCCCCC"/>
                </a:solidFill>
                <a:latin typeface="Courier"/>
              </a:rPr>
              <a:t>alias cc=</a:t>
            </a:r>
            <a:r>
              <a:rPr>
                <a:solidFill>
                  <a:srgbClr val="CC9393"/>
                </a:solidFill>
                <a:latin typeface="Courier"/>
              </a:rPr>
              <a:t>'claude --model sonnet'</a:t>
            </a:r>
            <a:br/>
            <a:r>
              <a:rPr>
                <a:solidFill>
                  <a:srgbClr val="CCCCCC"/>
                </a:solidFill>
                <a:latin typeface="Courier"/>
              </a:rPr>
              <a:t>alias cco=</a:t>
            </a:r>
            <a:r>
              <a:rPr>
                <a:solidFill>
                  <a:srgbClr val="CC9393"/>
                </a:solidFill>
                <a:latin typeface="Courier"/>
              </a:rPr>
              <a:t>'claude --model opus'</a:t>
            </a:r>
            <a:br/>
            <a:r>
              <a:rPr>
                <a:solidFill>
                  <a:srgbClr val="CCCCCC"/>
                </a:solidFill>
                <a:latin typeface="Courier"/>
              </a:rPr>
              <a:t>alias ccp=</a:t>
            </a:r>
            <a:r>
              <a:rPr>
                <a:solidFill>
                  <a:srgbClr val="CC9393"/>
                </a:solidFill>
                <a:latin typeface="Courier"/>
              </a:rPr>
              <a:t>'claude -p'</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Module 4 : Tools - Les outils natifs (45 min)</a:t>
            </a:r>
          </a:p>
          <a:p>
            <a:pPr lvl="0" indent="0" marL="0">
              <a:buNone/>
            </a:pPr>
            <a:r>
              <a:rPr b="1"/>
              <a:t>Objectif pédagogique</a:t>
            </a:r>
            <a:r>
              <a:rPr/>
              <a:t> : À l’issue de ce module, l’apprenant sera capable d’identifier les outils natifs de Claude Code (Read, Write, Edit, Bash, Glob, Grep, WebSearch), de comprendre quand et comment Claude les utilise, et de gérer les demandes de permissions.</a:t>
            </a:r>
          </a:p>
          <a:p>
            <a:pPr lvl="0" indent="0" marL="0">
              <a:spcBef>
                <a:spcPts val="3000"/>
              </a:spcBef>
              <a:buNone/>
            </a:pPr>
            <a:r>
              <a:rPr b="1"/>
              <a:t>4.1 Comprendre les Tools</a:t>
            </a:r>
          </a:p>
          <a:p>
            <a:pPr lvl="0" indent="0" marL="0">
              <a:buNone/>
            </a:pPr>
            <a:r>
              <a:rPr/>
              <a:t>Les Tools sont les </a:t>
            </a:r>
            <a:r>
              <a:rPr b="1"/>
              <a:t>capacités d’action</a:t>
            </a:r>
            <a:r>
              <a:rPr/>
              <a:t> de Claude Code. Quand vous demandez quelque chose, Claude choisit automatiquement les outils appropriés.</a:t>
            </a:r>
          </a:p>
          <a:p>
            <a:pPr lvl="0" indent="0" marL="0">
              <a:buNone/>
            </a:pPr>
            <a:r>
              <a:rPr b="1"/>
              <a:t>Comment Claude choisit les outils :</a:t>
            </a:r>
          </a:p>
          <a:p>
            <a:pPr lvl="0" indent="-342900" marL="342900">
              <a:buAutoNum type="arabicPeriod"/>
            </a:pPr>
            <a:r>
              <a:rPr/>
              <a:t>Analyse votre demande</a:t>
            </a:r>
          </a:p>
          <a:p>
            <a:pPr lvl="0" indent="-342900" marL="342900">
              <a:buAutoNum type="arabicPeriod"/>
            </a:pPr>
            <a:r>
              <a:rPr/>
              <a:t>Identifie les actions nécessaires</a:t>
            </a:r>
          </a:p>
          <a:p>
            <a:pPr lvl="0" indent="-342900" marL="342900">
              <a:buAutoNum type="arabicPeriod"/>
            </a:pPr>
            <a:r>
              <a:rPr/>
              <a:t>Sélectionne les outils appropriés</a:t>
            </a:r>
          </a:p>
          <a:p>
            <a:pPr lvl="0" indent="-342900" marL="342900">
              <a:buAutoNum type="arabicPeriod"/>
            </a:pPr>
            <a:r>
              <a:rPr/>
              <a:t>Exécute dans l’ordre logique</a:t>
            </a:r>
          </a:p>
          <a:p>
            <a:pPr lvl="0" indent="0" marL="0">
              <a:buNone/>
            </a:pPr>
            <a:r>
              <a:rPr b="1"/>
              <a:t>Exemple de sélection automatique :</a:t>
            </a:r>
          </a:p>
          <a:p>
            <a:pPr lvl="0" indent="0">
              <a:buNone/>
            </a:pPr>
            <a:r>
              <a:rPr>
                <a:latin typeface="Courier"/>
              </a:rPr>
              <a:t>Vous : "Ajoute une fonction de validation d'email dans utils.ts"
Claude pense :
1. Je dois d'abord LIRE utils.ts pour comprendre le contexte → Tool: Read
2. Je dois MODIFIER le fichier pour ajouter la fonction → Tool: Edit
3. Je pourrais VÉRIFIER que le code compile → Tool: Bash (npm run build)</a:t>
            </a:r>
          </a:p>
          <a:p>
            <a:pPr lvl="0" indent="0" marL="0">
              <a:spcBef>
                <a:spcPts val="3000"/>
              </a:spcBef>
              <a:buNone/>
            </a:pPr>
            <a:r>
              <a:rPr b="1"/>
              <a:t>4.2 Tools de lecture et recherche</a:t>
            </a:r>
          </a:p>
          <a:p>
            <a:pPr lvl="0" indent="0" marL="0">
              <a:spcBef>
                <a:spcPts val="3000"/>
              </a:spcBef>
              <a:buNone/>
            </a:pPr>
            <a:r>
              <a:rPr b="1"/>
              <a:t>Read : Lire le contenu d’un fichier</a:t>
            </a:r>
          </a:p>
          <a:p>
            <a:pPr lvl="0" indent="0">
              <a:buNone/>
            </a:pPr>
            <a:r>
              <a:rPr>
                <a:latin typeface="Courier"/>
              </a:rPr>
              <a:t>Vous : "Montre-moi le contenu de src/config.ts"
Claude utilise Read pour afficher le fichier.</a:t>
            </a:r>
          </a:p>
          <a:p>
            <a:pPr lvl="0" indent="0" marL="0">
              <a:buNone/>
            </a:pPr>
            <a:r>
              <a:rPr b="1"/>
              <a:t>Caractéristiques :</a:t>
            </a:r>
            <a:r>
              <a:rPr/>
              <a:t> - Lit n’importe quel fichier texte - Peut lire des images (Claude est multimodal) - Peut lire des PDFs - Affiche les numéros de ligne</a:t>
            </a:r>
          </a:p>
          <a:p>
            <a:pPr lvl="0" indent="0" marL="0">
              <a:spcBef>
                <a:spcPts val="3000"/>
              </a:spcBef>
              <a:buNone/>
            </a:pPr>
            <a:r>
              <a:rPr b="1"/>
              <a:t>Glob : Trouver des fichiers par pattern</a:t>
            </a:r>
          </a:p>
          <a:p>
            <a:pPr lvl="0" indent="0">
              <a:buNone/>
            </a:pPr>
            <a:r>
              <a:rPr>
                <a:latin typeface="Courier"/>
              </a:rPr>
              <a:t>Vous : "Trouve tous les fichiers de test"
Claude utilise Glob avec le pattern **/*.test.ts</a:t>
            </a:r>
          </a:p>
          <a:p>
            <a:pPr lvl="0" indent="0" marL="0">
              <a:buNone/>
            </a:pPr>
            <a:r>
              <a:rPr b="1"/>
              <a:t>Patterns courants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Pattern</a:t>
                      </a:r>
                    </a:p>
                  </a:txBody>
                  <a:tcPr/>
                </a:tc>
                <a:tc>
                  <a:txBody>
                    <a:bodyPr/>
                    <a:lstStyle/>
                    <a:p>
                      <a:pPr lvl="0" indent="0" marL="0">
                        <a:buNone/>
                      </a:pPr>
                      <a:r>
                        <a:rPr/>
                        <a:t>Trouve</a:t>
                      </a:r>
                    </a:p>
                  </a:txBody>
                  <a:tcPr/>
                </a:tc>
              </a:tr>
              <a:tr h="0">
                <a:tc>
                  <a:txBody>
                    <a:bodyPr/>
                    <a:lstStyle/>
                    <a:p>
                      <a:pPr lvl="0" indent="0" marL="0">
                        <a:buNone/>
                      </a:pPr>
                      <a:r>
                        <a:rPr>
                          <a:latin typeface="Courier"/>
                        </a:rPr>
                        <a:t>**/*.ts</a:t>
                      </a:r>
                    </a:p>
                  </a:txBody>
                </a:tc>
                <a:tc>
                  <a:txBody>
                    <a:bodyPr/>
                    <a:lstStyle/>
                    <a:p>
                      <a:pPr lvl="0" indent="0" marL="0">
                        <a:buNone/>
                      </a:pPr>
                      <a:r>
                        <a:rPr/>
                        <a:t>Tous les fichiers TypeScript</a:t>
                      </a:r>
                    </a:p>
                  </a:txBody>
                </a:tc>
              </a:tr>
              <a:tr h="0">
                <a:tc>
                  <a:txBody>
                    <a:bodyPr/>
                    <a:lstStyle/>
                    <a:p>
                      <a:pPr lvl="0" indent="0" marL="0">
                        <a:buNone/>
                      </a:pPr>
                      <a:r>
                        <a:rPr>
                          <a:latin typeface="Courier"/>
                        </a:rPr>
                        <a:t>src/**/*.go</a:t>
                      </a:r>
                    </a:p>
                  </a:txBody>
                </a:tc>
                <a:tc>
                  <a:txBody>
                    <a:bodyPr/>
                    <a:lstStyle/>
                    <a:p>
                      <a:pPr lvl="0" indent="0" marL="0">
                        <a:buNone/>
                      </a:pPr>
                      <a:r>
                        <a:rPr/>
                        <a:t>Fichiers Go dans src/</a:t>
                      </a:r>
                    </a:p>
                  </a:txBody>
                </a:tc>
              </a:tr>
              <a:tr h="0">
                <a:tc>
                  <a:txBody>
                    <a:bodyPr/>
                    <a:lstStyle/>
                    <a:p>
                      <a:pPr lvl="0" indent="0" marL="0">
                        <a:buNone/>
                      </a:pPr>
                      <a:r>
                        <a:rPr>
                          <a:latin typeface="Courier"/>
                        </a:rPr>
                        <a:t>**/test_*.py</a:t>
                      </a:r>
                    </a:p>
                  </a:txBody>
                </a:tc>
                <a:tc>
                  <a:txBody>
                    <a:bodyPr/>
                    <a:lstStyle/>
                    <a:p>
                      <a:pPr lvl="0" indent="0" marL="0">
                        <a:buNone/>
                      </a:pPr>
                      <a:r>
                        <a:rPr/>
                        <a:t>Tests Python</a:t>
                      </a:r>
                    </a:p>
                  </a:txBody>
                </a:tc>
              </a:tr>
              <a:tr h="0">
                <a:tc>
                  <a:txBody>
                    <a:bodyPr/>
                    <a:lstStyle/>
                    <a:p>
                      <a:pPr lvl="0" indent="0" marL="0">
                        <a:buNone/>
                      </a:pPr>
                      <a:r>
                        <a:rPr>
                          <a:latin typeface="Courier"/>
                        </a:rPr>
                        <a:t>*.{js,jsx,ts,tsx}</a:t>
                      </a:r>
                    </a:p>
                  </a:txBody>
                </a:tc>
                <a:tc>
                  <a:txBody>
                    <a:bodyPr/>
                    <a:lstStyle/>
                    <a:p>
                      <a:pPr lvl="0" indent="0" marL="0">
                        <a:buNone/>
                      </a:pPr>
                      <a:r>
                        <a:rPr/>
                        <a:t>JS/TS et leurs variantes JSX</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Grep : Rechercher du texte dans les fichiers</a:t>
            </a:r>
          </a:p>
          <a:p>
            <a:pPr lvl="0" indent="0">
              <a:buNone/>
            </a:pPr>
            <a:r>
              <a:rPr>
                <a:latin typeface="Courier"/>
              </a:rPr>
              <a:t>Vous : "Où est-ce qu'on utilise la fonction validateUser ?"
Claude utilise Grep pour trouver toutes les occurrences.</a:t>
            </a:r>
          </a:p>
          <a:p>
            <a:pPr lvl="0" indent="0" marL="0">
              <a:buNone/>
            </a:pPr>
            <a:r>
              <a:rPr b="1"/>
              <a:t>Syntaxe supportée :</a:t>
            </a:r>
            <a:r>
              <a:rPr/>
              <a:t> - Expressions régulières complètes - Recherche case-insensitive (</a:t>
            </a:r>
            <a:r>
              <a:rPr>
                <a:latin typeface="Courier"/>
              </a:rPr>
              <a:t>-i</a:t>
            </a:r>
            <a:r>
              <a:rPr/>
              <a:t>) - Contexte autour des matches (</a:t>
            </a:r>
            <a:r>
              <a:rPr>
                <a:latin typeface="Courier"/>
              </a:rPr>
              <a:t>-C</a:t>
            </a:r>
            <a:r>
              <a:rPr/>
              <a:t>)</a:t>
            </a:r>
          </a:p>
          <a:p>
            <a:pPr lvl="0" indent="0" marL="0">
              <a:spcBef>
                <a:spcPts val="3000"/>
              </a:spcBef>
              <a:buNone/>
            </a:pPr>
            <a:r>
              <a:rPr b="1"/>
              <a:t>WebSearch / WebFetch : Rechercher sur internet</a:t>
            </a:r>
          </a:p>
          <a:p>
            <a:pPr lvl="0" indent="0">
              <a:buNone/>
            </a:pPr>
            <a:r>
              <a:rPr>
                <a:latin typeface="Courier"/>
              </a:rPr>
              <a:t>Vous : "Comment implémenter OAuth2 avec Go ?"
Claude utilise WebSearch pour trouver des ressources récentes.</a:t>
            </a:r>
          </a:p>
          <a:p>
            <a:pPr lvl="0" indent="0" marL="0">
              <a:buNone/>
            </a:pPr>
            <a:r>
              <a:rPr b="1"/>
              <a:t>Cas d’usage :</a:t>
            </a:r>
            <a:r>
              <a:rPr/>
              <a:t> - Documentation à jour - Solutions à des erreurs - Meilleures pratiques actuelles</a:t>
            </a:r>
          </a:p>
          <a:p>
            <a:pPr lvl="0" indent="0" marL="0">
              <a:spcBef>
                <a:spcPts val="3000"/>
              </a:spcBef>
              <a:buNone/>
            </a:pPr>
            <a:r>
              <a:rPr b="1"/>
              <a:t>4.3 Tools de modification</a:t>
            </a:r>
          </a:p>
          <a:p>
            <a:pPr lvl="0" indent="0" marL="0">
              <a:spcBef>
                <a:spcPts val="3000"/>
              </a:spcBef>
              <a:buNone/>
            </a:pPr>
            <a:r>
              <a:rPr b="1"/>
              <a:t>Write : Créer un nouveau fichier</a:t>
            </a:r>
          </a:p>
          <a:p>
            <a:pPr lvl="0" indent="0">
              <a:buNone/>
            </a:pPr>
            <a:r>
              <a:rPr>
                <a:latin typeface="Courier"/>
              </a:rPr>
              <a:t>Vous : "Crée un fichier README.md pour ce projet"
Claude utilise Write pour créer le fichier.</a:t>
            </a:r>
          </a:p>
          <a:p>
            <a:pPr lvl="0" indent="0" marL="0">
              <a:buNone/>
            </a:pPr>
            <a:r>
              <a:rPr b="1"/>
              <a:t>Comportement :</a:t>
            </a:r>
            <a:r>
              <a:rPr/>
              <a:t> - Crée le fichier s’il n’existe pas - Écrase le fichier s’il existe (avec confirmation) - Crée les dossiers parents si nécessaire</a:t>
            </a:r>
          </a:p>
          <a:p>
            <a:pPr lvl="0" indent="0" marL="0">
              <a:spcBef>
                <a:spcPts val="3000"/>
              </a:spcBef>
              <a:buNone/>
            </a:pPr>
            <a:r>
              <a:rPr b="1"/>
              <a:t>Edit : Modifier une partie d’un fichier</a:t>
            </a:r>
          </a:p>
          <a:p>
            <a:pPr lvl="0" indent="0">
              <a:buNone/>
            </a:pPr>
            <a:r>
              <a:rPr>
                <a:latin typeface="Courier"/>
              </a:rPr>
              <a:t>Vous : "Ajoute la gestion d'erreur dans la fonction fetchData"
Claude utilise Edit pour modifier uniquement la partie concernée.</a:t>
            </a:r>
          </a:p>
          <a:p>
            <a:pPr lvl="0" indent="0" marL="0">
              <a:buNone/>
            </a:pPr>
            <a:r>
              <a:rPr b="1"/>
              <a:t>Avantages de Edit vs Write :</a:t>
            </a:r>
            <a:r>
              <a:rPr/>
              <a:t> - Modification chirurgicale - Préserve le reste du fichier - Diff clair des changements - Moins de risque d’erreur</a:t>
            </a:r>
          </a:p>
          <a:p>
            <a:pPr lvl="0" indent="0" marL="0">
              <a:spcBef>
                <a:spcPts val="3000"/>
              </a:spcBef>
              <a:buNone/>
            </a:pPr>
            <a:r>
              <a:rPr b="1"/>
              <a:t>NotebookEdit : Éditer des notebooks Jupyter</a:t>
            </a:r>
          </a:p>
          <a:p>
            <a:pPr lvl="0" indent="0">
              <a:buNone/>
            </a:pPr>
            <a:r>
              <a:rPr>
                <a:latin typeface="Courier"/>
              </a:rPr>
              <a:t>Vous : "Modifie la cellule 3 pour utiliser pandas au lieu de numpy"
Claude utilise NotebookEdit pour modifier le notebook.</a:t>
            </a:r>
          </a:p>
          <a:p>
            <a:pPr lvl="0" indent="0" marL="0">
              <a:spcBef>
                <a:spcPts val="3000"/>
              </a:spcBef>
              <a:buNone/>
            </a:pPr>
            <a:r>
              <a:rPr b="1"/>
              <a:t>Bash : Exécuter des commandes terminal</a:t>
            </a:r>
          </a:p>
          <a:p>
            <a:pPr lvl="0" indent="0">
              <a:buNone/>
            </a:pPr>
            <a:r>
              <a:rPr>
                <a:latin typeface="Courier"/>
              </a:rPr>
              <a:t>Vous : "Lance les tests"
Claude utilise Bash avec "npm test" ou "go test ./..."</a:t>
            </a:r>
          </a:p>
          <a:p>
            <a:pPr lvl="0" indent="0" marL="0">
              <a:buNone/>
            </a:pPr>
            <a:r>
              <a:rPr b="1"/>
              <a:t>Commandes typiques :</a:t>
            </a:r>
            <a:r>
              <a:rPr/>
              <a:t> - </a:t>
            </a:r>
            <a:r>
              <a:rPr>
                <a:latin typeface="Courier"/>
              </a:rPr>
              <a:t>git status</a:t>
            </a:r>
            <a:r>
              <a:rPr/>
              <a:t>, </a:t>
            </a:r>
            <a:r>
              <a:rPr>
                <a:latin typeface="Courier"/>
              </a:rPr>
              <a:t>git diff</a:t>
            </a:r>
            <a:r>
              <a:rPr/>
              <a:t>, </a:t>
            </a:r>
            <a:r>
              <a:rPr>
                <a:latin typeface="Courier"/>
              </a:rPr>
              <a:t>git commit</a:t>
            </a:r>
            <a:r>
              <a:rPr/>
              <a:t> - </a:t>
            </a:r>
            <a:r>
              <a:rPr>
                <a:latin typeface="Courier"/>
              </a:rPr>
              <a:t>npm install</a:t>
            </a:r>
            <a:r>
              <a:rPr/>
              <a:t>, </a:t>
            </a:r>
            <a:r>
              <a:rPr>
                <a:latin typeface="Courier"/>
              </a:rPr>
              <a:t>npm run build</a:t>
            </a:r>
            <a:r>
              <a:rPr/>
              <a:t>, </a:t>
            </a:r>
            <a:r>
              <a:rPr>
                <a:latin typeface="Courier"/>
              </a:rPr>
              <a:t>npm test</a:t>
            </a:r>
            <a:r>
              <a:rPr/>
              <a:t> - </a:t>
            </a:r>
            <a:r>
              <a:rPr>
                <a:latin typeface="Courier"/>
              </a:rPr>
              <a:t>go build</a:t>
            </a:r>
            <a:r>
              <a:rPr/>
              <a:t>, </a:t>
            </a:r>
            <a:r>
              <a:rPr>
                <a:latin typeface="Courier"/>
              </a:rPr>
              <a:t>go test</a:t>
            </a:r>
            <a:r>
              <a:rPr/>
              <a:t>, </a:t>
            </a:r>
            <a:r>
              <a:rPr>
                <a:latin typeface="Courier"/>
              </a:rPr>
              <a:t>go mod tidy</a:t>
            </a:r>
            <a:r>
              <a:rPr/>
              <a:t> - </a:t>
            </a:r>
            <a:r>
              <a:rPr>
                <a:latin typeface="Courier"/>
              </a:rPr>
              <a:t>docker build</a:t>
            </a:r>
            <a:r>
              <a:rPr/>
              <a:t>, </a:t>
            </a:r>
            <a:r>
              <a:rPr>
                <a:latin typeface="Courier"/>
              </a:rPr>
              <a:t>docker-compose up</a:t>
            </a:r>
          </a:p>
          <a:p>
            <a:pPr lvl="0" indent="0" marL="0">
              <a:spcBef>
                <a:spcPts val="3000"/>
              </a:spcBef>
              <a:buNone/>
            </a:pPr>
            <a:r>
              <a:rPr b="1"/>
              <a:t>4.4 Tools d’orchestration</a:t>
            </a:r>
          </a:p>
          <a:p>
            <a:pPr lvl="0" indent="0" marL="0">
              <a:spcBef>
                <a:spcPts val="3000"/>
              </a:spcBef>
              <a:buNone/>
            </a:pPr>
            <a:r>
              <a:rPr b="1"/>
              <a:t>Task : Lancer un sous-agent</a:t>
            </a:r>
          </a:p>
          <a:p>
            <a:pPr lvl="0" indent="0">
              <a:buNone/>
            </a:pPr>
            <a:r>
              <a:rPr>
                <a:latin typeface="Courier"/>
              </a:rPr>
              <a:t>Vous : "Explore ce projet et fais-moi un rapport"
Claude utilise Task pour lancer un agent Explore.</a:t>
            </a:r>
          </a:p>
          <a:p>
            <a:pPr lvl="0" indent="0" marL="0">
              <a:buNone/>
            </a:pPr>
            <a:r>
              <a:rPr/>
              <a:t>Les subagents disponibles : - </a:t>
            </a:r>
            <a:r>
              <a:rPr b="1"/>
              <a:t>Explore</a:t>
            </a:r>
            <a:r>
              <a:rPr/>
              <a:t> : Exploration approfondie - </a:t>
            </a:r>
            <a:r>
              <a:rPr b="1"/>
              <a:t>Plan</a:t>
            </a:r>
            <a:r>
              <a:rPr/>
              <a:t> : Planification d’implémentation - </a:t>
            </a:r>
            <a:r>
              <a:rPr b="1"/>
              <a:t>Bash</a:t>
            </a:r>
            <a:r>
              <a:rPr/>
              <a:t> : Tâches shell complexes</a:t>
            </a:r>
          </a:p>
          <a:p>
            <a:pPr lvl="0" indent="0" marL="0">
              <a:spcBef>
                <a:spcPts val="3000"/>
              </a:spcBef>
              <a:buNone/>
            </a:pPr>
            <a:r>
              <a:rPr b="1"/>
              <a:t>AskUserQuestion : Poser une question</a:t>
            </a:r>
          </a:p>
          <a:p>
            <a:pPr lvl="0" indent="0">
              <a:buNone/>
            </a:pPr>
            <a:r>
              <a:rPr>
                <a:latin typeface="Courier"/>
              </a:rPr>
              <a:t>Claude : "Je vois deux approches possibles :
1. Utiliser une regex
2. Utiliser une librairie de validation
Laquelle préférez-vous ?"</a:t>
            </a:r>
          </a:p>
          <a:p>
            <a:pPr lvl="0" indent="0" marL="0">
              <a:buNone/>
            </a:pPr>
            <a:r>
              <a:rPr/>
              <a:t>Utilisé quand Claude a besoin de clarification.</a:t>
            </a:r>
          </a:p>
          <a:p>
            <a:pPr lvl="0" indent="0" marL="0">
              <a:spcBef>
                <a:spcPts val="3000"/>
              </a:spcBef>
              <a:buNone/>
            </a:pPr>
            <a:r>
              <a:rPr b="1"/>
              <a:t>ToolSearch : Rechercher des outils MCP</a:t>
            </a:r>
          </a:p>
          <a:p>
            <a:pPr lvl="0" indent="0" marL="0">
              <a:buNone/>
            </a:pPr>
            <a:r>
              <a:rPr/>
              <a:t>Permet de trouver des outils additionnels fournis par les serveurs MCP.</a:t>
            </a:r>
          </a:p>
          <a:p>
            <a:pPr lvl="0" indent="0" marL="0">
              <a:spcBef>
                <a:spcPts val="3000"/>
              </a:spcBef>
              <a:buNone/>
            </a:pPr>
            <a:r>
              <a:rPr b="1"/>
              <a:t>4.5 Permissions et confirmations</a:t>
            </a:r>
          </a:p>
          <a:p>
            <a:pPr lvl="0" indent="0" marL="0">
              <a:buNone/>
            </a:pPr>
            <a:r>
              <a:rPr b="1"/>
              <a:t>Système de confirmation :</a:t>
            </a:r>
          </a:p>
          <a:p>
            <a:pPr lvl="0" indent="0" marL="0">
              <a:buNone/>
            </a:pPr>
            <a:r>
              <a:rPr/>
              <a:t>Quand Claude veut exécuter une action, vous voyez :</a:t>
            </a:r>
          </a:p>
          <a:p>
            <a:pPr lvl="0" indent="0">
              <a:buNone/>
            </a:pPr>
            <a:r>
              <a:rPr>
                <a:latin typeface="Courier"/>
              </a:rPr>
              <a:t>Claude wants to run: npm install lodash
[A]ccept  [R]eject  [E]dit  [Always allow]</a:t>
            </a:r>
          </a:p>
          <a:p>
            <a:pPr lvl="0" indent="0" marL="0">
              <a:buNone/>
            </a:pPr>
            <a:r>
              <a:rPr b="1"/>
              <a:t>Options :</a:t>
            </a:r>
            <a:r>
              <a:rPr/>
              <a:t> - </a:t>
            </a:r>
            <a:r>
              <a:rPr b="1"/>
              <a:t>Accept (a)</a:t>
            </a:r>
            <a:r>
              <a:rPr/>
              <a:t> : Exécuter cette fois - </a:t>
            </a:r>
            <a:r>
              <a:rPr b="1"/>
              <a:t>Reject (r)</a:t>
            </a:r>
            <a:r>
              <a:rPr/>
              <a:t> : Refuser - </a:t>
            </a:r>
            <a:r>
              <a:rPr b="1"/>
              <a:t>Edit (e)</a:t>
            </a:r>
            <a:r>
              <a:rPr/>
              <a:t> : Modifier la commande - </a:t>
            </a:r>
            <a:r>
              <a:rPr b="1"/>
              <a:t>Always allow</a:t>
            </a:r>
            <a:r>
              <a:rPr/>
              <a:t> : Ne plus demander pour ce type</a:t>
            </a:r>
          </a:p>
          <a:p>
            <a:pPr lvl="0" indent="0" marL="0">
              <a:buNone/>
            </a:pPr>
            <a:r>
              <a:rPr b="1"/>
              <a:t>Ce que Claude Code ne peut PAS faire :</a:t>
            </a:r>
            <a:r>
              <a:rPr/>
              <a:t> - Accéder à des fichiers hors du projet (sauf si explicitement autorisé) - Exécuter des commandes root/sudo (sauf autorisation) - Envoyer des données à des tiers - Modifier les fichiers système</a:t>
            </a:r>
          </a:p>
          <a:p>
            <a:pPr lvl="0" indent="0" marL="0">
              <a:buNone/>
            </a:pPr>
            <a:r>
              <a:rPr b="1"/>
              <a:t>Exercice pratique :</a:t>
            </a:r>
          </a:p>
          <a:p>
            <a:pPr lvl="0" indent="-342900" marL="342900">
              <a:buAutoNum type="arabicPeriod"/>
            </a:pPr>
            <a:r>
              <a:rPr/>
              <a:t>Demandez à Claude de lister tous les fichiers TypeScript</a:t>
            </a:r>
          </a:p>
          <a:p>
            <a:pPr lvl="0" indent="-342900" marL="342900">
              <a:buAutoNum type="arabicPeriod"/>
            </a:pPr>
            <a:r>
              <a:rPr/>
              <a:t>Demandez de trouver où une fonction est utilisée</a:t>
            </a:r>
          </a:p>
          <a:p>
            <a:pPr lvl="0" indent="-342900" marL="342900">
              <a:buAutoNum type="arabicPeriod"/>
            </a:pPr>
            <a:r>
              <a:rPr/>
              <a:t>Demandez de modifier un fichier et observez le diff</a:t>
            </a:r>
          </a:p>
          <a:p>
            <a:pPr lvl="0" indent="-342900" marL="342900">
              <a:buAutoNum type="arabicPeriod"/>
            </a:pPr>
            <a:r>
              <a:rPr/>
              <a:t>Demandez de lancer une commande et notez la demande de permission</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5 : Slash Commands natives (30 min)</a:t>
            </a:r>
          </a:p>
          <a:p>
            <a:pPr lvl="0" indent="0" marL="0">
              <a:buNone/>
            </a:pPr>
            <a:r>
              <a:rPr b="1"/>
              <a:t>Objectif pédagogique</a:t>
            </a:r>
            <a:r>
              <a:rPr/>
              <a:t> : À l’issue de ce module, l’apprenant sera capable d’utiliser les slash commands natives pour gérer sa session (</a:t>
            </a:r>
            <a:r>
              <a:rPr>
                <a:latin typeface="Courier"/>
              </a:rPr>
              <a:t>/help</a:t>
            </a:r>
            <a:r>
              <a:rPr/>
              <a:t>, </a:t>
            </a:r>
            <a:r>
              <a:rPr>
                <a:latin typeface="Courier"/>
              </a:rPr>
              <a:t>/clear</a:t>
            </a:r>
            <a:r>
              <a:rPr/>
              <a:t>, </a:t>
            </a:r>
            <a:r>
              <a:rPr>
                <a:latin typeface="Courier"/>
              </a:rPr>
              <a:t>/status</a:t>
            </a:r>
            <a:r>
              <a:rPr/>
              <a:t>, </a:t>
            </a:r>
            <a:r>
              <a:rPr>
                <a:latin typeface="Courier"/>
              </a:rPr>
              <a:t>/cost</a:t>
            </a:r>
            <a:r>
              <a:rPr/>
              <a:t>), le contexte (</a:t>
            </a:r>
            <a:r>
              <a:rPr>
                <a:latin typeface="Courier"/>
              </a:rPr>
              <a:t>/context</a:t>
            </a:r>
            <a:r>
              <a:rPr/>
              <a:t>, </a:t>
            </a:r>
            <a:r>
              <a:rPr>
                <a:latin typeface="Courier"/>
              </a:rPr>
              <a:t>/memory</a:t>
            </a:r>
            <a:r>
              <a:rPr/>
              <a:t>, </a:t>
            </a:r>
            <a:r>
              <a:rPr>
                <a:latin typeface="Courier"/>
              </a:rPr>
              <a:t>/compact</a:t>
            </a:r>
            <a:r>
              <a:rPr/>
              <a:t>), et les workflows Git (</a:t>
            </a:r>
            <a:r>
              <a:rPr>
                <a:latin typeface="Courier"/>
              </a:rPr>
              <a:t>/commit</a:t>
            </a:r>
            <a:r>
              <a:rPr/>
              <a:t>, </a:t>
            </a:r>
            <a:r>
              <a:rPr>
                <a:latin typeface="Courier"/>
              </a:rPr>
              <a:t>/init</a:t>
            </a:r>
            <a:r>
              <a:rPr/>
              <a:t>).</a:t>
            </a:r>
          </a:p>
          <a:p>
            <a:pPr lvl="0" indent="0" marL="0">
              <a:spcBef>
                <a:spcPts val="3000"/>
              </a:spcBef>
              <a:buNone/>
            </a:pPr>
            <a:r>
              <a:rPr b="1"/>
              <a:t>5.1 Commandes de session</a:t>
            </a:r>
          </a:p>
          <a:p>
            <a:pPr lvl="0" indent="0" marL="0">
              <a:buNone/>
            </a:pPr>
            <a:r>
              <a:rPr b="1">
                <a:latin typeface="Courier"/>
              </a:rPr>
              <a:t>/help</a:t>
            </a:r>
            <a:r>
              <a:rPr b="1"/>
              <a:t> : Aide et documentation</a:t>
            </a:r>
          </a:p>
          <a:p>
            <a:pPr lvl="0" indent="0">
              <a:buNone/>
            </a:pPr>
            <a:r>
              <a:rPr>
                <a:latin typeface="Courier"/>
              </a:rPr>
              <a:t>&gt; /help
Affiche toutes les commandes disponibles et leur description.</a:t>
            </a:r>
          </a:p>
          <a:p>
            <a:pPr lvl="0" indent="0" marL="0">
              <a:buNone/>
            </a:pPr>
            <a:r>
              <a:rPr b="1">
                <a:latin typeface="Courier"/>
              </a:rPr>
              <a:t>/clear</a:t>
            </a:r>
            <a:r>
              <a:rPr b="1"/>
              <a:t> : Effacer la conversation</a:t>
            </a:r>
          </a:p>
          <a:p>
            <a:pPr lvl="0" indent="0">
              <a:buNone/>
            </a:pPr>
            <a:r>
              <a:rPr>
                <a:latin typeface="Courier"/>
              </a:rPr>
              <a:t>&gt; /clear
Efface l'historique de la conversation actuelle.
Utile pour repartir à zéro sans quitter Claude.</a:t>
            </a:r>
          </a:p>
          <a:p>
            <a:pPr lvl="0" indent="0" marL="0">
              <a:buNone/>
            </a:pPr>
            <a:r>
              <a:rPr b="1">
                <a:latin typeface="Courier"/>
              </a:rPr>
              <a:t>/compact [instructions]</a:t>
            </a:r>
            <a:r>
              <a:rPr b="1"/>
              <a:t> : Compresser le contexte</a:t>
            </a:r>
          </a:p>
          <a:p>
            <a:pPr lvl="0" indent="0">
              <a:buNone/>
            </a:pPr>
            <a:r>
              <a:rPr>
                <a:latin typeface="Courier"/>
              </a:rPr>
              <a:t>&gt; /compact
Compresse la conversation pour libérer de l'espace contexte.
&gt; /compact focus on the authentication code
Compresse en gardant le focus sur l'authentification.</a:t>
            </a:r>
          </a:p>
          <a:p>
            <a:pPr lvl="0" indent="0" marL="0">
              <a:buNone/>
            </a:pPr>
            <a:r>
              <a:rPr b="1">
                <a:latin typeface="Courier"/>
              </a:rPr>
              <a:t>/status</a:t>
            </a:r>
            <a:r>
              <a:rPr b="1"/>
              <a:t> : État de la session</a:t>
            </a:r>
          </a:p>
          <a:p>
            <a:pPr lvl="0" indent="0">
              <a:buNone/>
            </a:pPr>
            <a:r>
              <a:rPr>
                <a:latin typeface="Courier"/>
              </a:rPr>
              <a:t>&gt; /status
Affiche :
- Version de Claude Code
- Modèle actuel
- Compte connecté
- Espace de travail</a:t>
            </a:r>
          </a:p>
          <a:p>
            <a:pPr lvl="0" indent="0" marL="0">
              <a:buNone/>
            </a:pPr>
            <a:r>
              <a:rPr b="1">
                <a:latin typeface="Courier"/>
              </a:rPr>
              <a:t>/cost</a:t>
            </a:r>
            <a:r>
              <a:rPr b="1"/>
              <a:t> : Statistiques d’utilisation</a:t>
            </a:r>
          </a:p>
          <a:p>
            <a:pPr lvl="0" indent="0">
              <a:buNone/>
            </a:pPr>
            <a:r>
              <a:rPr>
                <a:latin typeface="Courier"/>
              </a:rPr>
              <a:t>&gt; /cost
Affiche :
- Tokens utilisés (input/output)
- Coût estimé de la session
- Historique d'utilisation</a:t>
            </a:r>
          </a:p>
          <a:p>
            <a:pPr lvl="0" indent="0" marL="0">
              <a:buNone/>
            </a:pPr>
            <a:r>
              <a:rPr b="1">
                <a:latin typeface="Courier"/>
              </a:rPr>
              <a:t>/exit</a:t>
            </a:r>
            <a:r>
              <a:rPr b="1"/>
              <a:t> : Quitter la session</a:t>
            </a:r>
          </a:p>
          <a:p>
            <a:pPr lvl="0" indent="0">
              <a:buNone/>
            </a:pPr>
            <a:r>
              <a:rPr>
                <a:latin typeface="Courier"/>
              </a:rPr>
              <a:t>&gt; /exit
Sauvegarde la session et quitte proprement.
Équivalent à Ctrl+D.</a:t>
            </a:r>
          </a:p>
          <a:p>
            <a:pPr lvl="0" indent="0" marL="0">
              <a:spcBef>
                <a:spcPts val="3000"/>
              </a:spcBef>
              <a:buNone/>
            </a:pPr>
            <a:r>
              <a:rPr b="1"/>
              <a:t>5.2 Commandes de contexte</a:t>
            </a:r>
          </a:p>
          <a:p>
            <a:pPr lvl="0" indent="0" marL="0">
              <a:buNone/>
            </a:pPr>
            <a:r>
              <a:rPr b="1">
                <a:latin typeface="Courier"/>
              </a:rPr>
              <a:t>/context</a:t>
            </a:r>
            <a:r>
              <a:rPr b="1"/>
              <a:t> : Visualiser l’utilisation du contexte</a:t>
            </a:r>
          </a:p>
          <a:p>
            <a:pPr lvl="0" indent="0">
              <a:buNone/>
            </a:pPr>
            <a:r>
              <a:rPr>
                <a:latin typeface="Courier"/>
              </a:rPr>
              <a:t>&gt; /context
Affiche :
- Taille de la fenêtre de contexte
- Pourcentage utilisé
- Principaux consommateurs de tokens</a:t>
            </a:r>
          </a:p>
          <a:p>
            <a:pPr lvl="0" indent="0" marL="0">
              <a:buNone/>
            </a:pPr>
            <a:r>
              <a:rPr b="1">
                <a:latin typeface="Courier"/>
              </a:rPr>
              <a:t>/memory</a:t>
            </a:r>
            <a:r>
              <a:rPr b="1"/>
              <a:t> : Éditer les fichiers CLAUDE.md</a:t>
            </a:r>
          </a:p>
          <a:p>
            <a:pPr lvl="0" indent="0">
              <a:buNone/>
            </a:pPr>
            <a:r>
              <a:rPr>
                <a:latin typeface="Courier"/>
              </a:rPr>
              <a:t>&gt; /memory
Ouvre un éditeur pour modifier CLAUDE.md.
Les changements sont appliqués immédiatement.</a:t>
            </a:r>
          </a:p>
          <a:p>
            <a:pPr lvl="0" indent="0" marL="0">
              <a:buNone/>
            </a:pPr>
            <a:r>
              <a:rPr b="1">
                <a:latin typeface="Courier"/>
              </a:rPr>
              <a:t>/add-dir</a:t>
            </a:r>
            <a:r>
              <a:rPr b="1"/>
              <a:t> : Ajouter des répertoires de travail</a:t>
            </a:r>
          </a:p>
          <a:p>
            <a:pPr lvl="0" indent="0">
              <a:buNone/>
            </a:pPr>
            <a:r>
              <a:rPr>
                <a:latin typeface="Courier"/>
              </a:rPr>
              <a:t>&gt; /add-dir ../autre-projet
Ajoute un dossier au contexte de travail.
Permet de travailler sur plusieurs projets liés.</a:t>
            </a:r>
          </a:p>
          <a:p>
            <a:pPr lvl="0" indent="0" marL="0">
              <a:spcBef>
                <a:spcPts val="3000"/>
              </a:spcBef>
              <a:buNone/>
            </a:pPr>
            <a:r>
              <a:rPr b="1"/>
              <a:t>5.3 Commandes de workflow</a:t>
            </a:r>
          </a:p>
          <a:p>
            <a:pPr lvl="0" indent="0" marL="0">
              <a:buNone/>
            </a:pPr>
            <a:r>
              <a:rPr b="1">
                <a:latin typeface="Courier"/>
              </a:rPr>
              <a:t>/commit</a:t>
            </a:r>
            <a:r>
              <a:rPr b="1"/>
              <a:t> : Créer un commit Git</a:t>
            </a:r>
          </a:p>
          <a:p>
            <a:pPr lvl="0" indent="0">
              <a:buNone/>
            </a:pPr>
            <a:r>
              <a:rPr>
                <a:latin typeface="Courier"/>
              </a:rPr>
              <a:t>&gt; /commit
Claude va :
1. Analyser les changements (git diff)
2. Proposer un message de commit
3. Créer le commit après confirmation</a:t>
            </a:r>
          </a:p>
          <a:p>
            <a:pPr lvl="0" indent="0" marL="0">
              <a:buNone/>
            </a:pPr>
            <a:r>
              <a:rPr b="1">
                <a:latin typeface="Courier"/>
              </a:rPr>
              <a:t>/init</a:t>
            </a:r>
            <a:r>
              <a:rPr b="1"/>
              <a:t> : Initialiser un projet avec CLAUDE.md</a:t>
            </a:r>
          </a:p>
          <a:p>
            <a:pPr lvl="0" indent="0">
              <a:buNone/>
            </a:pPr>
            <a:r>
              <a:rPr>
                <a:latin typeface="Courier"/>
              </a:rPr>
              <a:t>&gt; /init
Claude crée un fichier CLAUDE.md avec :
- Description du projet
- Stack technique détectée
- Conventions observées</a:t>
            </a:r>
          </a:p>
          <a:p>
            <a:pPr lvl="0" indent="0" marL="0">
              <a:buNone/>
            </a:pPr>
            <a:r>
              <a:rPr b="1">
                <a:latin typeface="Courier"/>
              </a:rPr>
              <a:t>/plan</a:t>
            </a:r>
            <a:r>
              <a:rPr b="1"/>
              <a:t> : Entrer en mode planification</a:t>
            </a:r>
          </a:p>
          <a:p>
            <a:pPr lvl="0" indent="0">
              <a:buNone/>
            </a:pPr>
            <a:r>
              <a:rPr>
                <a:latin typeface="Courier"/>
              </a:rPr>
              <a:t>&gt; /plan
Active le mode plan où Claude :
- Analyse sans modifier
- Propose une stratégie
- Attend validation avant d'agir</a:t>
            </a:r>
          </a:p>
          <a:p>
            <a:pPr lvl="0" indent="0" marL="0">
              <a:buNone/>
            </a:pPr>
            <a:r>
              <a:rPr b="1">
                <a:latin typeface="Courier"/>
              </a:rPr>
              <a:t>/todos</a:t>
            </a:r>
            <a:r>
              <a:rPr b="1"/>
              <a:t> : Lister les tâches TODO</a:t>
            </a:r>
          </a:p>
          <a:p>
            <a:pPr lvl="0" indent="0">
              <a:buNone/>
            </a:pPr>
            <a:r>
              <a:rPr>
                <a:latin typeface="Courier"/>
              </a:rPr>
              <a:t>&gt; /todos
Recherche et affiche tous les TODO/FIXME/HACK
dans le projet avec leur contexte.</a:t>
            </a:r>
          </a:p>
          <a:p>
            <a:pPr lvl="0" indent="0" marL="0">
              <a:spcBef>
                <a:spcPts val="3000"/>
              </a:spcBef>
              <a:buNone/>
            </a:pPr>
            <a:r>
              <a:rPr b="1"/>
              <a:t>5.4 Commandes de configuration</a:t>
            </a:r>
          </a:p>
          <a:p>
            <a:pPr lvl="0" indent="0" marL="0">
              <a:buNone/>
            </a:pPr>
            <a:r>
              <a:rPr b="1">
                <a:latin typeface="Courier"/>
              </a:rPr>
              <a:t>/config</a:t>
            </a:r>
            <a:r>
              <a:rPr b="1"/>
              <a:t> : Ouvrir les paramètres</a:t>
            </a:r>
          </a:p>
          <a:p>
            <a:pPr lvl="0" indent="0">
              <a:buNone/>
            </a:pPr>
            <a:r>
              <a:rPr>
                <a:latin typeface="Courier"/>
              </a:rPr>
              <a:t>&gt; /config
Ouvre les paramètres de Claude Code.
Permet de modifier les préférences.</a:t>
            </a:r>
          </a:p>
          <a:p>
            <a:pPr lvl="0" indent="0" marL="0">
              <a:buNone/>
            </a:pPr>
            <a:r>
              <a:rPr b="1">
                <a:latin typeface="Courier"/>
              </a:rPr>
              <a:t>/model</a:t>
            </a:r>
            <a:r>
              <a:rPr b="1"/>
              <a:t> : Changer de modèle</a:t>
            </a:r>
          </a:p>
          <a:p>
            <a:pPr lvl="0" indent="0">
              <a:buNone/>
            </a:pPr>
            <a:r>
              <a:rPr>
                <a:latin typeface="Courier"/>
              </a:rPr>
              <a:t>&gt; /model opus
Change le modèle pour la suite de la session.
Options : sonnet, opus, haiku</a:t>
            </a:r>
          </a:p>
          <a:p>
            <a:pPr lvl="0" indent="0" marL="0">
              <a:buNone/>
            </a:pPr>
            <a:r>
              <a:rPr b="1">
                <a:latin typeface="Courier"/>
              </a:rPr>
              <a:t>/permissions</a:t>
            </a:r>
            <a:r>
              <a:rPr b="1"/>
              <a:t> : Gérer les autorisations</a:t>
            </a:r>
          </a:p>
          <a:p>
            <a:pPr lvl="0" indent="0">
              <a:buNone/>
            </a:pPr>
            <a:r>
              <a:rPr>
                <a:latin typeface="Courier"/>
              </a:rPr>
              <a:t>&gt; /permissions
Affiche et modifie les règles de permission :
- Ce qui est auto-accepté
- Ce qui est toujours refusé
- Ce qui demande confirmation</a:t>
            </a:r>
          </a:p>
          <a:p>
            <a:pPr lvl="0" indent="0" marL="0">
              <a:buNone/>
            </a:pPr>
            <a:r>
              <a:rPr b="1">
                <a:latin typeface="Courier"/>
              </a:rPr>
              <a:t>/theme</a:t>
            </a:r>
            <a:r>
              <a:rPr b="1"/>
              <a:t> : Changer le thème de couleurs</a:t>
            </a:r>
          </a:p>
          <a:p>
            <a:pPr lvl="0" indent="0">
              <a:buNone/>
            </a:pPr>
            <a:r>
              <a:rPr>
                <a:latin typeface="Courier"/>
              </a:rPr>
              <a:t>&gt; /theme dark
&gt; /theme light
&gt; /theme monokai</a:t>
            </a:r>
          </a:p>
          <a:p>
            <a:pPr lvl="0" indent="0" marL="0">
              <a:spcBef>
                <a:spcPts val="3000"/>
              </a:spcBef>
              <a:buNone/>
            </a:pPr>
            <a:r>
              <a:rPr b="1"/>
              <a:t>5.5 Commandes avancées</a:t>
            </a:r>
          </a:p>
          <a:p>
            <a:pPr lvl="0" indent="0" marL="0">
              <a:buNone/>
            </a:pPr>
            <a:r>
              <a:rPr b="1">
                <a:latin typeface="Courier"/>
              </a:rPr>
              <a:t>/resume [session]</a:t>
            </a:r>
            <a:r>
              <a:rPr b="1"/>
              <a:t> : Reprendre une session</a:t>
            </a:r>
          </a:p>
          <a:p>
            <a:pPr lvl="0" indent="0">
              <a:buNone/>
            </a:pPr>
            <a:r>
              <a:rPr>
                <a:latin typeface="Courier"/>
              </a:rPr>
              <a:t>&gt; /resume
Affiche les sessions récentes et permet d'en choisir une.
&gt; /resume refactoring-auth
Reprend la session nommée "refactoring-auth".</a:t>
            </a:r>
          </a:p>
          <a:p>
            <a:pPr lvl="0" indent="0" marL="0">
              <a:buNone/>
            </a:pPr>
            <a:r>
              <a:rPr b="1">
                <a:latin typeface="Courier"/>
              </a:rPr>
              <a:t>/rename &lt;nom&gt;</a:t>
            </a:r>
            <a:r>
              <a:rPr b="1"/>
              <a:t> : Renommer la session</a:t>
            </a:r>
          </a:p>
          <a:p>
            <a:pPr lvl="0" indent="0">
              <a:buNone/>
            </a:pPr>
            <a:r>
              <a:rPr>
                <a:latin typeface="Courier"/>
              </a:rPr>
              <a:t>&gt; /rename migration-v2
Renomme la session actuelle pour la retrouver facilement.</a:t>
            </a:r>
          </a:p>
          <a:p>
            <a:pPr lvl="0" indent="0" marL="0">
              <a:buNone/>
            </a:pPr>
            <a:r>
              <a:rPr b="1">
                <a:latin typeface="Courier"/>
              </a:rPr>
              <a:t>/export [fichier]</a:t>
            </a:r>
            <a:r>
              <a:rPr b="1"/>
              <a:t> : Exporter la conversation</a:t>
            </a:r>
          </a:p>
          <a:p>
            <a:pPr lvl="0" indent="0">
              <a:buNone/>
            </a:pPr>
            <a:r>
              <a:rPr>
                <a:latin typeface="Courier"/>
              </a:rPr>
              <a:t>&gt; /export
Exporte vers stdout.
&gt; /export ./session.md
Exporte vers un fichier markdown.</a:t>
            </a:r>
          </a:p>
          <a:p>
            <a:pPr lvl="0" indent="0" marL="0">
              <a:buNone/>
            </a:pPr>
            <a:r>
              <a:rPr b="1">
                <a:latin typeface="Courier"/>
              </a:rPr>
              <a:t>/rewind</a:t>
            </a:r>
            <a:r>
              <a:rPr b="1"/>
              <a:t> : Revenir à un état précédent</a:t>
            </a:r>
          </a:p>
          <a:p>
            <a:pPr lvl="0" indent="0">
              <a:buNone/>
            </a:pPr>
            <a:r>
              <a:rPr>
                <a:latin typeface="Courier"/>
              </a:rPr>
              <a:t>&gt; /rewind
Affiche les checkpoints et permet de revenir en arrière.
Utile si Claude a fait une erreur.</a:t>
            </a:r>
          </a:p>
          <a:p>
            <a:pPr lvl="0" indent="0" marL="0">
              <a:buNone/>
            </a:pPr>
            <a:r>
              <a:rPr b="1">
                <a:latin typeface="Courier"/>
              </a:rPr>
              <a:t>/doctor</a:t>
            </a:r>
            <a:r>
              <a:rPr b="1"/>
              <a:t> : Diagnostiquer l’installation</a:t>
            </a:r>
          </a:p>
          <a:p>
            <a:pPr lvl="0" indent="0">
              <a:buNone/>
            </a:pPr>
            <a:r>
              <a:rPr>
                <a:latin typeface="Courier"/>
              </a:rPr>
              <a:t>&gt; /doctor
Vérifie :
- Configuration correcte
- Connexion API
- Serveurs MCP
- Permissions fichiers</a:t>
            </a:r>
          </a:p>
          <a:p>
            <a:pPr lvl="0" indent="0" marL="0">
              <a:buNone/>
            </a:pPr>
            <a:r>
              <a:rPr b="1"/>
              <a:t>Exercice pratique :</a:t>
            </a:r>
          </a:p>
          <a:p>
            <a:pPr lvl="0" indent="-342900" marL="342900">
              <a:buAutoNum type="arabicPeriod"/>
            </a:pPr>
            <a:r>
              <a:rPr/>
              <a:t>Utilisez </a:t>
            </a:r>
            <a:r>
              <a:rPr>
                <a:latin typeface="Courier"/>
              </a:rPr>
              <a:t>/status</a:t>
            </a:r>
            <a:r>
              <a:rPr/>
              <a:t> pour voir votre configuration</a:t>
            </a:r>
          </a:p>
          <a:p>
            <a:pPr lvl="0" indent="-342900" marL="342900">
              <a:buAutoNum type="arabicPeriod"/>
            </a:pPr>
            <a:r>
              <a:rPr/>
              <a:t>Utilisez </a:t>
            </a:r>
            <a:r>
              <a:rPr>
                <a:latin typeface="Courier"/>
              </a:rPr>
              <a:t>/cost</a:t>
            </a:r>
            <a:r>
              <a:rPr/>
              <a:t> pour voir l’utilisation</a:t>
            </a:r>
          </a:p>
          <a:p>
            <a:pPr lvl="0" indent="-342900" marL="342900">
              <a:buAutoNum type="arabicPeriod"/>
            </a:pPr>
            <a:r>
              <a:rPr/>
              <a:t>Essayez </a:t>
            </a:r>
            <a:r>
              <a:rPr>
                <a:latin typeface="Courier"/>
              </a:rPr>
              <a:t>/init</a:t>
            </a:r>
            <a:r>
              <a:rPr/>
              <a:t> sur un nouveau projet</a:t>
            </a:r>
          </a:p>
          <a:p>
            <a:pPr lvl="0" indent="-342900" marL="342900">
              <a:buAutoNum type="arabicPeriod"/>
            </a:pPr>
            <a:r>
              <a:rPr/>
              <a:t>Utilisez </a:t>
            </a:r>
            <a:r>
              <a:rPr>
                <a:latin typeface="Courier"/>
              </a:rPr>
              <a:t>/commit</a:t>
            </a:r>
            <a:r>
              <a:rPr/>
              <a:t> après avoir fait une modification</a:t>
            </a:r>
          </a:p>
          <a:p>
            <a:pPr lvl="0" indent="-342900" marL="342900">
              <a:buAutoNum type="arabicPeriod"/>
            </a:pPr>
            <a:r>
              <a:rPr/>
              <a:t>Exportez votre conversation avec </a:t>
            </a:r>
            <a:r>
              <a:rPr>
                <a:latin typeface="Courier"/>
              </a:rPr>
              <a:t>/export</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Module 6 : Raccourcis clavier (20 min)</a:t>
            </a:r>
          </a:p>
          <a:p>
            <a:pPr lvl="0" indent="0" marL="0">
              <a:buNone/>
            </a:pPr>
            <a:r>
              <a:rPr b="1"/>
              <a:t>Objectif pédagogique</a:t>
            </a:r>
            <a:r>
              <a:rPr/>
              <a:t> : À l’issue de ce module, l’apprenant sera capable d’utiliser les raccourcis clavier essentiels pour contrôler Claude Code (</a:t>
            </a:r>
            <a:r>
              <a:rPr>
                <a:latin typeface="Courier"/>
              </a:rPr>
              <a:t>Ctrl+C</a:t>
            </a:r>
            <a:r>
              <a:rPr/>
              <a:t>, </a:t>
            </a:r>
            <a:r>
              <a:rPr>
                <a:latin typeface="Courier"/>
              </a:rPr>
              <a:t>Ctrl+D</a:t>
            </a:r>
            <a:r>
              <a:rPr/>
              <a:t>, </a:t>
            </a:r>
            <a:r>
              <a:rPr>
                <a:latin typeface="Courier"/>
              </a:rPr>
              <a:t>Esc+Esc</a:t>
            </a:r>
            <a:r>
              <a:rPr/>
              <a:t>), éditer ses prompts (multiline), et naviguer rapidement (</a:t>
            </a:r>
            <a:r>
              <a:rPr>
                <a:latin typeface="Courier"/>
              </a:rPr>
              <a:t>Shift+Tab</a:t>
            </a:r>
            <a:r>
              <a:rPr/>
              <a:t>, </a:t>
            </a:r>
            <a:r>
              <a:rPr>
                <a:latin typeface="Courier"/>
              </a:rPr>
              <a:t>Alt+P</a:t>
            </a:r>
            <a:r>
              <a:rPr/>
              <a:t>).</a:t>
            </a:r>
          </a:p>
          <a:p>
            <a:pPr lvl="0" indent="0" marL="0">
              <a:spcBef>
                <a:spcPts val="3000"/>
              </a:spcBef>
              <a:buNone/>
            </a:pPr>
            <a:r>
              <a:rPr b="1"/>
              <a:t>6.1 Contrôles généraux</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Raccourci</a:t>
                      </a:r>
                    </a:p>
                  </a:txBody>
                  <a:tcPr/>
                </a:tc>
                <a:tc>
                  <a:txBody>
                    <a:bodyPr/>
                    <a:lstStyle/>
                    <a:p>
                      <a:pPr lvl="0" indent="0" marL="0">
                        <a:buNone/>
                      </a:pPr>
                      <a:r>
                        <a:rPr/>
                        <a:t>Action</a:t>
                      </a:r>
                    </a:p>
                  </a:txBody>
                  <a:tcPr/>
                </a:tc>
              </a:tr>
              <a:tr h="0">
                <a:tc>
                  <a:txBody>
                    <a:bodyPr/>
                    <a:lstStyle/>
                    <a:p>
                      <a:pPr lvl="0" indent="0" marL="0">
                        <a:buNone/>
                      </a:pPr>
                      <a:r>
                        <a:rPr>
                          <a:latin typeface="Courier"/>
                        </a:rPr>
                        <a:t>Ctrl+C</a:t>
                      </a:r>
                    </a:p>
                  </a:txBody>
                </a:tc>
                <a:tc>
                  <a:txBody>
                    <a:bodyPr/>
                    <a:lstStyle/>
                    <a:p>
                      <a:pPr lvl="0" indent="0" marL="0">
                        <a:buNone/>
                      </a:pPr>
                      <a:r>
                        <a:rPr/>
                        <a:t>Annuler l’opération en cours</a:t>
                      </a:r>
                    </a:p>
                  </a:txBody>
                </a:tc>
              </a:tr>
              <a:tr h="0">
                <a:tc>
                  <a:txBody>
                    <a:bodyPr/>
                    <a:lstStyle/>
                    <a:p>
                      <a:pPr lvl="0" indent="0" marL="0">
                        <a:buNone/>
                      </a:pPr>
                      <a:r>
                        <a:rPr>
                          <a:latin typeface="Courier"/>
                        </a:rPr>
                        <a:t>Ctrl+D</a:t>
                      </a:r>
                    </a:p>
                  </a:txBody>
                </a:tc>
                <a:tc>
                  <a:txBody>
                    <a:bodyPr/>
                    <a:lstStyle/>
                    <a:p>
                      <a:pPr lvl="0" indent="0" marL="0">
                        <a:buNone/>
                      </a:pPr>
                      <a:r>
                        <a:rPr/>
                        <a:t>Quitter la session</a:t>
                      </a:r>
                    </a:p>
                  </a:txBody>
                </a:tc>
              </a:tr>
              <a:tr h="0">
                <a:tc>
                  <a:txBody>
                    <a:bodyPr/>
                    <a:lstStyle/>
                    <a:p>
                      <a:pPr lvl="0" indent="0" marL="0">
                        <a:buNone/>
                      </a:pPr>
                      <a:r>
                        <a:rPr>
                          <a:latin typeface="Courier"/>
                        </a:rPr>
                        <a:t>Ctrl+L</a:t>
                      </a:r>
                    </a:p>
                  </a:txBody>
                </a:tc>
                <a:tc>
                  <a:txBody>
                    <a:bodyPr/>
                    <a:lstStyle/>
                    <a:p>
                      <a:pPr lvl="0" indent="0" marL="0">
                        <a:buNone/>
                      </a:pPr>
                      <a:r>
                        <a:rPr/>
                        <a:t>Effacer l’écran terminal</a:t>
                      </a:r>
                    </a:p>
                  </a:txBody>
                </a:tc>
              </a:tr>
              <a:tr h="0">
                <a:tc>
                  <a:txBody>
                    <a:bodyPr/>
                    <a:lstStyle/>
                    <a:p>
                      <a:pPr lvl="0" indent="0" marL="0">
                        <a:buNone/>
                      </a:pPr>
                      <a:r>
                        <a:rPr>
                          <a:latin typeface="Courier"/>
                        </a:rPr>
                        <a:t>Ctrl+O</a:t>
                      </a:r>
                    </a:p>
                  </a:txBody>
                </a:tc>
                <a:tc>
                  <a:txBody>
                    <a:bodyPr/>
                    <a:lstStyle/>
                    <a:p>
                      <a:pPr lvl="0" indent="0" marL="0">
                        <a:buNone/>
                      </a:pPr>
                      <a:r>
                        <a:rPr/>
                        <a:t>Basculer le mode verbose (voir les détails)</a:t>
                      </a:r>
                    </a:p>
                  </a:txBody>
                </a:tc>
              </a:tr>
              <a:tr h="0">
                <a:tc>
                  <a:txBody>
                    <a:bodyPr/>
                    <a:lstStyle/>
                    <a:p>
                      <a:pPr lvl="0" indent="0" marL="0">
                        <a:buNone/>
                      </a:pPr>
                      <a:r>
                        <a:rPr>
                          <a:latin typeface="Courier"/>
                        </a:rPr>
                        <a:t>Esc</a:t>
                      </a:r>
                      <a:r>
                        <a:rPr/>
                        <a:t> + </a:t>
                      </a:r>
                      <a:r>
                        <a:rPr>
                          <a:latin typeface="Courier"/>
                        </a:rPr>
                        <a:t>Esc</a:t>
                      </a:r>
                    </a:p>
                  </a:txBody>
                </a:tc>
                <a:tc>
                  <a:txBody>
                    <a:bodyPr/>
                    <a:lstStyle/>
                    <a:p>
                      <a:pPr lvl="0" indent="0" marL="0">
                        <a:buNone/>
                      </a:pPr>
                      <a:r>
                        <a:rPr/>
                        <a:t>Rewind rapide (revenir en arrière)</a:t>
                      </a:r>
                    </a:p>
                  </a:txBody>
                </a:tc>
              </a:tr>
            </a:tbl>
          </a:graphicData>
        </a:graphic>
      </p:graphicFrame>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latin typeface="Courier"/>
              </a:rPr>
              <a:t>Ctrl+C</a:t>
            </a:r>
            <a:r>
              <a:rPr b="1"/>
              <a:t> - Annuler :</a:t>
            </a:r>
            <a:r>
              <a:rPr/>
              <a:t> Interrompt ce que Claude est en train de faire. Utile si : - Claude part dans une mauvaise direction - Une opération prend trop de temps - Vous voulez reformuler votre demande</a:t>
            </a:r>
          </a:p>
          <a:p>
            <a:pPr lvl="0" indent="0" marL="0">
              <a:buNone/>
            </a:pPr>
            <a:r>
              <a:rPr b="1">
                <a:latin typeface="Courier"/>
              </a:rPr>
              <a:t>Ctrl+O</a:t>
            </a:r>
            <a:r>
              <a:rPr b="1"/>
              <a:t> - Mode verbose :</a:t>
            </a:r>
            <a:r>
              <a:rPr/>
              <a:t> Active/désactive l’affichage détaillé des opérations. En mode verbose, vous voyez : - Les outils appelés - Les paramètres utilisés - Les temps d’exécution</a:t>
            </a:r>
          </a:p>
          <a:p>
            <a:pPr lvl="0" indent="0" marL="0">
              <a:spcBef>
                <a:spcPts val="3000"/>
              </a:spcBef>
              <a:buNone/>
            </a:pPr>
            <a:r>
              <a:rPr b="1"/>
              <a:t>6.2 Édition de texte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Raccourci</a:t>
                      </a:r>
                    </a:p>
                  </a:txBody>
                  <a:tcPr/>
                </a:tc>
                <a:tc>
                  <a:txBody>
                    <a:bodyPr/>
                    <a:lstStyle/>
                    <a:p>
                      <a:pPr lvl="0" indent="0" marL="0">
                        <a:buNone/>
                      </a:pPr>
                      <a:r>
                        <a:rPr/>
                        <a:t>Action</a:t>
                      </a:r>
                    </a:p>
                  </a:txBody>
                  <a:tcPr/>
                </a:tc>
              </a:tr>
              <a:tr h="0">
                <a:tc>
                  <a:txBody>
                    <a:bodyPr/>
                    <a:lstStyle/>
                    <a:p>
                      <a:pPr lvl="0" indent="0" marL="0">
                        <a:buNone/>
                      </a:pPr>
                      <a:r>
                        <a:rPr>
                          <a:latin typeface="Courier"/>
                        </a:rPr>
                        <a:t>Ctrl+K</a:t>
                      </a:r>
                    </a:p>
                  </a:txBody>
                </a:tc>
                <a:tc>
                  <a:txBody>
                    <a:bodyPr/>
                    <a:lstStyle/>
                    <a:p>
                      <a:pPr lvl="0" indent="0" marL="0">
                        <a:buNone/>
                      </a:pPr>
                      <a:r>
                        <a:rPr/>
                        <a:t>Supprimer du curseur jusqu’à la fin de ligne</a:t>
                      </a:r>
                    </a:p>
                  </a:txBody>
                </a:tc>
              </a:tr>
              <a:tr h="0">
                <a:tc>
                  <a:txBody>
                    <a:bodyPr/>
                    <a:lstStyle/>
                    <a:p>
                      <a:pPr lvl="0" indent="0" marL="0">
                        <a:buNone/>
                      </a:pPr>
                      <a:r>
                        <a:rPr>
                          <a:latin typeface="Courier"/>
                        </a:rPr>
                        <a:t>Ctrl+U</a:t>
                      </a:r>
                    </a:p>
                  </a:txBody>
                </a:tc>
                <a:tc>
                  <a:txBody>
                    <a:bodyPr/>
                    <a:lstStyle/>
                    <a:p>
                      <a:pPr lvl="0" indent="0" marL="0">
                        <a:buNone/>
                      </a:pPr>
                      <a:r>
                        <a:rPr/>
                        <a:t>Supprimer la ligne entière</a:t>
                      </a:r>
                    </a:p>
                  </a:txBody>
                </a:tc>
              </a:tr>
              <a:tr h="0">
                <a:tc>
                  <a:txBody>
                    <a:bodyPr/>
                    <a:lstStyle/>
                    <a:p>
                      <a:pPr lvl="0" indent="0" marL="0">
                        <a:buNone/>
                      </a:pPr>
                      <a:r>
                        <a:rPr>
                          <a:latin typeface="Courier"/>
                        </a:rPr>
                        <a:t>\</a:t>
                      </a:r>
                      <a:r>
                        <a:rPr/>
                        <a:t> + </a:t>
                      </a:r>
                      <a:r>
                        <a:rPr>
                          <a:latin typeface="Courier"/>
                        </a:rPr>
                        <a:t>Enter</a:t>
                      </a:r>
                    </a:p>
                  </a:txBody>
                </a:tc>
                <a:tc>
                  <a:txBody>
                    <a:bodyPr/>
                    <a:lstStyle/>
                    <a:p>
                      <a:pPr lvl="0" indent="0" marL="0">
                        <a:buNone/>
                      </a:pPr>
                      <a:r>
                        <a:rPr/>
                        <a:t>Saut de ligne (multiline)</a:t>
                      </a:r>
                    </a:p>
                  </a:txBody>
                </a:tc>
              </a:tr>
              <a:tr h="0">
                <a:tc>
                  <a:txBody>
                    <a:bodyPr/>
                    <a:lstStyle/>
                    <a:p>
                      <a:pPr lvl="0" indent="0" marL="0">
                        <a:buNone/>
                      </a:pPr>
                      <a:r>
                        <a:rPr>
                          <a:latin typeface="Courier"/>
                        </a:rPr>
                        <a:t>Option+Enter</a:t>
                      </a:r>
                    </a:p>
                  </a:txBody>
                </a:tc>
                <a:tc>
                  <a:txBody>
                    <a:bodyPr/>
                    <a:lstStyle/>
                    <a:p>
                      <a:pPr lvl="0" indent="0" marL="0">
                        <a:buNone/>
                      </a:pPr>
                      <a:r>
                        <a:rPr/>
                        <a:t>Saut de ligne (macOS)</a:t>
                      </a:r>
                    </a:p>
                  </a:txBody>
                </a:tc>
              </a:tr>
            </a:tbl>
          </a:graphicData>
        </a:graphic>
      </p:graphicFrame>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Écrire des prompts multilignes :</a:t>
            </a:r>
          </a:p>
          <a:p>
            <a:pPr lvl="0" indent="0">
              <a:buNone/>
            </a:pPr>
            <a:r>
              <a:rPr>
                <a:latin typeface="Courier"/>
              </a:rPr>
              <a:t>&gt; Voici mon prompt sur \
  plusieurs lignes \
  qui forme un seul message</a:t>
            </a:r>
          </a:p>
          <a:p>
            <a:pPr lvl="0" indent="0" marL="0">
              <a:buNone/>
            </a:pPr>
            <a:r>
              <a:rPr/>
              <a:t>Ou utilisez </a:t>
            </a:r>
            <a:r>
              <a:rPr>
                <a:latin typeface="Courier"/>
              </a:rPr>
              <a:t>Option+Enter</a:t>
            </a:r>
            <a:r>
              <a:rPr/>
              <a:t> (Mac) / </a:t>
            </a:r>
            <a:r>
              <a:rPr>
                <a:latin typeface="Courier"/>
              </a:rPr>
              <a:t>Alt+Enter</a:t>
            </a:r>
            <a:r>
              <a:rPr/>
              <a:t> (Linux/Windows).</a:t>
            </a:r>
          </a:p>
          <a:p>
            <a:pPr lvl="0" indent="0" marL="0">
              <a:spcBef>
                <a:spcPts val="3000"/>
              </a:spcBef>
              <a:buNone/>
            </a:pPr>
            <a:r>
              <a:rPr b="1"/>
              <a:t>6.3 Navigation et modèles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Raccourci</a:t>
                      </a:r>
                    </a:p>
                  </a:txBody>
                  <a:tcPr/>
                </a:tc>
                <a:tc>
                  <a:txBody>
                    <a:bodyPr/>
                    <a:lstStyle/>
                    <a:p>
                      <a:pPr lvl="0" indent="0" marL="0">
                        <a:buNone/>
                      </a:pPr>
                      <a:r>
                        <a:rPr/>
                        <a:t>Action</a:t>
                      </a:r>
                    </a:p>
                  </a:txBody>
                  <a:tcPr/>
                </a:tc>
              </a:tr>
              <a:tr h="0">
                <a:tc>
                  <a:txBody>
                    <a:bodyPr/>
                    <a:lstStyle/>
                    <a:p>
                      <a:pPr lvl="0" indent="0" marL="0">
                        <a:buNone/>
                      </a:pPr>
                      <a:r>
                        <a:rPr>
                          <a:latin typeface="Courier"/>
                        </a:rPr>
                        <a:t>Shift+Tab</a:t>
                      </a:r>
                    </a:p>
                  </a:txBody>
                </a:tc>
                <a:tc>
                  <a:txBody>
                    <a:bodyPr/>
                    <a:lstStyle/>
                    <a:p>
                      <a:pPr lvl="0" indent="0" marL="0">
                        <a:buNone/>
                      </a:pPr>
                      <a:r>
                        <a:rPr/>
                        <a:t>Basculer les modes de permission</a:t>
                      </a:r>
                    </a:p>
                  </a:txBody>
                </a:tc>
              </a:tr>
              <a:tr h="0">
                <a:tc>
                  <a:txBody>
                    <a:bodyPr/>
                    <a:lstStyle/>
                    <a:p>
                      <a:pPr lvl="0" indent="0" marL="0">
                        <a:buNone/>
                      </a:pPr>
                      <a:r>
                        <a:rPr>
                          <a:latin typeface="Courier"/>
                        </a:rPr>
                        <a:t>Option+P</a:t>
                      </a:r>
                      <a:r>
                        <a:rPr/>
                        <a:t> / </a:t>
                      </a:r>
                      <a:r>
                        <a:rPr>
                          <a:latin typeface="Courier"/>
                        </a:rPr>
                        <a:t>Alt+P</a:t>
                      </a:r>
                    </a:p>
                  </a:txBody>
                </a:tc>
                <a:tc>
                  <a:txBody>
                    <a:bodyPr/>
                    <a:lstStyle/>
                    <a:p>
                      <a:pPr lvl="0" indent="0" marL="0">
                        <a:buNone/>
                      </a:pPr>
                      <a:r>
                        <a:rPr/>
                        <a:t>Changer de modèle rapidement</a:t>
                      </a:r>
                    </a:p>
                  </a:txBody>
                </a:tc>
              </a:tr>
              <a:tr h="0">
                <a:tc>
                  <a:txBody>
                    <a:bodyPr/>
                    <a:lstStyle/>
                    <a:p>
                      <a:pPr lvl="0" indent="0" marL="0">
                        <a:buNone/>
                      </a:pPr>
                      <a:r>
                        <a:rPr>
                          <a:latin typeface="Courier"/>
                        </a:rPr>
                        <a:t>Option+T</a:t>
                      </a:r>
                      <a:r>
                        <a:rPr/>
                        <a:t> / </a:t>
                      </a:r>
                      <a:r>
                        <a:rPr>
                          <a:latin typeface="Courier"/>
                        </a:rPr>
                        <a:t>Alt+T</a:t>
                      </a:r>
                    </a:p>
                  </a:txBody>
                </a:tc>
                <a:tc>
                  <a:txBody>
                    <a:bodyPr/>
                    <a:lstStyle/>
                    <a:p>
                      <a:pPr lvl="0" indent="0" marL="0">
                        <a:buNone/>
                      </a:pPr>
                      <a:r>
                        <a:rPr/>
                        <a:t>Basculer Extended Thinking</a:t>
                      </a:r>
                    </a:p>
                  </a:txBody>
                </a:tc>
              </a:tr>
              <a:tr h="0">
                <a:tc>
                  <a:txBody>
                    <a:bodyPr/>
                    <a:lstStyle/>
                    <a:p>
                      <a:pPr lvl="0" indent="0" marL="0">
                        <a:buNone/>
                      </a:pPr>
                      <a:r>
                        <a:rPr>
                          <a:latin typeface="Courier"/>
                        </a:rPr>
                        <a:t>Ctrl+B</a:t>
                      </a:r>
                    </a:p>
                  </a:txBody>
                </a:tc>
                <a:tc>
                  <a:txBody>
                    <a:bodyPr/>
                    <a:lstStyle/>
                    <a:p>
                      <a:pPr lvl="0" indent="0" marL="0">
                        <a:buNone/>
                      </a:pPr>
                      <a:r>
                        <a:rPr/>
                        <a:t>Voir les tâches en arrière-plan</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latin typeface="Courier"/>
              </a:rPr>
              <a:t>Shift+Tab</a:t>
            </a:r>
            <a:r>
              <a:rPr b="1"/>
              <a:t> - Modes de permission :</a:t>
            </a:r>
            <a:r>
              <a:rPr/>
              <a:t> Cycle entre : default → acceptEdits → plan → default</a:t>
            </a:r>
          </a:p>
          <a:p>
            <a:pPr lvl="0" indent="0" marL="0">
              <a:buNone/>
            </a:pPr>
            <a:r>
              <a:rPr b="1">
                <a:latin typeface="Courier"/>
              </a:rPr>
              <a:t>Option+P</a:t>
            </a:r>
            <a:r>
              <a:rPr b="1"/>
              <a:t> - Changer de modèle :</a:t>
            </a:r>
            <a:r>
              <a:rPr/>
              <a:t> Cycle entre : sonnet → opus → haiku → sonnet</a:t>
            </a:r>
          </a:p>
          <a:p>
            <a:pPr lvl="0" indent="0" marL="0">
              <a:spcBef>
                <a:spcPts val="3000"/>
              </a:spcBef>
              <a:buNone/>
            </a:pPr>
            <a:r>
              <a:rPr b="1"/>
              <a:t>6.4 Raccourcis spéciaux</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Raccourci</a:t>
                      </a:r>
                    </a:p>
                  </a:txBody>
                  <a:tcPr/>
                </a:tc>
                <a:tc>
                  <a:txBody>
                    <a:bodyPr/>
                    <a:lstStyle/>
                    <a:p>
                      <a:pPr lvl="0" indent="0" marL="0">
                        <a:buNone/>
                      </a:pPr>
                      <a:r>
                        <a:rPr/>
                        <a:t>Action</a:t>
                      </a:r>
                    </a:p>
                  </a:txBody>
                  <a:tcPr/>
                </a:tc>
              </a:tr>
              <a:tr h="0">
                <a:tc>
                  <a:txBody>
                    <a:bodyPr/>
                    <a:lstStyle/>
                    <a:p>
                      <a:pPr lvl="0" indent="0" marL="0">
                        <a:buNone/>
                      </a:pPr>
                      <a:r>
                        <a:rPr>
                          <a:latin typeface="Courier"/>
                        </a:rPr>
                        <a:t>/</a:t>
                      </a:r>
                    </a:p>
                  </a:txBody>
                </a:tc>
                <a:tc>
                  <a:txBody>
                    <a:bodyPr/>
                    <a:lstStyle/>
                    <a:p>
                      <a:pPr lvl="0" indent="0" marL="0">
                        <a:buNone/>
                      </a:pPr>
                      <a:r>
                        <a:rPr/>
                        <a:t>Démarrer une slash command</a:t>
                      </a:r>
                    </a:p>
                  </a:txBody>
                </a:tc>
              </a:tr>
              <a:tr h="0">
                <a:tc>
                  <a:txBody>
                    <a:bodyPr/>
                    <a:lstStyle/>
                    <a:p>
                      <a:pPr lvl="0" indent="0" marL="0">
                        <a:buNone/>
                      </a:pPr>
                      <a:r>
                        <a:rPr>
                          <a:latin typeface="Courier"/>
                        </a:rPr>
                        <a:t>!</a:t>
                      </a:r>
                    </a:p>
                  </a:txBody>
                </a:tc>
                <a:tc>
                  <a:txBody>
                    <a:bodyPr/>
                    <a:lstStyle/>
                    <a:p>
                      <a:pPr lvl="0" indent="0" marL="0">
                        <a:buNone/>
                      </a:pPr>
                      <a:r>
                        <a:rPr/>
                        <a:t>Mode Bash direct</a:t>
                      </a:r>
                    </a:p>
                  </a:txBody>
                </a:tc>
              </a:tr>
              <a:tr h="0">
                <a:tc>
                  <a:txBody>
                    <a:bodyPr/>
                    <a:lstStyle/>
                    <a:p>
                      <a:pPr lvl="0" indent="0" marL="0">
                        <a:buNone/>
                      </a:pPr>
                      <a:r>
                        <a:rPr>
                          <a:latin typeface="Courier"/>
                        </a:rPr>
                        <a:t>@</a:t>
                      </a:r>
                    </a:p>
                  </a:txBody>
                </a:tc>
                <a:tc>
                  <a:txBody>
                    <a:bodyPr/>
                    <a:lstStyle/>
                    <a:p>
                      <a:pPr lvl="0" indent="0" marL="0">
                        <a:buNone/>
                      </a:pPr>
                      <a:r>
                        <a:rPr/>
                        <a:t>Autocomplete fichiers</a:t>
                      </a:r>
                    </a:p>
                  </a:txBody>
                </a:tc>
              </a:tr>
              <a:tr h="0">
                <a:tc>
                  <a:txBody>
                    <a:bodyPr/>
                    <a:lstStyle/>
                    <a:p>
                      <a:pPr lvl="0" indent="0" marL="0">
                        <a:buNone/>
                      </a:pPr>
                      <a:r>
                        <a:rPr>
                          <a:latin typeface="Courier"/>
                        </a:rPr>
                        <a:t>Tab</a:t>
                      </a:r>
                    </a:p>
                  </a:txBody>
                </a:tc>
                <a:tc>
                  <a:txBody>
                    <a:bodyPr/>
                    <a:lstStyle/>
                    <a:p>
                      <a:pPr lvl="0" indent="0" marL="0">
                        <a:buNone/>
                      </a:pPr>
                      <a:r>
                        <a:rPr/>
                        <a:t>Accepter les suggestions</a:t>
                      </a:r>
                    </a:p>
                  </a:txBody>
                </a:tc>
              </a:tr>
            </a:tbl>
          </a:graphicData>
        </a:graphic>
      </p:graphicFrame>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latin typeface="Courier"/>
              </a:rPr>
              <a:t>!</a:t>
            </a:r>
            <a:r>
              <a:rPr b="1"/>
              <a:t> - Mode Bash direct :</a:t>
            </a:r>
          </a:p>
          <a:p>
            <a:pPr lvl="0" indent="0">
              <a:buNone/>
            </a:pPr>
            <a:r>
              <a:rPr>
                <a:latin typeface="Courier"/>
              </a:rPr>
              <a:t>&gt; !git status</a:t>
            </a:r>
          </a:p>
          <a:p>
            <a:pPr lvl="0" indent="0" marL="0">
              <a:buNone/>
            </a:pPr>
            <a:r>
              <a:rPr/>
              <a:t>Exécute directement la commande sans demander à Claude.</a:t>
            </a:r>
          </a:p>
          <a:p>
            <a:pPr lvl="0" indent="0" marL="0">
              <a:buNone/>
            </a:pPr>
            <a:r>
              <a:rPr b="1">
                <a:latin typeface="Courier"/>
              </a:rPr>
              <a:t>@</a:t>
            </a:r>
            <a:r>
              <a:rPr b="1"/>
              <a:t> - Référencer des fichiers :</a:t>
            </a:r>
          </a:p>
          <a:p>
            <a:pPr lvl="0" indent="0">
              <a:buNone/>
            </a:pPr>
            <a:r>
              <a:rPr>
                <a:latin typeface="Courier"/>
              </a:rPr>
              <a:t>&gt; Regarde @src/api/auth.ts et optimise les imports</a:t>
            </a:r>
          </a:p>
          <a:p>
            <a:pPr lvl="0" indent="0" marL="0">
              <a:buNone/>
            </a:pPr>
            <a:r>
              <a:rPr/>
              <a:t>L’autocomplétion propose les fichiers du projet.</a:t>
            </a:r>
          </a:p>
          <a:p>
            <a:pPr lvl="0" indent="0" marL="0">
              <a:buNone/>
            </a:pPr>
            <a:r>
              <a:rPr b="1"/>
              <a:t>Exercice pratique :</a:t>
            </a:r>
          </a:p>
          <a:p>
            <a:pPr lvl="0" indent="-342900" marL="342900">
              <a:buAutoNum type="arabicPeriod"/>
            </a:pPr>
            <a:r>
              <a:rPr/>
              <a:t>Pratiquez </a:t>
            </a:r>
            <a:r>
              <a:rPr>
                <a:latin typeface="Courier"/>
              </a:rPr>
              <a:t>Ctrl+C</a:t>
            </a:r>
            <a:r>
              <a:rPr/>
              <a:t> pour interrompre Claude</a:t>
            </a:r>
          </a:p>
          <a:p>
            <a:pPr lvl="0" indent="-342900" marL="342900">
              <a:buAutoNum type="arabicPeriod"/>
            </a:pPr>
            <a:r>
              <a:rPr/>
              <a:t>Écrivez un prompt multiline avec </a:t>
            </a:r>
            <a:r>
              <a:rPr>
                <a:latin typeface="Courier"/>
              </a:rPr>
              <a:t>\</a:t>
            </a:r>
            <a:r>
              <a:rPr/>
              <a:t> + </a:t>
            </a:r>
            <a:r>
              <a:rPr>
                <a:latin typeface="Courier"/>
              </a:rPr>
              <a:t>Enter</a:t>
            </a:r>
          </a:p>
          <a:p>
            <a:pPr lvl="0" indent="-342900" marL="342900">
              <a:buAutoNum type="arabicPeriod"/>
            </a:pPr>
            <a:r>
              <a:rPr/>
              <a:t>Changez de modèle avec </a:t>
            </a:r>
            <a:r>
              <a:rPr>
                <a:latin typeface="Courier"/>
              </a:rPr>
              <a:t>Option+P</a:t>
            </a:r>
          </a:p>
          <a:p>
            <a:pPr lvl="0" indent="-342900" marL="342900">
              <a:buAutoNum type="arabicPeriod"/>
            </a:pPr>
            <a:r>
              <a:rPr/>
              <a:t>Utilisez </a:t>
            </a:r>
            <a:r>
              <a:rPr>
                <a:latin typeface="Courier"/>
              </a:rPr>
              <a:t>@</a:t>
            </a:r>
            <a:r>
              <a:rPr/>
              <a:t> pour référencer un fichier</a:t>
            </a:r>
          </a:p>
          <a:p>
            <a:pPr lvl="0" indent="-342900" marL="342900">
              <a:buAutoNum type="arabicPeriod"/>
            </a:pPr>
            <a:r>
              <a:rPr/>
              <a:t>Essayez le mode Bash direct avec </a:t>
            </a:r>
            <a:r>
              <a:rPr>
                <a:latin typeface="Courier"/>
              </a:rPr>
              <a:t>!ls -la</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Module 7 : Ajouter du contexte à Claude Code (30 min)</a:t>
            </a:r>
          </a:p>
          <a:p>
            <a:pPr lvl="0" indent="0" marL="0">
              <a:buNone/>
            </a:pPr>
            <a:r>
              <a:rPr b="1"/>
              <a:t>Objectif pédagogique</a:t>
            </a:r>
            <a:r>
              <a:rPr/>
              <a:t> : À l’issue de ce module, l’apprenant sera capable de fournir du contexte efficacement à Claude Code via les @mentions, le copier-coller, les images et URLs, et de créer un fichier CLAUDE.md pour persister les informations projet.</a:t>
            </a:r>
          </a:p>
          <a:p>
            <a:pPr lvl="0" indent="0" marL="0">
              <a:spcBef>
                <a:spcPts val="3000"/>
              </a:spcBef>
              <a:buNone/>
            </a:pPr>
            <a:r>
              <a:rPr b="1"/>
              <a:t>7.1 Pourquoi le contexte est crucial</a:t>
            </a:r>
          </a:p>
          <a:p>
            <a:pPr lvl="0" indent="0" marL="0">
              <a:buNone/>
            </a:pPr>
            <a:r>
              <a:rPr/>
              <a:t>Claude Code ne connaît pas votre projet par défaut. Il doit : - Lire les fichiers pour comprendre - Inférer les conventions - Deviner votre stack technique</a:t>
            </a:r>
          </a:p>
          <a:p>
            <a:pPr lvl="0" indent="0" marL="0">
              <a:buNone/>
            </a:pPr>
            <a:r>
              <a:rPr b="1"/>
              <a:t>Plus de contexte = meilleures réponses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Contexte fourni</a:t>
                      </a:r>
                    </a:p>
                  </a:txBody>
                  <a:tcPr/>
                </a:tc>
                <a:tc>
                  <a:txBody>
                    <a:bodyPr/>
                    <a:lstStyle/>
                    <a:p>
                      <a:pPr lvl="0" indent="0" marL="0">
                        <a:buNone/>
                      </a:pPr>
                      <a:r>
                        <a:rPr/>
                        <a:t>Qualité réponse</a:t>
                      </a:r>
                    </a:p>
                  </a:txBody>
                  <a:tcPr/>
                </a:tc>
              </a:tr>
              <a:tr h="0">
                <a:tc>
                  <a:txBody>
                    <a:bodyPr/>
                    <a:lstStyle/>
                    <a:p>
                      <a:pPr lvl="0" indent="0" marL="0">
                        <a:buNone/>
                      </a:pPr>
                      <a:r>
                        <a:rPr/>
                        <a:t>“Corrige ce bug”</a:t>
                      </a:r>
                    </a:p>
                  </a:txBody>
                </a:tc>
                <a:tc>
                  <a:txBody>
                    <a:bodyPr/>
                    <a:lstStyle/>
                    <a:p>
                      <a:pPr lvl="0" indent="0" marL="0">
                        <a:buNone/>
                      </a:pPr>
                      <a:r>
                        <a:rPr/>
                        <a:t>⭐ Vague</a:t>
                      </a:r>
                    </a:p>
                  </a:txBody>
                </a:tc>
              </a:tr>
              <a:tr h="0">
                <a:tc>
                  <a:txBody>
                    <a:bodyPr/>
                    <a:lstStyle/>
                    <a:p>
                      <a:pPr lvl="0" indent="0" marL="0">
                        <a:buNone/>
                      </a:pPr>
                      <a:r>
                        <a:rPr/>
                        <a:t>“Corrige le bug dans auth.ts”</a:t>
                      </a:r>
                    </a:p>
                  </a:txBody>
                </a:tc>
                <a:tc>
                  <a:txBody>
                    <a:bodyPr/>
                    <a:lstStyle/>
                    <a:p>
                      <a:pPr lvl="0" indent="0" marL="0">
                        <a:buNone/>
                      </a:pPr>
                      <a:r>
                        <a:rPr/>
                        <a:t>⭐⭐ Mieux</a:t>
                      </a:r>
                    </a:p>
                  </a:txBody>
                </a:tc>
              </a:tr>
              <a:tr h="0">
                <a:tc>
                  <a:txBody>
                    <a:bodyPr/>
                    <a:lstStyle/>
                    <a:p>
                      <a:pPr lvl="0" indent="0" marL="0">
                        <a:buNone/>
                      </a:pPr>
                      <a:r>
                        <a:rPr/>
                        <a:t>“Corrige le bug ligne 45 de auth.ts, voici l’erreur: …”</a:t>
                      </a:r>
                    </a:p>
                  </a:txBody>
                </a:tc>
                <a:tc>
                  <a:txBody>
                    <a:bodyPr/>
                    <a:lstStyle/>
                    <a:p>
                      <a:pPr lvl="0" indent="0" marL="0">
                        <a:buNone/>
                      </a:pPr>
                      <a:r>
                        <a:rPr/>
                        <a:t>⭐⭐⭐ Bon</a:t>
                      </a:r>
                    </a:p>
                  </a:txBody>
                </a:tc>
              </a:tr>
              <a:tr h="0">
                <a:tc>
                  <a:txBody>
                    <a:bodyPr/>
                    <a:lstStyle/>
                    <a:p>
                      <a:pPr lvl="0" indent="0" marL="0">
                        <a:buNone/>
                      </a:pPr>
                      <a:r>
                        <a:rPr/>
                        <a:t>Contexte + CLAUDE.md + stack connue</a:t>
                      </a:r>
                    </a:p>
                  </a:txBody>
                </a:tc>
                <a:tc>
                  <a:txBody>
                    <a:bodyPr/>
                    <a:lstStyle/>
                    <a:p>
                      <a:pPr lvl="0" indent="0" marL="0">
                        <a:buNone/>
                      </a:pPr>
                      <a:r>
                        <a:rPr/>
                        <a:t>⭐⭐⭐⭐⭐ Excellent</a:t>
                      </a:r>
                    </a:p>
                  </a:txBody>
                </a:tc>
              </a:tr>
            </a:tbl>
          </a:graphicData>
        </a:graphic>
      </p:graphicFrame>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Équilibre contexte / coût :</a:t>
            </a:r>
            <a:r>
              <a:rPr/>
              <a:t> - Plus de contexte = plus de tokens = plus cher - Trop de contexte = noise, réponses moins précises - Juste assez de contexte = optimal</a:t>
            </a:r>
          </a:p>
          <a:p>
            <a:pPr lvl="0" indent="0" marL="0">
              <a:spcBef>
                <a:spcPts val="3000"/>
              </a:spcBef>
              <a:buNone/>
            </a:pPr>
            <a:r>
              <a:rPr b="1"/>
              <a:t>7.2 Méthodes pour ajouter du contexte</a:t>
            </a:r>
          </a:p>
          <a:p>
            <a:pPr lvl="0" indent="0" marL="0">
              <a:spcBef>
                <a:spcPts val="3000"/>
              </a:spcBef>
              <a:buNone/>
            </a:pPr>
            <a:r>
              <a:rPr b="1"/>
              <a:t>@mentions : Référencer des fichiers spécifiques</a:t>
            </a:r>
          </a:p>
          <a:p>
            <a:pPr lvl="0" indent="0">
              <a:buNone/>
            </a:pPr>
            <a:r>
              <a:rPr>
                <a:latin typeface="Courier"/>
              </a:rPr>
              <a:t>&gt; Regarde @src/api/auth.ts et @src/types/user.ts
&gt; puis explique le flow d'authentification</a:t>
            </a:r>
          </a:p>
          <a:p>
            <a:pPr lvl="0" indent="0" marL="0">
              <a:buNone/>
            </a:pPr>
            <a:r>
              <a:rPr/>
              <a:t>L’autocomplétion aide à trouver les fichiers.</a:t>
            </a:r>
          </a:p>
          <a:p>
            <a:pPr lvl="0" indent="0" marL="0">
              <a:spcBef>
                <a:spcPts val="3000"/>
              </a:spcBef>
              <a:buNone/>
            </a:pPr>
            <a:r>
              <a:rPr b="1"/>
              <a:t>Copier-coller : Code ou logs</a:t>
            </a:r>
          </a:p>
          <a:p>
            <a:pPr lvl="0" indent="0">
              <a:buNone/>
            </a:pPr>
            <a:r>
              <a:rPr>
                <a:latin typeface="Courier"/>
              </a:rPr>
              <a:t>&gt; Voici l'erreur que j'obtiens :
TypeError: Cannot read properties of undefined (reading 'map')
    at UserList.tsx:24
    at Array.map (&lt;anonymous&gt;)
    ...
Trouve et corrige le problème.</a:t>
            </a:r>
          </a:p>
          <a:p>
            <a:pPr lvl="0" indent="0" marL="0">
              <a:spcBef>
                <a:spcPts val="3000"/>
              </a:spcBef>
              <a:buNone/>
            </a:pPr>
            <a:r>
              <a:rPr b="1"/>
              <a:t>Images : Screenshots</a:t>
            </a:r>
          </a:p>
          <a:p>
            <a:pPr lvl="0" indent="0" marL="0">
              <a:buNone/>
            </a:pPr>
            <a:r>
              <a:rPr/>
              <a:t>Collez directement une image dans le terminal : - Screenshots d’erreurs - Maquettes UI - Diagrammes d’architecture</a:t>
            </a:r>
          </a:p>
          <a:p>
            <a:pPr lvl="0" indent="0" marL="0">
              <a:buNone/>
            </a:pPr>
            <a:r>
              <a:rPr/>
              <a:t>Claude peut analyser les images et comprendre le contexte visuel.</a:t>
            </a:r>
          </a:p>
          <a:p>
            <a:pPr lvl="0" indent="0" marL="0">
              <a:spcBef>
                <a:spcPts val="3000"/>
              </a:spcBef>
              <a:buNone/>
            </a:pPr>
            <a:r>
              <a:rPr b="1"/>
              <a:t>URLs : Documentation</a:t>
            </a:r>
          </a:p>
          <a:p>
            <a:pPr lvl="0" indent="0">
              <a:buNone/>
            </a:pPr>
            <a:r>
              <a:rPr>
                <a:latin typeface="Courier"/>
              </a:rPr>
              <a:t>&gt; Voici la documentation de l'API que je dois intégrer :
&gt; https://api.example.com/docs
&gt; Implémente un client Go pour cette API.</a:t>
            </a:r>
          </a:p>
          <a:p>
            <a:pPr lvl="0" indent="0" marL="0">
              <a:spcBef>
                <a:spcPts val="3000"/>
              </a:spcBef>
              <a:buNone/>
            </a:pPr>
            <a:r>
              <a:rPr b="1"/>
              <a:t>7.3 Contexte persistant avec CLAUDE.md</a:t>
            </a:r>
          </a:p>
          <a:p>
            <a:pPr lvl="0" indent="0" marL="0">
              <a:buNone/>
            </a:pPr>
            <a:r>
              <a:rPr/>
              <a:t>Le fichier </a:t>
            </a:r>
            <a:r>
              <a:rPr>
                <a:latin typeface="Courier"/>
              </a:rPr>
              <a:t>CLAUDE.md</a:t>
            </a:r>
            <a:r>
              <a:rPr/>
              <a:t> est la </a:t>
            </a:r>
            <a:r>
              <a:rPr b="1"/>
              <a:t>mémoire projet</a:t>
            </a:r>
            <a:r>
              <a:rPr/>
              <a:t> de Claude Code.</a:t>
            </a:r>
          </a:p>
          <a:p>
            <a:pPr lvl="0" indent="0" marL="0">
              <a:buNone/>
            </a:pPr>
            <a:r>
              <a:rPr b="1"/>
              <a:t>Créer un CLAUDE.md :</a:t>
            </a:r>
          </a:p>
          <a:p>
            <a:pPr lvl="0" indent="0">
              <a:buNone/>
            </a:pPr>
            <a:r>
              <a:rPr>
                <a:latin typeface="Courier"/>
              </a:rPr>
              <a:t>&gt; /init</a:t>
            </a:r>
          </a:p>
          <a:p>
            <a:pPr lvl="0" indent="0" marL="0">
              <a:buNone/>
            </a:pPr>
            <a:r>
              <a:rPr/>
              <a:t>Claude analyse votre projet et crée un CLAUDE.md initial.</a:t>
            </a:r>
          </a:p>
          <a:p>
            <a:pPr lvl="0" indent="0" marL="0">
              <a:buNone/>
            </a:pPr>
            <a:r>
              <a:rPr b="1"/>
              <a:t>Structure recommandée :</a:t>
            </a:r>
          </a:p>
          <a:p>
            <a:pPr lvl="0" indent="0">
              <a:buNone/>
            </a:pPr>
            <a:r>
              <a:rPr>
                <a:solidFill>
                  <a:srgbClr val="EFEF8F"/>
                </a:solidFill>
                <a:latin typeface="Courier"/>
              </a:rPr>
              <a:t># CLAUDE.md</a:t>
            </a:r>
            <a:br/>
            <a:br/>
            <a:r>
              <a:rPr>
                <a:solidFill>
                  <a:srgbClr val="EFEF8F"/>
                </a:solidFill>
                <a:latin typeface="Courier"/>
              </a:rPr>
              <a:t>## Projet</a:t>
            </a:r>
            <a:br/>
            <a:r>
              <a:rPr>
                <a:solidFill>
                  <a:srgbClr val="CCCCCC"/>
                </a:solidFill>
                <a:latin typeface="Courier"/>
              </a:rPr>
              <a:t>Application de gestion de tâches</a:t>
            </a:r>
            <a:br/>
            <a:br/>
            <a:r>
              <a:rPr>
                <a:solidFill>
                  <a:srgbClr val="EFEF8F"/>
                </a:solidFill>
                <a:latin typeface="Courier"/>
              </a:rPr>
              <a:t>## Stack technique</a:t>
            </a:r>
            <a:br/>
            <a:r>
              <a:rPr>
                <a:solidFill>
                  <a:srgbClr val="CC9393"/>
                </a:solidFill>
                <a:latin typeface="Courier"/>
              </a:rPr>
              <a:t>- </a:t>
            </a:r>
            <a:r>
              <a:rPr>
                <a:solidFill>
                  <a:srgbClr val="CCCCCC"/>
                </a:solidFill>
                <a:latin typeface="Courier"/>
              </a:rPr>
              <a:t>Backend: Go 1.21, Chi router, sqlc</a:t>
            </a:r>
            <a:br/>
            <a:r>
              <a:rPr>
                <a:solidFill>
                  <a:srgbClr val="CC9393"/>
                </a:solidFill>
                <a:latin typeface="Courier"/>
              </a:rPr>
              <a:t>- </a:t>
            </a:r>
            <a:r>
              <a:rPr>
                <a:solidFill>
                  <a:srgbClr val="CCCCCC"/>
                </a:solidFill>
                <a:latin typeface="Courier"/>
              </a:rPr>
              <a:t>Frontend: Angular 17, Tailwind CSS</a:t>
            </a:r>
            <a:br/>
            <a:r>
              <a:rPr>
                <a:solidFill>
                  <a:srgbClr val="CC9393"/>
                </a:solidFill>
                <a:latin typeface="Courier"/>
              </a:rPr>
              <a:t>- </a:t>
            </a:r>
            <a:r>
              <a:rPr>
                <a:solidFill>
                  <a:srgbClr val="CCCCCC"/>
                </a:solidFill>
                <a:latin typeface="Courier"/>
              </a:rPr>
              <a:t>Database: PostgreSQL 15</a:t>
            </a:r>
            <a:br/>
            <a:r>
              <a:rPr>
                <a:solidFill>
                  <a:srgbClr val="CC9393"/>
                </a:solidFill>
                <a:latin typeface="Courier"/>
              </a:rPr>
              <a:t>- </a:t>
            </a:r>
            <a:r>
              <a:rPr>
                <a:solidFill>
                  <a:srgbClr val="CCCCCC"/>
                </a:solidFill>
                <a:latin typeface="Courier"/>
              </a:rPr>
              <a:t>Déploiement: Azure Container Apps</a:t>
            </a:r>
            <a:br/>
            <a:br/>
            <a:r>
              <a:rPr>
                <a:solidFill>
                  <a:srgbClr val="EFEF8F"/>
                </a:solidFill>
                <a:latin typeface="Courier"/>
              </a:rPr>
              <a:t>## Conventions</a:t>
            </a:r>
            <a:br/>
            <a:r>
              <a:rPr>
                <a:solidFill>
                  <a:srgbClr val="CC9393"/>
                </a:solidFill>
                <a:latin typeface="Courier"/>
              </a:rPr>
              <a:t>- </a:t>
            </a:r>
            <a:r>
              <a:rPr>
                <a:solidFill>
                  <a:srgbClr val="CCCCCC"/>
                </a:solidFill>
                <a:latin typeface="Courier"/>
              </a:rPr>
              <a:t>Nommage Go : camelCase pour privé, PascalCase pour exporté</a:t>
            </a:r>
            <a:br/>
            <a:r>
              <a:rPr>
                <a:solidFill>
                  <a:srgbClr val="CC9393"/>
                </a:solidFill>
                <a:latin typeface="Courier"/>
              </a:rPr>
              <a:t>- </a:t>
            </a:r>
            <a:r>
              <a:rPr>
                <a:solidFill>
                  <a:srgbClr val="CCCCCC"/>
                </a:solidFill>
                <a:latin typeface="Courier"/>
              </a:rPr>
              <a:t>Tests : fichiers *_test.go dans le même package</a:t>
            </a:r>
            <a:br/>
            <a:r>
              <a:rPr>
                <a:solidFill>
                  <a:srgbClr val="CC9393"/>
                </a:solidFill>
                <a:latin typeface="Courier"/>
              </a:rPr>
              <a:t>- </a:t>
            </a:r>
            <a:r>
              <a:rPr>
                <a:solidFill>
                  <a:srgbClr val="CCCCCC"/>
                </a:solidFill>
                <a:latin typeface="Courier"/>
              </a:rPr>
              <a:t>API : REST, versioning via path (/api/v1/...)</a:t>
            </a:r>
            <a:br/>
            <a:br/>
            <a:r>
              <a:rPr>
                <a:solidFill>
                  <a:srgbClr val="EFEF8F"/>
                </a:solidFill>
                <a:latin typeface="Courier"/>
              </a:rPr>
              <a:t>## Architecture</a:t>
            </a:r>
            <a:br/>
            <a:r>
              <a:rPr>
                <a:solidFill>
                  <a:srgbClr val="CCCCCC"/>
                </a:solidFill>
                <a:latin typeface="Courier"/>
              </a:rPr>
              <a:t>/cmd/api        → Point d'entrée</a:t>
            </a:r>
            <a:br/>
            <a:r>
              <a:rPr>
                <a:solidFill>
                  <a:srgbClr val="CCCCCC"/>
                </a:solidFill>
                <a:latin typeface="Courier"/>
              </a:rPr>
              <a:t>/internal/api   → Handlers HTTP</a:t>
            </a:r>
            <a:br/>
            <a:r>
              <a:rPr>
                <a:solidFill>
                  <a:srgbClr val="CCCCCC"/>
                </a:solidFill>
                <a:latin typeface="Courier"/>
              </a:rPr>
              <a:t>/internal/db    → Couche base de données</a:t>
            </a:r>
            <a:br/>
            <a:r>
              <a:rPr>
                <a:solidFill>
                  <a:srgbClr val="CCCCCC"/>
                </a:solidFill>
                <a:latin typeface="Courier"/>
              </a:rPr>
              <a:t>/internal/domain → Logique métier</a:t>
            </a:r>
            <a:br/>
            <a:br/>
            <a:r>
              <a:rPr>
                <a:solidFill>
                  <a:srgbClr val="EFEF8F"/>
                </a:solidFill>
                <a:latin typeface="Courier"/>
              </a:rPr>
              <a:t>## Commandes utiles</a:t>
            </a:r>
            <a:br/>
            <a:r>
              <a:rPr>
                <a:solidFill>
                  <a:srgbClr val="CC9393"/>
                </a:solidFill>
                <a:latin typeface="Courier"/>
              </a:rPr>
              <a:t>- </a:t>
            </a:r>
            <a:r>
              <a:rPr b="1">
                <a:solidFill>
                  <a:srgbClr val="7F9F7F"/>
                </a:solidFill>
                <a:latin typeface="Courier"/>
              </a:rPr>
              <a:t>`make dev`</a:t>
            </a:r>
            <a:r>
              <a:rPr>
                <a:solidFill>
                  <a:srgbClr val="CCCCCC"/>
                </a:solidFill>
                <a:latin typeface="Courier"/>
              </a:rPr>
              <a:t> : Lancer en mode développement</a:t>
            </a:r>
            <a:br/>
            <a:r>
              <a:rPr>
                <a:solidFill>
                  <a:srgbClr val="CC9393"/>
                </a:solidFill>
                <a:latin typeface="Courier"/>
              </a:rPr>
              <a:t>- </a:t>
            </a:r>
            <a:r>
              <a:rPr b="1">
                <a:solidFill>
                  <a:srgbClr val="7F9F7F"/>
                </a:solidFill>
                <a:latin typeface="Courier"/>
              </a:rPr>
              <a:t>`make test`</a:t>
            </a:r>
            <a:r>
              <a:rPr>
                <a:solidFill>
                  <a:srgbClr val="CCCCCC"/>
                </a:solidFill>
                <a:latin typeface="Courier"/>
              </a:rPr>
              <a:t> : Lancer les tests</a:t>
            </a:r>
            <a:br/>
            <a:r>
              <a:rPr>
                <a:solidFill>
                  <a:srgbClr val="CC9393"/>
                </a:solidFill>
                <a:latin typeface="Courier"/>
              </a:rPr>
              <a:t>- </a:t>
            </a:r>
            <a:r>
              <a:rPr b="1">
                <a:solidFill>
                  <a:srgbClr val="7F9F7F"/>
                </a:solidFill>
                <a:latin typeface="Courier"/>
              </a:rPr>
              <a:t>`make build`</a:t>
            </a:r>
            <a:r>
              <a:rPr>
                <a:solidFill>
                  <a:srgbClr val="CCCCCC"/>
                </a:solidFill>
                <a:latin typeface="Courier"/>
              </a:rPr>
              <a:t> : Compiler pour production</a:t>
            </a:r>
          </a:p>
          <a:p>
            <a:pPr lvl="0" indent="0" marL="0">
              <a:buNone/>
            </a:pPr>
            <a:r>
              <a:rPr b="1"/>
              <a:t>Le CLAUDE.md est chargé automatiquement</a:t>
            </a:r>
            <a:r>
              <a:rPr/>
              <a:t> à chaque session.</a:t>
            </a:r>
          </a:p>
          <a:p>
            <a:pPr lvl="0" indent="0" marL="0">
              <a:spcBef>
                <a:spcPts val="3000"/>
              </a:spcBef>
              <a:buNone/>
            </a:pPr>
            <a:r>
              <a:rPr b="1"/>
              <a:t>7.4 Ajouter des répertoires de travail</a:t>
            </a:r>
          </a:p>
          <a:p>
            <a:pPr lvl="0" indent="0" marL="0">
              <a:buNone/>
            </a:pPr>
            <a:r>
              <a:rPr b="1"/>
              <a:t>Via slash command :</a:t>
            </a:r>
          </a:p>
          <a:p>
            <a:pPr lvl="0" indent="0">
              <a:buNone/>
            </a:pPr>
            <a:r>
              <a:rPr>
                <a:latin typeface="Courier"/>
              </a:rPr>
              <a:t>&gt; /add-dir ../shared-library</a:t>
            </a:r>
          </a:p>
          <a:p>
            <a:pPr lvl="0" indent="0" marL="0">
              <a:buNone/>
            </a:pPr>
            <a:r>
              <a:rPr b="1"/>
              <a:t>Via flag au lancement :</a:t>
            </a:r>
          </a:p>
          <a:p>
            <a:pPr lvl="0" indent="0">
              <a:buNone/>
            </a:pPr>
            <a:r>
              <a:rPr>
                <a:solidFill>
                  <a:srgbClr val="CCCCCC"/>
                </a:solidFill>
                <a:latin typeface="Courier"/>
              </a:rPr>
              <a:t>claude --add-dir ../shared-library --add-dir ../common-types</a:t>
            </a:r>
          </a:p>
          <a:p>
            <a:pPr lvl="0" indent="0" marL="0">
              <a:buNone/>
            </a:pPr>
            <a:r>
              <a:rPr b="1"/>
              <a:t>Cas d’usage :</a:t>
            </a:r>
            <a:r>
              <a:rPr/>
              <a:t> - </a:t>
            </a:r>
            <a:r>
              <a:rPr b="1"/>
              <a:t>Monorepos</a:t>
            </a:r>
            <a:r>
              <a:rPr/>
              <a:t> : Travailler sur plusieurs packages - </a:t>
            </a:r>
            <a:r>
              <a:rPr b="1"/>
              <a:t>Projets liés</a:t>
            </a:r>
            <a:r>
              <a:rPr/>
              <a:t> : Frontend + Backend dans des dossiers séparés - </a:t>
            </a:r>
            <a:r>
              <a:rPr b="1"/>
              <a:t>Librairies partagées</a:t>
            </a:r>
            <a:r>
              <a:rPr/>
              <a:t> : Voir les types communs</a:t>
            </a:r>
          </a:p>
          <a:p>
            <a:pPr lvl="0" indent="0" marL="0">
              <a:buNone/>
            </a:pPr>
            <a:r>
              <a:rPr b="1"/>
              <a:t>Exercice pratique :</a:t>
            </a:r>
          </a:p>
          <a:p>
            <a:pPr lvl="0" indent="-342900" marL="342900">
              <a:buAutoNum type="arabicPeriod"/>
            </a:pPr>
            <a:r>
              <a:rPr/>
              <a:t>Créez un CLAUDE.md pour un de vos projets avec </a:t>
            </a:r>
            <a:r>
              <a:rPr>
                <a:latin typeface="Courier"/>
              </a:rPr>
              <a:t>/init</a:t>
            </a:r>
          </a:p>
          <a:p>
            <a:pPr lvl="0" indent="-342900" marL="342900">
              <a:buAutoNum type="arabicPeriod"/>
            </a:pPr>
            <a:r>
              <a:rPr/>
              <a:t>Personnalisez-le avec votre stack et conventions</a:t>
            </a:r>
          </a:p>
          <a:p>
            <a:pPr lvl="0" indent="-342900" marL="342900">
              <a:buAutoNum type="arabicPeriod"/>
            </a:pPr>
            <a:r>
              <a:rPr/>
              <a:t>Utilisez </a:t>
            </a:r>
            <a:r>
              <a:rPr>
                <a:latin typeface="Courier"/>
              </a:rPr>
              <a:t>@</a:t>
            </a:r>
            <a:r>
              <a:rPr/>
              <a:t> pour référencer des fichiers spécifiques</a:t>
            </a:r>
          </a:p>
          <a:p>
            <a:pPr lvl="0" indent="-342900" marL="342900">
              <a:buAutoNum type="arabicPeriod"/>
            </a:pPr>
            <a:r>
              <a:rPr/>
              <a:t>Si vous avez un monorepo, utilisez </a:t>
            </a:r>
            <a:r>
              <a:rPr>
                <a:latin typeface="Courier"/>
              </a:rPr>
              <a:t>/add-dir</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8 : Workflow quotidien (45 min)</a:t>
            </a:r>
          </a:p>
          <a:p>
            <a:pPr lvl="0" indent="0" marL="0">
              <a:buNone/>
            </a:pPr>
            <a:r>
              <a:rPr b="1"/>
              <a:t>Objectif pédagogique</a:t>
            </a:r>
            <a:r>
              <a:rPr/>
              <a:t> : À l’issue de ce module, l’apprenant sera capable d’utiliser Claude Code pour explorer une codebase, modifier du code, créer des commits Git, débugger des erreurs, écrire des tests et générer de la documentation.</a:t>
            </a:r>
          </a:p>
          <a:p>
            <a:pPr lvl="0" indent="0" marL="0">
              <a:spcBef>
                <a:spcPts val="3000"/>
              </a:spcBef>
              <a:buNone/>
            </a:pPr>
            <a:r>
              <a:rPr b="1"/>
              <a:t>8.1 Explorer une codebase</a:t>
            </a:r>
          </a:p>
          <a:p>
            <a:pPr lvl="0" indent="0" marL="0">
              <a:buNone/>
            </a:pPr>
            <a:r>
              <a:rPr b="1"/>
              <a:t>Questions d’exploration efficaces :</a:t>
            </a:r>
          </a:p>
          <a:p>
            <a:pPr lvl="0" indent="0">
              <a:buNone/>
            </a:pPr>
            <a:r>
              <a:rPr>
                <a:latin typeface="Courier"/>
              </a:rPr>
              <a:t>&gt; Décris la structure de ce projet
&gt; Comment fonctionne l'authentification ?
&gt; Où sont gérées les erreurs API ?
&gt; Montre-moi le flow de données pour créer un utilisateur
&gt; Quelles sont les dépendances principales et pourquoi ?</a:t>
            </a:r>
          </a:p>
          <a:p>
            <a:pPr lvl="0" indent="0" marL="0">
              <a:buNone/>
            </a:pPr>
            <a:r>
              <a:rPr b="1"/>
              <a:t>Technique : Du général au spécifique</a:t>
            </a:r>
          </a:p>
          <a:p>
            <a:pPr lvl="0" indent="-342900" marL="342900">
              <a:buAutoNum type="arabicPeriod"/>
            </a:pPr>
            <a:r>
              <a:rPr/>
              <a:t>Vue d’ensemble : “Décris ce projet”</a:t>
            </a:r>
          </a:p>
          <a:p>
            <a:pPr lvl="0" indent="-342900" marL="342900">
              <a:buAutoNum type="arabicPeriod"/>
            </a:pPr>
            <a:r>
              <a:rPr/>
              <a:t>Architecture : “Explique l’architecture”</a:t>
            </a:r>
          </a:p>
          <a:p>
            <a:pPr lvl="0" indent="-342900" marL="342900">
              <a:buAutoNum type="arabicPeriod"/>
            </a:pPr>
            <a:r>
              <a:rPr/>
              <a:t>Composant : “Comment fonctionne le module X ?”</a:t>
            </a:r>
          </a:p>
          <a:p>
            <a:pPr lvl="0" indent="-342900" marL="342900">
              <a:buAutoNum type="arabicPeriod"/>
            </a:pPr>
            <a:r>
              <a:rPr/>
              <a:t>Détail : “Explique cette fonction ligne par ligne”</a:t>
            </a:r>
          </a:p>
          <a:p>
            <a:pPr lvl="0" indent="0" marL="0">
              <a:spcBef>
                <a:spcPts val="3000"/>
              </a:spcBef>
              <a:buNone/>
            </a:pPr>
            <a:r>
              <a:rPr b="1"/>
              <a:t>8.2 Modifier du code</a:t>
            </a:r>
          </a:p>
          <a:p>
            <a:pPr lvl="0" indent="0" marL="0">
              <a:buNone/>
            </a:pPr>
            <a:r>
              <a:rPr b="1"/>
              <a:t>Corrections simples :</a:t>
            </a:r>
          </a:p>
          <a:p>
            <a:pPr lvl="0" indent="0">
              <a:buNone/>
            </a:pPr>
            <a:r>
              <a:rPr>
                <a:latin typeface="Courier"/>
              </a:rPr>
              <a:t>&gt; Dans @src/utils.ts, la fonction formatDate
&gt; ne gère pas les fuseaux horaires. Corrige ça.</a:t>
            </a:r>
          </a:p>
          <a:p>
            <a:pPr lvl="0" indent="0" marL="0">
              <a:buNone/>
            </a:pPr>
            <a:r>
              <a:rPr b="1"/>
              <a:t>Ajout de fonctionnalité :</a:t>
            </a:r>
          </a:p>
          <a:p>
            <a:pPr lvl="0" indent="0">
              <a:buNone/>
            </a:pPr>
            <a:r>
              <a:rPr>
                <a:latin typeface="Courier"/>
              </a:rPr>
              <a:t>&gt; Ajoute une fonction de validation d'email
&gt; dans @src/validators.ts qui :
&gt; - Vérifie le format basique
&gt; - Vérifie que le domaine existe
&gt; - Retourne un objet {valid: boolean, error?: string}</a:t>
            </a:r>
          </a:p>
          <a:p>
            <a:pPr lvl="0" indent="0" marL="0">
              <a:buNone/>
            </a:pPr>
            <a:r>
              <a:rPr b="1"/>
              <a:t>Refactoring guidé :</a:t>
            </a:r>
          </a:p>
          <a:p>
            <a:pPr lvl="0" indent="0">
              <a:buNone/>
            </a:pPr>
            <a:r>
              <a:rPr>
                <a:latin typeface="Courier"/>
              </a:rPr>
              <a:t>&gt; Cette fonction fait 200 lignes. Refactorise-la en :
&gt; - Une fonction principale de coordination
&gt; - Des sous-fonctions avec responsabilité unique
&gt; - Garde la même API publique</a:t>
            </a:r>
          </a:p>
          <a:p>
            <a:pPr lvl="0" indent="0" marL="0">
              <a:spcBef>
                <a:spcPts val="3000"/>
              </a:spcBef>
              <a:buNone/>
            </a:pPr>
            <a:r>
              <a:rPr b="1"/>
              <a:t>8.3 Intégration Git</a:t>
            </a:r>
          </a:p>
          <a:p>
            <a:pPr lvl="0" indent="0" marL="0">
              <a:buNone/>
            </a:pPr>
            <a:r>
              <a:rPr b="1"/>
              <a:t>Voir le status :</a:t>
            </a:r>
          </a:p>
          <a:p>
            <a:pPr lvl="0" indent="0">
              <a:buNone/>
            </a:pPr>
            <a:r>
              <a:rPr>
                <a:latin typeface="Courier"/>
              </a:rPr>
              <a:t>&gt; Montre-moi ce qui a changé depuis le dernier commit</a:t>
            </a:r>
          </a:p>
          <a:p>
            <a:pPr lvl="0" indent="0" marL="0">
              <a:buNone/>
            </a:pPr>
            <a:r>
              <a:rPr b="1"/>
              <a:t>Créer des commits :</a:t>
            </a:r>
          </a:p>
          <a:p>
            <a:pPr lvl="0" indent="0">
              <a:buNone/>
            </a:pPr>
            <a:r>
              <a:rPr>
                <a:latin typeface="Courier"/>
              </a:rPr>
              <a:t>&gt; /commit</a:t>
            </a:r>
          </a:p>
          <a:p>
            <a:pPr lvl="0" indent="0" marL="0">
              <a:buNone/>
            </a:pPr>
            <a:r>
              <a:rPr/>
              <a:t>Claude va : 1. Analyser </a:t>
            </a:r>
            <a:r>
              <a:rPr>
                <a:latin typeface="Courier"/>
              </a:rPr>
              <a:t>git status</a:t>
            </a:r>
            <a:r>
              <a:rPr/>
              <a:t> et </a:t>
            </a:r>
            <a:r>
              <a:rPr>
                <a:latin typeface="Courier"/>
              </a:rPr>
              <a:t>git diff</a:t>
            </a:r>
            <a:r>
              <a:rPr/>
              <a:t> 2. Regarder les commits récents pour le style 3. Proposer un message de commit approprié 4. Créer le commit après votre validation</a:t>
            </a:r>
          </a:p>
          <a:p>
            <a:pPr lvl="0" indent="0" marL="0">
              <a:buNone/>
            </a:pPr>
            <a:r>
              <a:rPr b="1"/>
              <a:t>Message de commit généré :</a:t>
            </a:r>
          </a:p>
          <a:p>
            <a:pPr lvl="0" indent="0">
              <a:buNone/>
            </a:pPr>
            <a:r>
              <a:rPr>
                <a:latin typeface="Courier"/>
              </a:rPr>
              <a:t>feat(auth): add JWT token refresh mechanism
- Add refreshToken endpoint in auth handler
- Implement token rotation for security
- Add refresh token to user session
Closes #123</a:t>
            </a:r>
          </a:p>
          <a:p>
            <a:pPr lvl="0" indent="0" marL="0">
              <a:spcBef>
                <a:spcPts val="3000"/>
              </a:spcBef>
              <a:buNone/>
            </a:pPr>
            <a:r>
              <a:rPr b="1"/>
              <a:t>8.4 Débugger efficacement</a:t>
            </a:r>
          </a:p>
          <a:p>
            <a:pPr lvl="0" indent="0" marL="0">
              <a:buNone/>
            </a:pPr>
            <a:r>
              <a:rPr b="1"/>
              <a:t>Fournir le contexte complet :</a:t>
            </a:r>
          </a:p>
          <a:p>
            <a:pPr lvl="0" indent="0">
              <a:buNone/>
            </a:pPr>
            <a:r>
              <a:rPr>
                <a:latin typeface="Courier"/>
              </a:rPr>
              <a:t>&gt; J'ai cette erreur quand je clique sur "Sauvegarder" :
[Coller l'erreur complète]
Le comportement attendu est : sauvegarder l'utilisateur et rediriger
Le comportement actuel est : erreur 500
Fichiers concernés probables : @src/api/users.ts @src/db/users.ts
Trouve la cause et corrige.</a:t>
            </a:r>
          </a:p>
          <a:p>
            <a:pPr lvl="0" indent="0" marL="0">
              <a:buNone/>
            </a:pPr>
            <a:r>
              <a:rPr b="1"/>
              <a:t>Laisser Claude investiguer :</a:t>
            </a:r>
          </a:p>
          <a:p>
            <a:pPr lvl="0" indent="0" marL="0">
              <a:buNone/>
            </a:pPr>
            <a:r>
              <a:rPr/>
              <a:t>Claude va : 1. Lire les fichiers mentionnés 2. Tracer le chemin de l’erreur 3. Identifier la cause racine 4. Proposer une correction 5. Optionnellement lancer les tests</a:t>
            </a:r>
          </a:p>
          <a:p>
            <a:pPr lvl="0" indent="0" marL="0">
              <a:spcBef>
                <a:spcPts val="3000"/>
              </a:spcBef>
              <a:buNone/>
            </a:pPr>
            <a:r>
              <a:rPr b="1"/>
              <a:t>8.5 Écrire des tests</a:t>
            </a:r>
          </a:p>
          <a:p>
            <a:pPr lvl="0" indent="0" marL="0">
              <a:buNone/>
            </a:pPr>
            <a:r>
              <a:rPr b="1"/>
              <a:t>Générer des tests unitaires :</a:t>
            </a:r>
          </a:p>
          <a:p>
            <a:pPr lvl="0" indent="0">
              <a:buNone/>
            </a:pPr>
            <a:r>
              <a:rPr>
                <a:latin typeface="Courier"/>
              </a:rPr>
              <a:t>&gt; Génère les tests unitaires pour @src/services/user.service.ts
&gt; Utilise Jest et mock la base de données</a:t>
            </a:r>
          </a:p>
          <a:p>
            <a:pPr lvl="0" indent="0" marL="0">
              <a:buNone/>
            </a:pPr>
            <a:r>
              <a:rPr b="1"/>
              <a:t>Couvrir les cas limites :</a:t>
            </a:r>
          </a:p>
          <a:p>
            <a:pPr lvl="0" indent="0">
              <a:buNone/>
            </a:pPr>
            <a:r>
              <a:rPr>
                <a:latin typeface="Courier"/>
              </a:rPr>
              <a:t>&gt; Ajoute des tests pour les cas limites :
&gt; - Input vide
&gt; - Caractères spéciaux
&gt; - Valeurs null/undefined
&gt; - Dépassement de limites</a:t>
            </a:r>
          </a:p>
          <a:p>
            <a:pPr lvl="0" indent="0" marL="0">
              <a:buNone/>
            </a:pPr>
            <a:r>
              <a:rPr b="1"/>
              <a:t>TDD assisté :</a:t>
            </a:r>
          </a:p>
          <a:p>
            <a:pPr lvl="0" indent="0">
              <a:buNone/>
            </a:pPr>
            <a:r>
              <a:rPr>
                <a:latin typeface="Courier"/>
              </a:rPr>
              <a:t>&gt; Je veux implémenter une fonction de recherche floue.
&gt; Écris d'abord les tests (TDD), puis l'implémentation.</a:t>
            </a:r>
          </a:p>
          <a:p>
            <a:pPr lvl="0" indent="0" marL="0">
              <a:spcBef>
                <a:spcPts val="3000"/>
              </a:spcBef>
              <a:buNone/>
            </a:pPr>
            <a:r>
              <a:rPr b="1"/>
              <a:t>8.6 Documenter</a:t>
            </a:r>
          </a:p>
          <a:p>
            <a:pPr lvl="0" indent="0" marL="0">
              <a:buNone/>
            </a:pPr>
            <a:r>
              <a:rPr b="1"/>
              <a:t>Générer de la documentation :</a:t>
            </a:r>
          </a:p>
          <a:p>
            <a:pPr lvl="0" indent="0">
              <a:buNone/>
            </a:pPr>
            <a:r>
              <a:rPr>
                <a:latin typeface="Courier"/>
              </a:rPr>
              <a:t>&gt; Génère la documentation JSDoc pour toutes les fonctions
&gt; exportées de @src/api/</a:t>
            </a:r>
          </a:p>
          <a:p>
            <a:pPr lvl="0" indent="0" marL="0">
              <a:buNone/>
            </a:pPr>
            <a:r>
              <a:rPr b="1"/>
              <a:t>Créer un README :</a:t>
            </a:r>
          </a:p>
          <a:p>
            <a:pPr lvl="0" indent="0">
              <a:buNone/>
            </a:pPr>
            <a:r>
              <a:rPr>
                <a:latin typeface="Courier"/>
              </a:rPr>
              <a:t>&gt; Crée un README.md pour ce projet avec :
&gt; - Description
&gt; - Installation
&gt; - Usage
&gt; - API endpoints
&gt; - Contribution guidelines</a:t>
            </a:r>
          </a:p>
          <a:p>
            <a:pPr lvl="0" indent="0" marL="0">
              <a:buNone/>
            </a:pPr>
            <a:r>
              <a:rPr b="1"/>
              <a:t>Exercice pratique : Débugger un projet</a:t>
            </a:r>
          </a:p>
          <a:p>
            <a:pPr lvl="0" indent="-342900" marL="342900">
              <a:buAutoNum type="arabicPeriod"/>
            </a:pPr>
            <a:r>
              <a:rPr/>
              <a:t>Clonez un projet avec un bug intentionnel (ou créez-en un)</a:t>
            </a:r>
          </a:p>
          <a:p>
            <a:pPr lvl="0" indent="-342900" marL="342900">
              <a:buAutoNum type="arabicPeriod"/>
            </a:pPr>
            <a:r>
              <a:rPr/>
              <a:t>Lancez Claude Code</a:t>
            </a:r>
          </a:p>
          <a:p>
            <a:pPr lvl="0" indent="-342900" marL="342900">
              <a:buAutoNum type="arabicPeriod"/>
            </a:pPr>
            <a:r>
              <a:rPr/>
              <a:t>Décrivez le symptôme du bug</a:t>
            </a:r>
          </a:p>
          <a:p>
            <a:pPr lvl="0" indent="-342900" marL="342900">
              <a:buAutoNum type="arabicPeriod"/>
            </a:pPr>
            <a:r>
              <a:rPr/>
              <a:t>Laissez Claude investiguer et corriger</a:t>
            </a:r>
          </a:p>
          <a:p>
            <a:pPr lvl="0" indent="-342900" marL="342900">
              <a:buAutoNum type="arabicPeriod"/>
            </a:pPr>
            <a:r>
              <a:rPr/>
              <a:t>Validez la correction avec les tests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9 : Subagents - Introduction (30 min)</a:t>
            </a:r>
          </a:p>
          <a:p>
            <a:pPr lvl="0" indent="0" marL="0">
              <a:buNone/>
            </a:pPr>
            <a:r>
              <a:rPr b="1"/>
              <a:t>Objectif pédagogique</a:t>
            </a:r>
            <a:r>
              <a:rPr/>
              <a:t> : À l’issue de ce module, l’apprenant sera capable d’expliquer le rôle des subagents (Explore, Plan, Bash), de reconnaître quand Claude Code en lance un, et de comprendre les résultats retournés.</a:t>
            </a:r>
          </a:p>
          <a:p>
            <a:pPr lvl="0" indent="0" marL="0">
              <a:spcBef>
                <a:spcPts val="3000"/>
              </a:spcBef>
              <a:buNone/>
            </a:pPr>
            <a:r>
              <a:rPr b="1"/>
              <a:t>9.1 Qu’est-ce qu’un Subagent ?</a:t>
            </a:r>
          </a:p>
          <a:p>
            <a:pPr lvl="0" indent="0" marL="0">
              <a:buNone/>
            </a:pPr>
            <a:r>
              <a:rPr/>
              <a:t>Un Subagent est un </a:t>
            </a:r>
            <a:r>
              <a:rPr b="1"/>
              <a:t>agent spécialisé</a:t>
            </a:r>
            <a:r>
              <a:rPr/>
              <a:t> que Claude Code peut lancer pour des tâches spécifiques.</a:t>
            </a:r>
          </a:p>
          <a:p>
            <a:pPr lvl="0" indent="0" marL="0">
              <a:buNone/>
            </a:pPr>
            <a:r>
              <a:rPr b="1"/>
              <a:t>Analogie :</a:t>
            </a:r>
            <a:r>
              <a:rPr/>
              <a:t> - Claude Code = Chef de projet - Subagents = Spécialistes (explorateur, architecte, ops)</a:t>
            </a:r>
          </a:p>
          <a:p>
            <a:pPr lvl="0" indent="0" marL="0">
              <a:buNone/>
            </a:pPr>
            <a:r>
              <a:rPr b="1"/>
              <a:t>Pourquoi des subagents ?</a:t>
            </a:r>
            <a:r>
              <a:rPr/>
              <a:t> - Tâches qui nécessitent beaucoup de contexte - Spécialisation (exploration vs planification) - Isolation (ne pollue pas la conversation principale)</a:t>
            </a:r>
          </a:p>
          <a:p>
            <a:pPr lvl="0" indent="0" marL="0">
              <a:spcBef>
                <a:spcPts val="3000"/>
              </a:spcBef>
              <a:buNone/>
            </a:pPr>
            <a:r>
              <a:rPr b="1"/>
              <a:t>9.2 Subagents intégrés</a:t>
            </a:r>
          </a:p>
          <a:p>
            <a:pPr lvl="0" indent="0" marL="0">
              <a:spcBef>
                <a:spcPts val="3000"/>
              </a:spcBef>
              <a:buNone/>
            </a:pPr>
            <a:r>
              <a:rPr b="1"/>
              <a:t>Explore : Explorer et comprendre</a:t>
            </a:r>
          </a:p>
          <a:p>
            <a:pPr lvl="0" indent="0">
              <a:buNone/>
            </a:pPr>
            <a:r>
              <a:rPr>
                <a:latin typeface="Courier"/>
              </a:rPr>
              <a:t>&gt; Explore ce projet et fais un rapport sur l'architecture</a:t>
            </a:r>
          </a:p>
          <a:p>
            <a:pPr lvl="0" indent="0" marL="0">
              <a:buNone/>
            </a:pPr>
            <a:r>
              <a:rPr/>
              <a:t>L’agent Explore va : - Parcourir tous les fichiers - Identifier les patterns - Cartographier les dépendances - Produire un rapport structuré</a:t>
            </a:r>
          </a:p>
          <a:p>
            <a:pPr lvl="0" indent="0" marL="0">
              <a:buNone/>
            </a:pPr>
            <a:r>
              <a:rPr b="1"/>
              <a:t>Cas d’usage :</a:t>
            </a:r>
            <a:r>
              <a:rPr/>
              <a:t> - Nouveau sur un projet - Comprendre du code legacy - Audit d’architecture</a:t>
            </a:r>
          </a:p>
          <a:p>
            <a:pPr lvl="0" indent="0" marL="0">
              <a:spcBef>
                <a:spcPts val="3000"/>
              </a:spcBef>
              <a:buNone/>
            </a:pPr>
            <a:r>
              <a:rPr b="1"/>
              <a:t>Plan : Planifier une implémentation</a:t>
            </a:r>
          </a:p>
          <a:p>
            <a:pPr lvl="0" indent="0">
              <a:buNone/>
            </a:pPr>
            <a:r>
              <a:rPr>
                <a:latin typeface="Courier"/>
              </a:rPr>
              <a:t>&gt; /plan Implémenter un système de notifications push</a:t>
            </a:r>
          </a:p>
          <a:p>
            <a:pPr lvl="0" indent="0" marL="0">
              <a:buNone/>
            </a:pPr>
            <a:r>
              <a:rPr/>
              <a:t>L’agent Plan va : - Analyser les besoins - Identifier les composants concernés - Proposer une architecture - Découper en tâches - Estimer la complexité</a:t>
            </a:r>
          </a:p>
          <a:p>
            <a:pPr lvl="0" indent="0" marL="0">
              <a:buNone/>
            </a:pPr>
            <a:r>
              <a:rPr b="1"/>
              <a:t>Cas d’usage :</a:t>
            </a:r>
            <a:r>
              <a:rPr/>
              <a:t> - Nouvelles features complexes - Refactoring majeur - Migration technique</a:t>
            </a:r>
          </a:p>
          <a:p>
            <a:pPr lvl="0" indent="0" marL="0">
              <a:spcBef>
                <a:spcPts val="3000"/>
              </a:spcBef>
              <a:buNone/>
            </a:pPr>
            <a:r>
              <a:rPr b="1"/>
              <a:t>Bash : Exécuter des commandes</a:t>
            </a:r>
          </a:p>
          <a:p>
            <a:pPr lvl="0" indent="0">
              <a:buNone/>
            </a:pPr>
            <a:r>
              <a:rPr>
                <a:latin typeface="Courier"/>
              </a:rPr>
              <a:t>&gt; Configure l'environnement de dev avec Docker</a:t>
            </a:r>
          </a:p>
          <a:p>
            <a:pPr lvl="0" indent="0" marL="0">
              <a:buNone/>
            </a:pPr>
            <a:r>
              <a:rPr/>
              <a:t>L’agent Bash est spécialisé dans : - Commandes shell complexes - Scripts de setup - Opérations système</a:t>
            </a:r>
          </a:p>
          <a:p>
            <a:pPr lvl="0" indent="0" marL="0">
              <a:spcBef>
                <a:spcPts val="3000"/>
              </a:spcBef>
              <a:buNone/>
            </a:pPr>
            <a:r>
              <a:rPr b="1"/>
              <a:t>general-purpose : Tâches variées</a:t>
            </a:r>
          </a:p>
          <a:p>
            <a:pPr lvl="0" indent="0" marL="0">
              <a:buNone/>
            </a:pPr>
            <a:r>
              <a:rPr/>
              <a:t>Agent polyvalent pour des tâches qui ne rentrent pas dans les autres catégories.</a:t>
            </a:r>
          </a:p>
          <a:p>
            <a:pPr lvl="0" indent="0" marL="0">
              <a:spcBef>
                <a:spcPts val="3000"/>
              </a:spcBef>
              <a:buNone/>
            </a:pPr>
            <a:r>
              <a:rPr b="1"/>
              <a:t>9.3 Observer les Subagents</a:t>
            </a:r>
          </a:p>
          <a:p>
            <a:pPr lvl="0" indent="0" marL="0">
              <a:buNone/>
            </a:pPr>
            <a:r>
              <a:rPr b="1"/>
              <a:t>Reconnaître un subagent :</a:t>
            </a:r>
          </a:p>
          <a:p>
            <a:pPr lvl="0" indent="0">
              <a:buNone/>
            </a:pPr>
            <a:r>
              <a:rPr>
                <a:latin typeface="Courier"/>
              </a:rPr>
              <a:t>╭─ Task: Exploring codebase ───────────────────╮
│                                               │
│ Reading src/index.ts...                       │
│ Analyzing structure...                        │
│                                               │
╰───────────────────────────────────────────────╯</a:t>
            </a:r>
          </a:p>
          <a:p>
            <a:pPr lvl="0" indent="0" marL="0">
              <a:buNone/>
            </a:pPr>
            <a:r>
              <a:rPr/>
              <a:t>L’interface indique clairement quand un subagent travaille.</a:t>
            </a:r>
          </a:p>
          <a:p>
            <a:pPr lvl="0" indent="0" marL="0">
              <a:buNone/>
            </a:pPr>
            <a:r>
              <a:rPr b="1"/>
              <a:t>Résultat d’un subagent :</a:t>
            </a:r>
          </a:p>
          <a:p>
            <a:pPr lvl="0" indent="0" marL="0">
              <a:buNone/>
            </a:pPr>
            <a:r>
              <a:rPr/>
              <a:t>Le subagent retourne un résumé à l’agent principal. Vous ne voyez que : - Le résultat final - Les actions importantes - Les fichiers modifiés</a:t>
            </a:r>
          </a:p>
          <a:p>
            <a:pPr lvl="0" indent="0" marL="0">
              <a:buNone/>
            </a:pPr>
            <a:r>
              <a:rPr b="1"/>
              <a:t>Parallèle vs Séquentiel :</a:t>
            </a:r>
            <a:r>
              <a:rPr/>
              <a:t> - Claude peut lancer plusieurs subagents en parallèle - Les tâches indépendantes s’exécutent simultanément - Les tâches dépendantes s’exécutent séquentiellement</a:t>
            </a:r>
          </a:p>
          <a:p>
            <a:pPr lvl="0" indent="0" marL="0">
              <a:buNone/>
            </a:pPr>
            <a:r>
              <a:rPr b="1"/>
              <a:t>Exercice pratique :</a:t>
            </a:r>
          </a:p>
          <a:p>
            <a:pPr lvl="0" indent="-342900" marL="342900">
              <a:buAutoNum type="arabicPeriod"/>
            </a:pPr>
            <a:r>
              <a:rPr/>
              <a:t>Demandez à Claude d’explorer un projet inconnu</a:t>
            </a:r>
          </a:p>
          <a:p>
            <a:pPr lvl="0" indent="-342900" marL="342900">
              <a:buAutoNum type="arabicPeriod"/>
            </a:pPr>
            <a:r>
              <a:rPr/>
              <a:t>Observez le subagent Explore en action</a:t>
            </a:r>
          </a:p>
          <a:p>
            <a:pPr lvl="0" indent="-342900" marL="342900">
              <a:buAutoNum type="arabicPeriod"/>
            </a:pPr>
            <a:r>
              <a:rPr/>
              <a:t>Demandez de planifier une feature complexe</a:t>
            </a:r>
          </a:p>
          <a:p>
            <a:pPr lvl="0" indent="-342900" marL="342900">
              <a:buAutoNum type="arabicPeriod"/>
            </a:pPr>
            <a:r>
              <a:rPr/>
              <a:t>Observez la différence entre Explore et Plan</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Module 10 : Skills et Plugins - Introduction (30 min)</a:t>
            </a:r>
          </a:p>
          <a:p>
            <a:pPr lvl="0" indent="0" marL="0">
              <a:buNone/>
            </a:pPr>
            <a:r>
              <a:rPr b="1"/>
              <a:t>Objectif pédagogique</a:t>
            </a:r>
            <a:r>
              <a:rPr/>
              <a:t> : À l’issue de ce module, l’apprenant sera capable de distinguer les slash commands des skills, d’utiliser des skills existantes, et de comprendre le concept de plugin comme bundle de skills, hooks et MCP servers.</a:t>
            </a:r>
          </a:p>
          <a:p>
            <a:pPr lvl="0" indent="0" marL="0">
              <a:spcBef>
                <a:spcPts val="3000"/>
              </a:spcBef>
              <a:buNone/>
            </a:pPr>
            <a:r>
              <a:rPr b="1"/>
              <a:t>10.1 Qu’est-ce qu’une Skill ?</a:t>
            </a:r>
          </a:p>
          <a:p>
            <a:pPr lvl="0" indent="0" marL="0">
              <a:buNone/>
            </a:pPr>
            <a:r>
              <a:rPr/>
              <a:t>Une Skill est un </a:t>
            </a:r>
            <a:r>
              <a:rPr b="1"/>
              <a:t>prompt packagé</a:t>
            </a:r>
            <a:r>
              <a:rPr/>
              <a:t> réutilisable. C’est comme une macro ou un template.</a:t>
            </a:r>
          </a:p>
          <a:p>
            <a:pPr lvl="0" indent="0" marL="0">
              <a:buNone/>
            </a:pPr>
            <a:r>
              <a:rPr b="1"/>
              <a:t>Différence Slash Command vs Skill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Aspect</a:t>
                      </a:r>
                    </a:p>
                  </a:txBody>
                  <a:tcPr/>
                </a:tc>
                <a:tc>
                  <a:txBody>
                    <a:bodyPr/>
                    <a:lstStyle/>
                    <a:p>
                      <a:pPr lvl="0" indent="0" marL="0">
                        <a:buNone/>
                      </a:pPr>
                      <a:r>
                        <a:rPr/>
                        <a:t>Slash Command</a:t>
                      </a:r>
                    </a:p>
                  </a:txBody>
                  <a:tcPr/>
                </a:tc>
                <a:tc>
                  <a:txBody>
                    <a:bodyPr/>
                    <a:lstStyle/>
                    <a:p>
                      <a:pPr lvl="0" indent="0" marL="0">
                        <a:buNone/>
                      </a:pPr>
                      <a:r>
                        <a:rPr/>
                        <a:t>Skill</a:t>
                      </a:r>
                    </a:p>
                  </a:txBody>
                  <a:tcPr/>
                </a:tc>
              </a:tr>
              <a:tr h="0">
                <a:tc>
                  <a:txBody>
                    <a:bodyPr/>
                    <a:lstStyle/>
                    <a:p>
                      <a:pPr lvl="0" indent="0" marL="0">
                        <a:buNone/>
                      </a:pPr>
                      <a:r>
                        <a:rPr/>
                        <a:t>Source</a:t>
                      </a:r>
                    </a:p>
                  </a:txBody>
                </a:tc>
                <a:tc>
                  <a:txBody>
                    <a:bodyPr/>
                    <a:lstStyle/>
                    <a:p>
                      <a:pPr lvl="0" indent="0" marL="0">
                        <a:buNone/>
                      </a:pPr>
                      <a:r>
                        <a:rPr/>
                        <a:t>Native Claude Code</a:t>
                      </a:r>
                    </a:p>
                  </a:txBody>
                </a:tc>
                <a:tc>
                  <a:txBody>
                    <a:bodyPr/>
                    <a:lstStyle/>
                    <a:p>
                      <a:pPr lvl="0" indent="0" marL="0">
                        <a:buNone/>
                      </a:pPr>
                      <a:r>
                        <a:rPr/>
                        <a:t>Plugins/Utilisateur</a:t>
                      </a:r>
                    </a:p>
                  </a:txBody>
                </a:tc>
              </a:tr>
              <a:tr h="0">
                <a:tc>
                  <a:txBody>
                    <a:bodyPr/>
                    <a:lstStyle/>
                    <a:p>
                      <a:pPr lvl="0" indent="0" marL="0">
                        <a:buNone/>
                      </a:pPr>
                      <a:r>
                        <a:rPr/>
                        <a:t>Exemple</a:t>
                      </a:r>
                    </a:p>
                  </a:txBody>
                </a:tc>
                <a:tc>
                  <a:txBody>
                    <a:bodyPr/>
                    <a:lstStyle/>
                    <a:p>
                      <a:pPr lvl="0" indent="0" marL="0">
                        <a:buNone/>
                      </a:pPr>
                      <a:r>
                        <a:rPr>
                          <a:latin typeface="Courier"/>
                        </a:rPr>
                        <a:t>/help</a:t>
                      </a:r>
                      <a:r>
                        <a:rPr/>
                        <a:t>, </a:t>
                      </a:r>
                      <a:r>
                        <a:rPr>
                          <a:latin typeface="Courier"/>
                        </a:rPr>
                        <a:t>/commit</a:t>
                      </a:r>
                    </a:p>
                  </a:txBody>
                </a:tc>
                <a:tc>
                  <a:txBody>
                    <a:bodyPr/>
                    <a:lstStyle/>
                    <a:p>
                      <a:pPr lvl="0" indent="0" marL="0">
                        <a:buNone/>
                      </a:pPr>
                      <a:r>
                        <a:rPr>
                          <a:latin typeface="Courier"/>
                        </a:rPr>
                        <a:t>/code-review</a:t>
                      </a:r>
                      <a:r>
                        <a:rPr/>
                        <a:t>, </a:t>
                      </a:r>
                      <a:r>
                        <a:rPr>
                          <a:latin typeface="Courier"/>
                        </a:rPr>
                        <a:t>/standup</a:t>
                      </a:r>
                    </a:p>
                  </a:txBody>
                </a:tc>
              </a:tr>
              <a:tr h="0">
                <a:tc>
                  <a:txBody>
                    <a:bodyPr/>
                    <a:lstStyle/>
                    <a:p>
                      <a:pPr lvl="0" indent="0" marL="0">
                        <a:buNone/>
                      </a:pPr>
                      <a:r>
                        <a:rPr/>
                        <a:t>Modifiable</a:t>
                      </a:r>
                    </a:p>
                  </a:txBody>
                </a:tc>
                <a:tc>
                  <a:txBody>
                    <a:bodyPr/>
                    <a:lstStyle/>
                    <a:p>
                      <a:pPr lvl="0" indent="0" marL="0">
                        <a:buNone/>
                      </a:pPr>
                      <a:r>
                        <a:rPr/>
                        <a:t>Non</a:t>
                      </a:r>
                    </a:p>
                  </a:txBody>
                </a:tc>
                <a:tc>
                  <a:txBody>
                    <a:bodyPr/>
                    <a:lstStyle/>
                    <a:p>
                      <a:pPr lvl="0" indent="0" marL="0">
                        <a:buNone/>
                      </a:pPr>
                      <a:r>
                        <a:rPr/>
                        <a:t>Oui</a:t>
                      </a:r>
                    </a:p>
                  </a:txBody>
                </a:tc>
              </a:tr>
              <a:tr h="0">
                <a:tc>
                  <a:txBody>
                    <a:bodyPr/>
                    <a:lstStyle/>
                    <a:p>
                      <a:pPr lvl="0" indent="0" marL="0">
                        <a:buNone/>
                      </a:pPr>
                      <a:r>
                        <a:rPr/>
                        <a:t>Partageable</a:t>
                      </a:r>
                    </a:p>
                  </a:txBody>
                </a:tc>
                <a:tc>
                  <a:txBody>
                    <a:bodyPr/>
                    <a:lstStyle/>
                    <a:p>
                      <a:pPr lvl="0" indent="0" marL="0">
                        <a:buNone/>
                      </a:pPr>
                      <a:r>
                        <a:rPr/>
                        <a:t>Non</a:t>
                      </a:r>
                    </a:p>
                  </a:txBody>
                </a:tc>
                <a:tc>
                  <a:txBody>
                    <a:bodyPr/>
                    <a:lstStyle/>
                    <a:p>
                      <a:pPr lvl="0" indent="0" marL="0">
                        <a:buNone/>
                      </a:pPr>
                      <a:r>
                        <a:rPr/>
                        <a:t>Oui</a:t>
                      </a:r>
                    </a:p>
                  </a:txBody>
                </a:tc>
              </a:tr>
            </a:tbl>
          </a:graphicData>
        </a:graphic>
      </p:graphicFrame>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Syntaxe d’appel :</a:t>
            </a:r>
          </a:p>
          <a:p>
            <a:pPr lvl="0" indent="0">
              <a:buNone/>
            </a:pPr>
            <a:r>
              <a:rPr>
                <a:latin typeface="Courier"/>
              </a:rPr>
              <a:t>&gt; /skill-name
ou
&gt; /plugin-name:skill-name</a:t>
            </a:r>
          </a:p>
          <a:p>
            <a:pPr lvl="0" indent="0" marL="0">
              <a:spcBef>
                <a:spcPts val="3000"/>
              </a:spcBef>
              <a:buNone/>
            </a:pPr>
            <a:r>
              <a:rPr b="1"/>
              <a:t>10.2 Utiliser une Skill existante</a:t>
            </a:r>
          </a:p>
          <a:p>
            <a:pPr lvl="0" indent="0" marL="0">
              <a:buNone/>
            </a:pPr>
            <a:r>
              <a:rPr b="1"/>
              <a:t>Voir les skills disponibles :</a:t>
            </a:r>
          </a:p>
          <a:p>
            <a:pPr lvl="0" indent="0">
              <a:buNone/>
            </a:pPr>
            <a:r>
              <a:rPr>
                <a:latin typeface="Courier"/>
              </a:rPr>
              <a:t>&gt; /help skills</a:t>
            </a:r>
          </a:p>
          <a:p>
            <a:pPr lvl="0" indent="0" marL="0">
              <a:buNone/>
            </a:pPr>
            <a:r>
              <a:rPr b="1"/>
              <a:t>Skills populaires de la communauté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Skill</a:t>
                      </a:r>
                    </a:p>
                  </a:txBody>
                  <a:tcPr/>
                </a:tc>
                <a:tc>
                  <a:txBody>
                    <a:bodyPr/>
                    <a:lstStyle/>
                    <a:p>
                      <a:pPr lvl="0" indent="0" marL="0">
                        <a:buNone/>
                      </a:pPr>
                      <a:r>
                        <a:rPr/>
                        <a:t>Description</a:t>
                      </a:r>
                    </a:p>
                  </a:txBody>
                  <a:tcPr/>
                </a:tc>
              </a:tr>
              <a:tr h="0">
                <a:tc>
                  <a:txBody>
                    <a:bodyPr/>
                    <a:lstStyle/>
                    <a:p>
                      <a:pPr lvl="0" indent="0" marL="0">
                        <a:buNone/>
                      </a:pPr>
                      <a:r>
                        <a:rPr>
                          <a:latin typeface="Courier"/>
                        </a:rPr>
                        <a:t>/code-review</a:t>
                      </a:r>
                    </a:p>
                  </a:txBody>
                </a:tc>
                <a:tc>
                  <a:txBody>
                    <a:bodyPr/>
                    <a:lstStyle/>
                    <a:p>
                      <a:pPr lvl="0" indent="0" marL="0">
                        <a:buNone/>
                      </a:pPr>
                      <a:r>
                        <a:rPr/>
                        <a:t>Revue de code automatisée</a:t>
                      </a:r>
                    </a:p>
                  </a:txBody>
                </a:tc>
              </a:tr>
              <a:tr h="0">
                <a:tc>
                  <a:txBody>
                    <a:bodyPr/>
                    <a:lstStyle/>
                    <a:p>
                      <a:pPr lvl="0" indent="0" marL="0">
                        <a:buNone/>
                      </a:pPr>
                      <a:r>
                        <a:rPr>
                          <a:latin typeface="Courier"/>
                        </a:rPr>
                        <a:t>/standup</a:t>
                      </a:r>
                    </a:p>
                  </a:txBody>
                </a:tc>
                <a:tc>
                  <a:txBody>
                    <a:bodyPr/>
                    <a:lstStyle/>
                    <a:p>
                      <a:pPr lvl="0" indent="0" marL="0">
                        <a:buNone/>
                      </a:pPr>
                      <a:r>
                        <a:rPr/>
                        <a:t>Générer un rapport de standup</a:t>
                      </a:r>
                    </a:p>
                  </a:txBody>
                </a:tc>
              </a:tr>
              <a:tr h="0">
                <a:tc>
                  <a:txBody>
                    <a:bodyPr/>
                    <a:lstStyle/>
                    <a:p>
                      <a:pPr lvl="0" indent="0" marL="0">
                        <a:buNone/>
                      </a:pPr>
                      <a:r>
                        <a:rPr>
                          <a:latin typeface="Courier"/>
                        </a:rPr>
                        <a:t>/changelog</a:t>
                      </a:r>
                    </a:p>
                  </a:txBody>
                </a:tc>
                <a:tc>
                  <a:txBody>
                    <a:bodyPr/>
                    <a:lstStyle/>
                    <a:p>
                      <a:pPr lvl="0" indent="0" marL="0">
                        <a:buNone/>
                      </a:pPr>
                      <a:r>
                        <a:rPr/>
                        <a:t>Générer un changelog</a:t>
                      </a:r>
                    </a:p>
                  </a:txBody>
                </a:tc>
              </a:tr>
              <a:tr h="0">
                <a:tc>
                  <a:txBody>
                    <a:bodyPr/>
                    <a:lstStyle/>
                    <a:p>
                      <a:pPr lvl="0" indent="0" marL="0">
                        <a:buNone/>
                      </a:pPr>
                      <a:r>
                        <a:rPr>
                          <a:latin typeface="Courier"/>
                        </a:rPr>
                        <a:t>/refactor</a:t>
                      </a:r>
                    </a:p>
                  </a:txBody>
                </a:tc>
                <a:tc>
                  <a:txBody>
                    <a:bodyPr/>
                    <a:lstStyle/>
                    <a:p>
                      <a:pPr lvl="0" indent="0" marL="0">
                        <a:buNone/>
                      </a:pPr>
                      <a:r>
                        <a:rPr/>
                        <a:t>Guide de refactoring</a:t>
                      </a:r>
                    </a:p>
                  </a:txBody>
                </a:tc>
              </a:tr>
              <a:tr h="0">
                <a:tc>
                  <a:txBody>
                    <a:bodyPr/>
                    <a:lstStyle/>
                    <a:p>
                      <a:pPr lvl="0" indent="0" marL="0">
                        <a:buNone/>
                      </a:pPr>
                      <a:r>
                        <a:rPr>
                          <a:latin typeface="Courier"/>
                        </a:rPr>
                        <a:t>/security-audit</a:t>
                      </a:r>
                    </a:p>
                  </a:txBody>
                </a:tc>
                <a:tc>
                  <a:txBody>
                    <a:bodyPr/>
                    <a:lstStyle/>
                    <a:p>
                      <a:pPr lvl="0" indent="0" marL="0">
                        <a:buNone/>
                      </a:pPr>
                      <a:r>
                        <a:rPr/>
                        <a:t>Audit de sécurité basique</a:t>
                      </a:r>
                    </a:p>
                  </a:txBody>
                </a:tc>
              </a:tr>
            </a:tbl>
          </a:graphicData>
        </a:graphic>
      </p:graphicFrame>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10.3 Qu’est-ce qu’un Plugin ?</a:t>
            </a:r>
          </a:p>
          <a:p>
            <a:pPr lvl="0" indent="0" marL="0">
              <a:buNone/>
            </a:pPr>
            <a:r>
              <a:rPr/>
              <a:t>Un Plugin est un </a:t>
            </a:r>
            <a:r>
              <a:rPr b="1"/>
              <a:t>bundle</a:t>
            </a:r>
            <a:r>
              <a:rPr/>
              <a:t> qui peut contenir : - Des skills - Des hooks (automatisations) - Des serveurs MCP - Des configurations</a:t>
            </a:r>
          </a:p>
          <a:p>
            <a:pPr lvl="0" indent="0" marL="0">
              <a:buNone/>
            </a:pPr>
            <a:r>
              <a:rPr b="1"/>
              <a:t>Marketplace officiel :</a:t>
            </a:r>
          </a:p>
          <a:p>
            <a:pPr lvl="0" indent="0">
              <a:buNone/>
            </a:pPr>
            <a:r>
              <a:rPr>
                <a:solidFill>
                  <a:srgbClr val="7F9F7F"/>
                </a:solidFill>
                <a:latin typeface="Courier"/>
              </a:rPr>
              <a:t># Voir les plugins disponibles</a:t>
            </a:r>
            <a:br/>
            <a:r>
              <a:rPr>
                <a:solidFill>
                  <a:srgbClr val="CCCCCC"/>
                </a:solidFill>
                <a:latin typeface="Courier"/>
              </a:rPr>
              <a:t>claude plugins list</a:t>
            </a:r>
            <a:br/>
            <a:br/>
            <a:r>
              <a:rPr>
                <a:solidFill>
                  <a:srgbClr val="7F9F7F"/>
                </a:solidFill>
                <a:latin typeface="Courier"/>
              </a:rPr>
              <a:t># Installer un plugin</a:t>
            </a:r>
            <a:br/>
            <a:r>
              <a:rPr>
                <a:solidFill>
                  <a:srgbClr val="CCCCCC"/>
                </a:solidFill>
                <a:latin typeface="Courier"/>
              </a:rPr>
              <a:t>claude plugins install plugin-name</a:t>
            </a:r>
          </a:p>
          <a:p>
            <a:pPr lvl="0" indent="0" marL="0">
              <a:spcBef>
                <a:spcPts val="3000"/>
              </a:spcBef>
              <a:buNone/>
            </a:pPr>
            <a:r>
              <a:rPr b="1"/>
              <a:t>10.4 Bonnes pratiques débutant</a:t>
            </a:r>
          </a:p>
          <a:p>
            <a:pPr lvl="0" indent="0" marL="0">
              <a:buNone/>
            </a:pPr>
            <a:r>
              <a:rPr b="1"/>
              <a:t>Quand utiliser Claude Code vs coder soi-même :</a:t>
            </a:r>
          </a:p>
          <a:p>
            <a:pPr lvl="0" indent="0" marL="0">
              <a:buNone/>
            </a:pPr>
            <a:r>
              <a:rPr b="1"/>
              <a:t>Utiliser Claude Code pour :</a:t>
            </a:r>
            <a:r>
              <a:rPr/>
              <a:t> - Explorer du code inconnu - Générer du code boilerplate - Écrire des tests - Refactoring mécanique - Documentation</a:t>
            </a:r>
          </a:p>
          <a:p>
            <a:pPr lvl="0" indent="0" marL="0">
              <a:buNone/>
            </a:pPr>
            <a:r>
              <a:rPr b="1"/>
              <a:t>Vérifier attentivement :</a:t>
            </a:r>
            <a:r>
              <a:rPr/>
              <a:t> - Code de sécurité (auth, crypto) - Logique métier critique - Code de performance</a:t>
            </a:r>
          </a:p>
          <a:p>
            <a:pPr lvl="0" indent="0" marL="0">
              <a:buNone/>
            </a:pPr>
            <a:r>
              <a:rPr b="1"/>
              <a:t>Coder soi-même :</a:t>
            </a:r>
            <a:r>
              <a:rPr/>
              <a:t> - Algorithmes très spécifiques - Code ultra-optimisé - Décisions d’architecture majeures</a:t>
            </a:r>
          </a:p>
          <a:p>
            <a:pPr lvl="0" indent="0" marL="0">
              <a:buNone/>
            </a:pPr>
            <a:r>
              <a:rPr b="1"/>
              <a:t>Toujours vérifier le code généré :</a:t>
            </a:r>
          </a:p>
          <a:p>
            <a:pPr lvl="0" indent="-342900" marL="342900">
              <a:buAutoNum type="arabicPeriod"/>
            </a:pPr>
            <a:r>
              <a:rPr/>
              <a:t>Lire le diff avant d’accepter</a:t>
            </a:r>
          </a:p>
          <a:p>
            <a:pPr lvl="0" indent="-342900" marL="342900">
              <a:buAutoNum type="arabicPeriod"/>
            </a:pPr>
            <a:r>
              <a:rPr/>
              <a:t>Lancer les tests après modification</a:t>
            </a:r>
          </a:p>
          <a:p>
            <a:pPr lvl="0" indent="-342900" marL="342900">
              <a:buAutoNum type="arabicPeriod"/>
            </a:pPr>
            <a:r>
              <a:rPr/>
              <a:t>Review comme du code d’un collègue</a:t>
            </a:r>
          </a:p>
          <a:p>
            <a:pPr lvl="0" indent="0" marL="0">
              <a:buNone/>
            </a:pPr>
            <a:r>
              <a:rPr b="1"/>
              <a:t>Exercice pratique :</a:t>
            </a:r>
          </a:p>
          <a:p>
            <a:pPr lvl="0" indent="-342900" marL="342900">
              <a:buAutoNum type="arabicPeriod"/>
            </a:pPr>
            <a:r>
              <a:rPr/>
              <a:t>Listez les skills disponibles</a:t>
            </a:r>
          </a:p>
          <a:p>
            <a:pPr lvl="0" indent="-342900" marL="342900">
              <a:buAutoNum type="arabicPeriod"/>
            </a:pPr>
            <a:r>
              <a:rPr/>
              <a:t>Essayez </a:t>
            </a:r>
            <a:r>
              <a:rPr>
                <a:latin typeface="Courier"/>
              </a:rPr>
              <a:t>/commit</a:t>
            </a:r>
            <a:r>
              <a:rPr/>
              <a:t> sur un projet avec des changements</a:t>
            </a:r>
          </a:p>
          <a:p>
            <a:pPr lvl="0" indent="-342900" marL="342900">
              <a:buAutoNum type="arabicPeriod"/>
            </a:pPr>
            <a:r>
              <a:rPr/>
              <a:t>Si disponible, essayez une skill de la communauté</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Module 11 : MCP Servers - Introduction (30 min)</a:t>
            </a:r>
          </a:p>
          <a:p>
            <a:pPr lvl="0" indent="0" marL="0">
              <a:buNone/>
            </a:pPr>
            <a:r>
              <a:rPr b="1"/>
              <a:t>Objectif pédagogique</a:t>
            </a:r>
            <a:r>
              <a:rPr/>
              <a:t> : À l’issue de ce module, l’apprenant sera capable d’expliquer le Model Context Protocol (MCP), d’installer un serveur MCP simple avec </a:t>
            </a:r>
            <a:r>
              <a:rPr>
                <a:latin typeface="Courier"/>
              </a:rPr>
              <a:t>claude mcp add</a:t>
            </a:r>
            <a:r>
              <a:rPr/>
              <a:t>, et d’utiliser les outils fournis par les serveurs installés.</a:t>
            </a:r>
          </a:p>
          <a:p>
            <a:pPr lvl="0" indent="0" marL="0">
              <a:spcBef>
                <a:spcPts val="3000"/>
              </a:spcBef>
              <a:buNone/>
            </a:pPr>
            <a:r>
              <a:rPr b="1"/>
              <a:t>11.1 Qu’est-ce qu’un MCP Server ?</a:t>
            </a:r>
          </a:p>
          <a:p>
            <a:pPr lvl="0" indent="0" marL="0">
              <a:buNone/>
            </a:pPr>
            <a:r>
              <a:rPr/>
              <a:t>MCP = </a:t>
            </a:r>
            <a:r>
              <a:rPr b="1"/>
              <a:t>Model Context Protocol</a:t>
            </a:r>
          </a:p>
          <a:p>
            <a:pPr lvl="0" indent="0" marL="0">
              <a:buNone/>
            </a:pPr>
            <a:r>
              <a:rPr/>
              <a:t>C’est un protocole standard qui permet d’étendre Claude Code avec de nouveaux outils.</a:t>
            </a:r>
          </a:p>
          <a:p>
            <a:pPr lvl="0" indent="0" marL="0">
              <a:buNone/>
            </a:pPr>
            <a:r>
              <a:rPr b="1"/>
              <a:t>Analogie :</a:t>
            </a:r>
            <a:r>
              <a:rPr/>
              <a:t> - Claude Code = Téléphone - MCP Servers = Applications - Outils MCP = Fonctionnalités des apps</a:t>
            </a:r>
          </a:p>
          <a:p>
            <a:pPr lvl="0" indent="0" marL="0">
              <a:buNone/>
            </a:pPr>
            <a:r>
              <a:rPr b="1"/>
              <a:t>Ce que les MCP Servers permettent :</a:t>
            </a:r>
            <a:r>
              <a:rPr/>
              <a:t> - Accès aux bases de données - Intégration GitHub/GitLab - Automatisation navigateur - Accès à des APIs tierces</a:t>
            </a:r>
          </a:p>
          <a:p>
            <a:pPr lvl="0" indent="0" marL="0">
              <a:spcBef>
                <a:spcPts val="3000"/>
              </a:spcBef>
              <a:buNone/>
            </a:pPr>
            <a:r>
              <a:rPr b="1"/>
              <a:t>11.2 MCP Servers pré-installés</a:t>
            </a:r>
          </a:p>
          <a:p>
            <a:pPr lvl="0" indent="0" marL="0">
              <a:buNone/>
            </a:pPr>
            <a:r>
              <a:rPr b="1"/>
              <a:t>Voir les serveurs actifs :</a:t>
            </a:r>
          </a:p>
          <a:p>
            <a:pPr lvl="0" indent="0">
              <a:buNone/>
            </a:pPr>
            <a:r>
              <a:rPr>
                <a:latin typeface="Courier"/>
              </a:rPr>
              <a:t>&gt; /mcp</a:t>
            </a:r>
          </a:p>
          <a:p>
            <a:pPr lvl="0" indent="0" marL="0">
              <a:buNone/>
            </a:pPr>
            <a:r>
              <a:rPr b="1"/>
              <a:t>Serveurs courants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Serveur</a:t>
                      </a:r>
                    </a:p>
                  </a:txBody>
                  <a:tcPr/>
                </a:tc>
                <a:tc>
                  <a:txBody>
                    <a:bodyPr/>
                    <a:lstStyle/>
                    <a:p>
                      <a:pPr lvl="0" indent="0" marL="0">
                        <a:buNone/>
                      </a:pPr>
                      <a:r>
                        <a:rPr/>
                        <a:t>Outils fournis</a:t>
                      </a:r>
                    </a:p>
                  </a:txBody>
                  <a:tcPr/>
                </a:tc>
              </a:tr>
              <a:tr h="0">
                <a:tc>
                  <a:txBody>
                    <a:bodyPr/>
                    <a:lstStyle/>
                    <a:p>
                      <a:pPr lvl="0" indent="0" marL="0">
                        <a:buNone/>
                      </a:pPr>
                      <a:r>
                        <a:rPr/>
                        <a:t>Chrome DevTools</a:t>
                      </a:r>
                    </a:p>
                  </a:txBody>
                </a:tc>
                <a:tc>
                  <a:txBody>
                    <a:bodyPr/>
                    <a:lstStyle/>
                    <a:p>
                      <a:pPr lvl="0" indent="0" marL="0">
                        <a:buNone/>
                      </a:pPr>
                      <a:r>
                        <a:rPr/>
                        <a:t>Navigation, screenshots, formulaires</a:t>
                      </a:r>
                    </a:p>
                  </a:txBody>
                </a:tc>
              </a:tr>
              <a:tr h="0">
                <a:tc>
                  <a:txBody>
                    <a:bodyPr/>
                    <a:lstStyle/>
                    <a:p>
                      <a:pPr lvl="0" indent="0" marL="0">
                        <a:buNone/>
                      </a:pPr>
                      <a:r>
                        <a:rPr/>
                        <a:t>Filesystem</a:t>
                      </a:r>
                    </a:p>
                  </a:txBody>
                </a:tc>
                <a:tc>
                  <a:txBody>
                    <a:bodyPr/>
                    <a:lstStyle/>
                    <a:p>
                      <a:pPr lvl="0" indent="0" marL="0">
                        <a:buNone/>
                      </a:pPr>
                      <a:r>
                        <a:rPr/>
                        <a:t>Accès fichiers étendu</a:t>
                      </a:r>
                    </a:p>
                  </a:txBody>
                </a:tc>
              </a:tr>
              <a:tr h="0">
                <a:tc>
                  <a:txBody>
                    <a:bodyPr/>
                    <a:lstStyle/>
                    <a:p>
                      <a:pPr lvl="0" indent="0" marL="0">
                        <a:buNone/>
                      </a:pPr>
                      <a:r>
                        <a:rPr/>
                        <a:t>Git</a:t>
                      </a:r>
                    </a:p>
                  </a:txBody>
                </a:tc>
                <a:tc>
                  <a:txBody>
                    <a:bodyPr/>
                    <a:lstStyle/>
                    <a:p>
                      <a:pPr lvl="0" indent="0" marL="0">
                        <a:buNone/>
                      </a:pPr>
                      <a:r>
                        <a:rPr/>
                        <a:t>Opérations git avancées</a:t>
                      </a:r>
                    </a:p>
                  </a:txBody>
                </a:tc>
              </a:tr>
            </a:tbl>
          </a:graphicData>
        </a:graphic>
      </p:graphicFrame>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11.3 Installer un MCP Server simple</a:t>
            </a:r>
          </a:p>
          <a:p>
            <a:pPr lvl="0" indent="0" marL="0">
              <a:buNone/>
            </a:pPr>
            <a:r>
              <a:rPr b="1"/>
              <a:t>Ajouter un serveur :</a:t>
            </a:r>
          </a:p>
          <a:p>
            <a:pPr lvl="0" indent="0">
              <a:buNone/>
            </a:pPr>
            <a:r>
              <a:rPr>
                <a:solidFill>
                  <a:srgbClr val="CCCCCC"/>
                </a:solidFill>
                <a:latin typeface="Courier"/>
              </a:rPr>
              <a:t>claude mcp add filesystem</a:t>
            </a:r>
          </a:p>
          <a:p>
            <a:pPr lvl="0" indent="0" marL="0">
              <a:buNone/>
            </a:pPr>
            <a:r>
              <a:rPr b="1"/>
              <a:t>Lister les serveurs installés :</a:t>
            </a:r>
          </a:p>
          <a:p>
            <a:pPr lvl="0" indent="0">
              <a:buNone/>
            </a:pPr>
            <a:r>
              <a:rPr>
                <a:solidFill>
                  <a:srgbClr val="CCCCCC"/>
                </a:solidFill>
                <a:latin typeface="Courier"/>
              </a:rPr>
              <a:t>claude mcp list</a:t>
            </a:r>
          </a:p>
          <a:p>
            <a:pPr lvl="0" indent="0" marL="0">
              <a:buNone/>
            </a:pPr>
            <a:r>
              <a:rPr b="1"/>
              <a:t>Exemple : Serveur PostgreSQL</a:t>
            </a:r>
          </a:p>
          <a:p>
            <a:pPr lvl="0" indent="0">
              <a:buNone/>
            </a:pPr>
            <a:r>
              <a:rPr>
                <a:solidFill>
                  <a:srgbClr val="7F9F7F"/>
                </a:solidFill>
                <a:latin typeface="Courier"/>
              </a:rPr>
              <a:t># Installer le serveur PostgreSQL</a:t>
            </a:r>
            <a:br/>
            <a:r>
              <a:rPr>
                <a:solidFill>
                  <a:srgbClr val="CCCCCC"/>
                </a:solidFill>
                <a:latin typeface="Courier"/>
              </a:rPr>
              <a:t>claude mcp add postgres</a:t>
            </a:r>
            <a:br/>
            <a:br/>
            <a:r>
              <a:rPr>
                <a:solidFill>
                  <a:srgbClr val="7F9F7F"/>
                </a:solidFill>
                <a:latin typeface="Courier"/>
              </a:rPr>
              <a:t># Configurer la connexion</a:t>
            </a:r>
            <a:br/>
            <a:r>
              <a:rPr>
                <a:solidFill>
                  <a:srgbClr val="7F9F7F"/>
                </a:solidFill>
                <a:latin typeface="Courier"/>
              </a:rPr>
              <a:t># Dans ~/.claude/mcp.json ou .mcp.json du projet</a:t>
            </a:r>
          </a:p>
          <a:p>
            <a:pPr lvl="0" indent="0" marL="0">
              <a:spcBef>
                <a:spcPts val="3000"/>
              </a:spcBef>
              <a:buNone/>
            </a:pPr>
            <a:r>
              <a:rPr b="1"/>
              <a:t>11.4 Utiliser les outils MCP</a:t>
            </a:r>
          </a:p>
          <a:p>
            <a:pPr lvl="0" indent="0" marL="0">
              <a:buNone/>
            </a:pPr>
            <a:r>
              <a:rPr/>
              <a:t>Une fois installés, les outils MCP apparaissent automatiquement.</a:t>
            </a:r>
          </a:p>
          <a:p>
            <a:pPr lvl="0" indent="0" marL="0">
              <a:buNone/>
            </a:pPr>
            <a:r>
              <a:rPr b="1"/>
              <a:t>Exemple avec PostgreSQL :</a:t>
            </a:r>
          </a:p>
          <a:p>
            <a:pPr lvl="0" indent="0">
              <a:buNone/>
            </a:pPr>
            <a:r>
              <a:rPr>
                <a:latin typeface="Courier"/>
              </a:rPr>
              <a:t>&gt; Montre-moi les utilisateurs qui se sont inscrits ce mois
Claude utilise l'outil MCP postgres_query avec :
SELECT * FROM users
WHERE created_at &gt;= date_trunc('month', current_date)</a:t>
            </a:r>
          </a:p>
          <a:p>
            <a:pPr lvl="0" indent="0" marL="0">
              <a:buNone/>
            </a:pPr>
            <a:r>
              <a:rPr b="1"/>
              <a:t>Permissions :</a:t>
            </a:r>
            <a:r>
              <a:rPr/>
              <a:t> - Les serveurs MCP demandent des permissions - Certains nécessitent une authentification OAuth - Les credentials sont stockés de manière sécurisée</a:t>
            </a:r>
          </a:p>
          <a:p>
            <a:pPr lvl="0" indent="0" marL="0">
              <a:buNone/>
            </a:pPr>
            <a:r>
              <a:rPr b="1"/>
              <a:t>Exercice pratique :</a:t>
            </a:r>
          </a:p>
          <a:p>
            <a:pPr lvl="0" indent="-342900" marL="342900">
              <a:buAutoNum type="arabicPeriod"/>
            </a:pPr>
            <a:r>
              <a:rPr/>
              <a:t>Utilisez </a:t>
            </a:r>
            <a:r>
              <a:rPr>
                <a:latin typeface="Courier"/>
              </a:rPr>
              <a:t>/mcp</a:t>
            </a:r>
            <a:r>
              <a:rPr/>
              <a:t> pour voir les serveurs actifs</a:t>
            </a:r>
          </a:p>
          <a:p>
            <a:pPr lvl="0" indent="-342900" marL="342900">
              <a:buAutoNum type="arabicPeriod"/>
            </a:pPr>
            <a:r>
              <a:rPr/>
              <a:t>Installez un serveur MCP simple (filesystem)</a:t>
            </a:r>
          </a:p>
          <a:p>
            <a:pPr lvl="0" indent="-342900" marL="342900">
              <a:buAutoNum type="arabicPeriod"/>
            </a:pPr>
            <a:r>
              <a:rPr/>
              <a:t>Testez un outil du serveur installé</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12 : Gestion des sessions (20 min)</a:t>
            </a:r>
          </a:p>
          <a:p>
            <a:pPr lvl="0" indent="0" marL="0">
              <a:buNone/>
            </a:pPr>
            <a:r>
              <a:rPr b="1"/>
              <a:t>Objectif pédagogique</a:t>
            </a:r>
            <a:r>
              <a:rPr/>
              <a:t> : À l’issue de ce module, l’apprenant sera capable de gérer ses sessions Claude Code (reprendre, nommer, exporter), de naviguer dans l’historique, et d’utiliser les checkpoints pour revenir à un état précédent avec </a:t>
            </a:r>
            <a:r>
              <a:rPr>
                <a:latin typeface="Courier"/>
              </a:rPr>
              <a:t>/rewind</a:t>
            </a:r>
            <a:r>
              <a:rPr/>
              <a:t>.</a:t>
            </a:r>
          </a:p>
          <a:p>
            <a:pPr lvl="0" indent="0" marL="0">
              <a:spcBef>
                <a:spcPts val="3000"/>
              </a:spcBef>
              <a:buNone/>
            </a:pPr>
            <a:r>
              <a:rPr b="1"/>
              <a:t>12.1 Sessions et persistance</a:t>
            </a:r>
          </a:p>
          <a:p>
            <a:pPr lvl="0" indent="0" marL="0">
              <a:buNone/>
            </a:pPr>
            <a:r>
              <a:rPr b="1"/>
              <a:t>Les sessions sont sauvegardées automatiquement.</a:t>
            </a:r>
          </a:p>
          <a:p>
            <a:pPr lvl="0" indent="0" marL="0">
              <a:buNone/>
            </a:pPr>
            <a:r>
              <a:rPr/>
              <a:t>Chaque session contient : - L’historique de conversation - Les fichiers lus - Les actions effectuées - Les checkpoints</a:t>
            </a:r>
          </a:p>
          <a:p>
            <a:pPr lvl="0" indent="0" marL="0">
              <a:buNone/>
            </a:pPr>
            <a:r>
              <a:rPr b="1"/>
              <a:t>Reprendre la dernière session :</a:t>
            </a:r>
          </a:p>
          <a:p>
            <a:pPr lvl="0" indent="0">
              <a:buNone/>
            </a:pPr>
            <a:r>
              <a:rPr>
                <a:solidFill>
                  <a:srgbClr val="CCCCCC"/>
                </a:solidFill>
                <a:latin typeface="Courier"/>
              </a:rPr>
              <a:t>claude -c</a:t>
            </a:r>
            <a:br/>
            <a:r>
              <a:rPr>
                <a:solidFill>
                  <a:srgbClr val="7F9F7F"/>
                </a:solidFill>
                <a:latin typeface="Courier"/>
              </a:rPr>
              <a:t># ou</a:t>
            </a:r>
            <a:br/>
            <a:r>
              <a:rPr>
                <a:solidFill>
                  <a:srgbClr val="CCCCCC"/>
                </a:solidFill>
                <a:latin typeface="Courier"/>
              </a:rPr>
              <a:t>claude --continue</a:t>
            </a:r>
          </a:p>
          <a:p>
            <a:pPr lvl="0" indent="0" marL="0">
              <a:buNone/>
            </a:pPr>
            <a:r>
              <a:rPr b="1"/>
              <a:t>Reprendre une session spécifique :</a:t>
            </a:r>
          </a:p>
          <a:p>
            <a:pPr lvl="0" indent="0">
              <a:buNone/>
            </a:pPr>
            <a:r>
              <a:rPr>
                <a:solidFill>
                  <a:srgbClr val="CCCCCC"/>
                </a:solidFill>
                <a:latin typeface="Courier"/>
              </a:rPr>
              <a:t>claude -r nom-session</a:t>
            </a:r>
            <a:br/>
            <a:r>
              <a:rPr>
                <a:solidFill>
                  <a:srgbClr val="7F9F7F"/>
                </a:solidFill>
                <a:latin typeface="Courier"/>
              </a:rPr>
              <a:t># ou</a:t>
            </a:r>
            <a:br/>
            <a:r>
              <a:rPr>
                <a:solidFill>
                  <a:srgbClr val="CCCCCC"/>
                </a:solidFill>
                <a:latin typeface="Courier"/>
              </a:rPr>
              <a:t>claude --resume nom-session</a:t>
            </a:r>
          </a:p>
          <a:p>
            <a:pPr lvl="0" indent="0" marL="0">
              <a:buNone/>
            </a:pPr>
            <a:r>
              <a:rPr b="1"/>
              <a:t>Nommer une session :</a:t>
            </a:r>
          </a:p>
          <a:p>
            <a:pPr lvl="0" indent="0">
              <a:buNone/>
            </a:pPr>
            <a:r>
              <a:rPr>
                <a:latin typeface="Courier"/>
              </a:rPr>
              <a:t>&gt; /rename feature-auth-sso</a:t>
            </a:r>
          </a:p>
          <a:p>
            <a:pPr lvl="0" indent="0" marL="0">
              <a:spcBef>
                <a:spcPts val="3000"/>
              </a:spcBef>
              <a:buNone/>
            </a:pPr>
            <a:r>
              <a:rPr b="1"/>
              <a:t>12.2 Historique et navigation</a:t>
            </a:r>
          </a:p>
          <a:p>
            <a:pPr lvl="0" indent="0" marL="0">
              <a:buNone/>
            </a:pPr>
            <a:r>
              <a:rPr b="1"/>
              <a:t>Voir les sessions passées :</a:t>
            </a:r>
          </a:p>
          <a:p>
            <a:pPr lvl="0" indent="0">
              <a:buNone/>
            </a:pPr>
            <a:r>
              <a:rPr>
                <a:latin typeface="Courier"/>
              </a:rPr>
              <a:t>&gt; /resume</a:t>
            </a:r>
          </a:p>
          <a:p>
            <a:pPr lvl="0" indent="0" marL="0">
              <a:buNone/>
            </a:pPr>
            <a:r>
              <a:rPr/>
              <a:t>Affiche une liste des sessions récentes avec : - Nom/ID - Date - Projet - Résumé</a:t>
            </a:r>
          </a:p>
          <a:p>
            <a:pPr lvl="0" indent="0" marL="0">
              <a:buNone/>
            </a:pPr>
            <a:r>
              <a:rPr b="1"/>
              <a:t>Exporter une conversation :</a:t>
            </a:r>
          </a:p>
          <a:p>
            <a:pPr lvl="0" indent="0">
              <a:buNone/>
            </a:pPr>
            <a:r>
              <a:rPr>
                <a:latin typeface="Courier"/>
              </a:rPr>
              <a:t>&gt; /export ./ma-session.md</a:t>
            </a:r>
          </a:p>
          <a:p>
            <a:pPr lvl="0" indent="0" marL="0">
              <a:buNone/>
            </a:pPr>
            <a:r>
              <a:rPr/>
              <a:t>Crée un fichier markdown avec tout l’historique.</a:t>
            </a:r>
          </a:p>
          <a:p>
            <a:pPr lvl="0" indent="0" marL="0">
              <a:spcBef>
                <a:spcPts val="3000"/>
              </a:spcBef>
              <a:buNone/>
            </a:pPr>
            <a:r>
              <a:rPr b="1"/>
              <a:t>12.3 Checkpoints et Rewind</a:t>
            </a:r>
          </a:p>
          <a:p>
            <a:pPr lvl="0" indent="0" marL="0">
              <a:buNone/>
            </a:pPr>
            <a:r>
              <a:rPr b="1"/>
              <a:t>Checkpoints automatiques :</a:t>
            </a:r>
          </a:p>
          <a:p>
            <a:pPr lvl="0" indent="0" marL="0">
              <a:buNone/>
            </a:pPr>
            <a:r>
              <a:rPr/>
              <a:t>Claude Code sauvegarde des “checkpoints” : - Avant chaque modification de fichier - Avant chaque commande destructive - À intervalles réguliers</a:t>
            </a:r>
          </a:p>
          <a:p>
            <a:pPr lvl="0" indent="0" marL="0">
              <a:buNone/>
            </a:pPr>
            <a:r>
              <a:rPr b="1"/>
              <a:t>Revenir en arrière :</a:t>
            </a:r>
          </a:p>
          <a:p>
            <a:pPr lvl="0" indent="0">
              <a:buNone/>
            </a:pPr>
            <a:r>
              <a:rPr>
                <a:latin typeface="Courier"/>
              </a:rPr>
              <a:t>&gt; /rewind</a:t>
            </a:r>
          </a:p>
          <a:p>
            <a:pPr lvl="0" indent="0" marL="0">
              <a:buNone/>
            </a:pPr>
            <a:r>
              <a:rPr/>
              <a:t>Affiche les checkpoints et permet de choisir.</a:t>
            </a:r>
          </a:p>
          <a:p>
            <a:pPr lvl="0" indent="0" marL="0">
              <a:buNone/>
            </a:pPr>
            <a:r>
              <a:rPr b="1"/>
              <a:t>Rewind rapide :</a:t>
            </a:r>
          </a:p>
          <a:p>
            <a:pPr lvl="0" indent="0" marL="0">
              <a:buNone/>
            </a:pPr>
            <a:r>
              <a:rPr>
                <a:latin typeface="Courier"/>
              </a:rPr>
              <a:t>Esc</a:t>
            </a:r>
            <a:r>
              <a:rPr/>
              <a:t> + </a:t>
            </a:r>
            <a:r>
              <a:rPr>
                <a:latin typeface="Courier"/>
              </a:rPr>
              <a:t>Esc</a:t>
            </a:r>
            <a:r>
              <a:rPr/>
              <a:t> → Revient au checkpoint précédent</a:t>
            </a:r>
          </a:p>
          <a:p>
            <a:pPr lvl="0" indent="0" marL="0">
              <a:buNone/>
            </a:pPr>
            <a:r>
              <a:rPr b="1"/>
              <a:t>Limitations :</a:t>
            </a:r>
            <a:r>
              <a:rPr/>
              <a:t> - Ne peut pas annuler les changements externes (autre éditeur, git pull) - Les commandes système ne sont pas réversibles</a:t>
            </a:r>
          </a:p>
          <a:p>
            <a:pPr lvl="0" indent="0" marL="0">
              <a:buNone/>
            </a:pPr>
            <a:r>
              <a:rPr b="1"/>
              <a:t>Exercice pratique :</a:t>
            </a:r>
          </a:p>
          <a:p>
            <a:pPr lvl="0" indent="-342900" marL="342900">
              <a:buAutoNum type="arabicPeriod"/>
            </a:pPr>
            <a:r>
              <a:rPr/>
              <a:t>Travaillez sur un projet pendant 10 minutes</a:t>
            </a:r>
          </a:p>
          <a:p>
            <a:pPr lvl="0" indent="-342900" marL="342900">
              <a:buAutoNum type="arabicPeriod"/>
            </a:pPr>
            <a:r>
              <a:rPr/>
              <a:t>Nommez votre session avec </a:t>
            </a:r>
            <a:r>
              <a:rPr>
                <a:latin typeface="Courier"/>
              </a:rPr>
              <a:t>/rename</a:t>
            </a:r>
          </a:p>
          <a:p>
            <a:pPr lvl="0" indent="-342900" marL="342900">
              <a:buAutoNum type="arabicPeriod"/>
            </a:pPr>
            <a:r>
              <a:rPr/>
              <a:t>Quittez avec </a:t>
            </a:r>
            <a:r>
              <a:rPr>
                <a:latin typeface="Courier"/>
              </a:rPr>
              <a:t>/exit</a:t>
            </a:r>
          </a:p>
          <a:p>
            <a:pPr lvl="0" indent="-342900" marL="342900">
              <a:buAutoNum type="arabicPeriod"/>
            </a:pPr>
            <a:r>
              <a:rPr/>
              <a:t>Reprenez avec </a:t>
            </a:r>
            <a:r>
              <a:rPr>
                <a:latin typeface="Courier"/>
              </a:rPr>
              <a:t>claude -r nom-session</a:t>
            </a:r>
          </a:p>
          <a:p>
            <a:pPr lvl="0" indent="-342900" marL="342900">
              <a:buAutoNum type="arabicPeriod"/>
            </a:pPr>
            <a:r>
              <a:rPr/>
              <a:t>Essayez </a:t>
            </a:r>
            <a:r>
              <a:rPr>
                <a:latin typeface="Courier"/>
              </a:rPr>
              <a:t>/rewind</a:t>
            </a:r>
            <a:r>
              <a:rPr/>
              <a:t> pour voir les checkpoints</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Projet de fin de partie gratuite : BizCraft Diagnostic (Phase 0)</a:t>
            </a:r>
          </a:p>
          <a:p>
            <a:pPr lvl="0" indent="0" marL="0">
              <a:spcBef>
                <a:spcPts val="3000"/>
              </a:spcBef>
              <a:buNone/>
            </a:pPr>
            <a:r>
              <a:rPr b="1"/>
              <a:t>Contexte du projet</a:t>
            </a:r>
          </a:p>
          <a:p>
            <a:pPr lvl="0" indent="0" marL="0">
              <a:buNone/>
            </a:pPr>
            <a:r>
              <a:rPr b="1"/>
              <a:t>BizCraft</a:t>
            </a:r>
            <a:r>
              <a:rPr/>
              <a:t> est un SaaS qui aide les entrepreneurs à structurer leur entreprise selon les principes du livre </a:t>
            </a:r>
            <a:r>
              <a:rPr i="1"/>
              <a:t>The E-Myth Revisited</a:t>
            </a:r>
            <a:r>
              <a:rPr/>
              <a:t> de Michael Gerber.</a:t>
            </a:r>
          </a:p>
          <a:p>
            <a:pPr lvl="0" indent="0" marL="0">
              <a:buNone/>
            </a:pPr>
            <a:r>
              <a:rPr/>
              <a:t>Le concept central : tout entrepreneur a trois personnalités : - </a:t>
            </a:r>
            <a:r>
              <a:rPr b="1"/>
              <a:t>L’Entrepreneur</a:t>
            </a:r>
            <a:r>
              <a:rPr/>
              <a:t> : Le visionnaire qui voit les opportunités - </a:t>
            </a:r>
            <a:r>
              <a:rPr b="1"/>
              <a:t>Le Manager</a:t>
            </a:r>
            <a:r>
              <a:rPr/>
              <a:t> : L’organisateur qui crée les systèmes - </a:t>
            </a:r>
            <a:r>
              <a:rPr b="1"/>
              <a:t>Le Technicien</a:t>
            </a:r>
            <a:r>
              <a:rPr/>
              <a:t> : L’expert qui fait le travail</a:t>
            </a:r>
          </a:p>
          <a:p>
            <a:pPr lvl="0" indent="0" marL="0">
              <a:buNone/>
            </a:pPr>
            <a:r>
              <a:rPr/>
              <a:t>Le déséquilibre de ces trois profils est souvent la cause des difficultés des petites entreprises.</a:t>
            </a:r>
          </a:p>
          <a:p>
            <a:pPr lvl="0" indent="0" marL="0">
              <a:spcBef>
                <a:spcPts val="3000"/>
              </a:spcBef>
              <a:buNone/>
            </a:pPr>
            <a:r>
              <a:rPr b="1"/>
              <a:t>Ce qu’on construit</a:t>
            </a:r>
          </a:p>
          <a:p>
            <a:pPr lvl="0" indent="0" marL="0">
              <a:buNone/>
            </a:pPr>
            <a:r>
              <a:rPr/>
              <a:t>Le </a:t>
            </a:r>
            <a:r>
              <a:rPr b="1"/>
              <a:t>Diagnostic Gratuit</a:t>
            </a:r>
            <a:r>
              <a:rPr/>
              <a:t> est le tunnel d’acquisition du SaaS. C’est un questionnaire qui : 1. Évalue le profil E/M/T de l’entrepreneur 2. Génère un rapport personnalisé 3. Capture l’email pour le nurturing</a:t>
            </a:r>
          </a:p>
          <a:p>
            <a:pPr lvl="0" indent="0" marL="0">
              <a:spcBef>
                <a:spcPts val="3000"/>
              </a:spcBef>
              <a:buNone/>
            </a:pPr>
            <a:r>
              <a:rPr b="1"/>
              <a:t>Stack technique</a:t>
            </a:r>
          </a:p>
          <a:p>
            <a:pPr lvl="0"/>
            <a:r>
              <a:rPr b="1"/>
              <a:t>Frontend</a:t>
            </a:r>
            <a:r>
              <a:rPr/>
              <a:t> : Angular 17+ standalone, Tailwind CSS</a:t>
            </a:r>
          </a:p>
          <a:p>
            <a:pPr lvl="0"/>
            <a:r>
              <a:rPr b="1"/>
              <a:t>Backend</a:t>
            </a:r>
            <a:r>
              <a:rPr/>
              <a:t> : Go 1.21+</a:t>
            </a:r>
          </a:p>
          <a:p>
            <a:pPr lvl="0"/>
            <a:r>
              <a:rPr b="1"/>
              <a:t>Base de données</a:t>
            </a:r>
            <a:r>
              <a:rPr/>
              <a:t> : PostgreSQL</a:t>
            </a:r>
          </a:p>
          <a:p>
            <a:pPr lvl="0"/>
            <a:r>
              <a:rPr b="1"/>
              <a:t>PDF</a:t>
            </a:r>
            <a:r>
              <a:rPr/>
              <a:t> : go-wkhtmltopdf ou chromedp</a:t>
            </a:r>
          </a:p>
          <a:p>
            <a:pPr lvl="0"/>
            <a:r>
              <a:rPr b="1"/>
              <a:t>Email</a:t>
            </a:r>
            <a:r>
              <a:rPr/>
              <a:t> : SMTP</a:t>
            </a:r>
          </a:p>
          <a:p>
            <a:pPr lvl="0" indent="0" marL="0">
              <a:spcBef>
                <a:spcPts val="3000"/>
              </a:spcBef>
              <a:buNone/>
            </a:pPr>
            <a:r>
              <a:rPr b="1"/>
              <a:t>Étapes de construction avec Claude Code</a:t>
            </a:r>
          </a:p>
          <a:p>
            <a:pPr lvl="0" indent="0" marL="0">
              <a:buNone/>
            </a:pPr>
            <a:r>
              <a:rPr b="1"/>
              <a:t>Étape 1 : Setup du projet</a:t>
            </a:r>
          </a:p>
          <a:p>
            <a:pPr lvl="0" indent="0">
              <a:buNone/>
            </a:pPr>
            <a:r>
              <a:rPr>
                <a:latin typeface="Courier"/>
              </a:rPr>
              <a:t>&gt; Initialise un nouveau projet avec :
&gt; - Backend Go avec Chi router
&gt; - Frontend Angular 17 standalone
&gt; - Docker Compose pour PostgreSQL
&gt; - Structure de dossiers propre</a:t>
            </a:r>
          </a:p>
          <a:p>
            <a:pPr lvl="0" indent="0" marL="0">
              <a:buNone/>
            </a:pPr>
            <a:r>
              <a:rPr b="1"/>
              <a:t>Étape 2 : Créer le CLAUDE.md</a:t>
            </a:r>
          </a:p>
          <a:p>
            <a:pPr lvl="0" indent="0">
              <a:buNone/>
            </a:pPr>
            <a:r>
              <a:rPr>
                <a:latin typeface="Courier"/>
              </a:rPr>
              <a:t>&gt; /init
Puis personnaliser avec les conventions BizCraft.</a:t>
            </a:r>
          </a:p>
          <a:p>
            <a:pPr lvl="0" indent="0" marL="0">
              <a:buNone/>
            </a:pPr>
            <a:r>
              <a:rPr b="1"/>
              <a:t>Étape 3 : Frontend - Landing page</a:t>
            </a:r>
          </a:p>
          <a:p>
            <a:pPr lvl="0" indent="0">
              <a:buNone/>
            </a:pPr>
            <a:r>
              <a:rPr>
                <a:latin typeface="Courier"/>
              </a:rPr>
              <a:t>&gt; Crée une landing page /diagnostic avec :
&gt; - Hero section avec CTA "Faire le diagnostic"
&gt; - 3 sections expliquant E/M/T
&gt; - Témoignages
&gt; - Footer avec mentions légales
&gt; Utilise Tailwind CSS.</a:t>
            </a:r>
          </a:p>
          <a:p>
            <a:pPr lvl="0" indent="0" marL="0">
              <a:buNone/>
            </a:pPr>
            <a:r>
              <a:rPr b="1"/>
              <a:t>Étape 4 : Frontend - Questionnaire</a:t>
            </a:r>
          </a:p>
          <a:p>
            <a:pPr lvl="0" indent="0">
              <a:buNone/>
            </a:pPr>
            <a:r>
              <a:rPr>
                <a:latin typeface="Courier"/>
              </a:rPr>
              <a:t>&gt; Crée un composant de questionnaire avec :
&gt; - 20 questions à choix multiples
&gt; - Barre de progression
&gt; - Navigation avant/arrière
&gt; - Sauvegarde des réponses en state
&gt; - Soumission à l'API</a:t>
            </a:r>
          </a:p>
          <a:p>
            <a:pPr lvl="0" indent="0" marL="0">
              <a:buNone/>
            </a:pPr>
            <a:r>
              <a:rPr b="1"/>
              <a:t>Étape 5 : Backend - API de soumission</a:t>
            </a:r>
          </a:p>
          <a:p>
            <a:pPr lvl="0" indent="0">
              <a:buNone/>
            </a:pPr>
            <a:r>
              <a:rPr>
                <a:latin typeface="Courier"/>
              </a:rPr>
              <a:t>&gt; Crée l'endpoint POST /api/diagnostic/submit qui :
&gt; - Reçoit les réponses du questionnaire
&gt; - Calcule le score E/M/T
&gt; - Sauvegarde en base
&gt; - Retourne les scores</a:t>
            </a:r>
          </a:p>
          <a:p>
            <a:pPr lvl="0" indent="0" marL="0">
              <a:buNone/>
            </a:pPr>
            <a:r>
              <a:rPr b="1"/>
              <a:t>Étape 6 : Algorithme de scoring</a:t>
            </a:r>
          </a:p>
          <a:p>
            <a:pPr lvl="0" indent="0">
              <a:buNone/>
            </a:pPr>
            <a:r>
              <a:rPr>
                <a:latin typeface="Courier"/>
              </a:rPr>
              <a:t>&gt; Implémente l'algorithme de scoring :
&gt; - Chaque question a un poids pour E, M, et T
&gt; - Calcule le pourcentage pour chaque profil
&gt; - Le total fait 100%</a:t>
            </a:r>
          </a:p>
          <a:p>
            <a:pPr lvl="0" indent="0" marL="0">
              <a:buNone/>
            </a:pPr>
            <a:r>
              <a:rPr b="1"/>
              <a:t>Étape 7 : Génération PDF</a:t>
            </a:r>
          </a:p>
          <a:p>
            <a:pPr lvl="0" indent="0">
              <a:buNone/>
            </a:pPr>
            <a:r>
              <a:rPr>
                <a:latin typeface="Courier"/>
              </a:rPr>
              <a:t>&gt; Crée la génération du rapport PDF avec :
&gt; - En-tête avec logo BizCraft
&gt; - Radar chart des scores
&gt; - Interprétation personnalisée
&gt; - Conseils selon le profil dominant</a:t>
            </a:r>
          </a:p>
          <a:p>
            <a:pPr lvl="0" indent="0" marL="0">
              <a:buNone/>
            </a:pPr>
            <a:r>
              <a:rPr b="1"/>
              <a:t>Étape 8 : Envoi email</a:t>
            </a:r>
          </a:p>
          <a:p>
            <a:pPr lvl="0" indent="0">
              <a:buNone/>
            </a:pPr>
            <a:r>
              <a:rPr>
                <a:latin typeface="Courier"/>
              </a:rPr>
              <a:t>&gt; Ajoute l'envoi d'email avec :
&gt; - Template HTML responsive
&gt; - PDF en pièce jointe
&gt; - Configuration SMTP via variables d'environnement</a:t>
            </a:r>
          </a:p>
          <a:p>
            <a:pPr lvl="0" indent="0" marL="0">
              <a:spcBef>
                <a:spcPts val="3000"/>
              </a:spcBef>
              <a:buNone/>
            </a:pPr>
            <a:r>
              <a:rPr b="1"/>
              <a:t>Livrables attendus</a:t>
            </a:r>
          </a:p>
          <a:p>
            <a:pPr lvl="0"/>
            <a:r>
              <a:rPr/>
              <a:t>☐ Projet initialisé avec structure correcte</a:t>
            </a:r>
          </a:p>
          <a:p>
            <a:pPr lvl="0"/>
            <a:r>
              <a:rPr/>
              <a:t>☐ CLAUDE.md personnalisé pour BizCraft</a:t>
            </a:r>
          </a:p>
          <a:p>
            <a:pPr lvl="0"/>
            <a:r>
              <a:rPr/>
              <a:t>☐ Landing page fonctionnelle</a:t>
            </a:r>
          </a:p>
          <a:p>
            <a:pPr lvl="0"/>
            <a:r>
              <a:rPr/>
              <a:t>☐ Questionnaire interactif complet</a:t>
            </a:r>
          </a:p>
          <a:p>
            <a:pPr lvl="0"/>
            <a:r>
              <a:rPr/>
              <a:t>☐ API de soumission avec scoring</a:t>
            </a:r>
          </a:p>
          <a:p>
            <a:pPr lvl="0"/>
            <a:r>
              <a:rPr/>
              <a:t>☐ Génération PDF du rapport</a:t>
            </a:r>
          </a:p>
          <a:p>
            <a:pPr lvl="0"/>
            <a:r>
              <a:rPr/>
              <a:t>☐ Envoi d’email automatique</a:t>
            </a:r>
          </a:p>
          <a:p>
            <a:pPr lvl="0"/>
            <a:r>
              <a:rPr/>
              <a:t>☐ Tests unitaires backend</a:t>
            </a:r>
          </a:p>
          <a:p>
            <a:pPr lvl="0"/>
            <a:r>
              <a:rPr/>
              <a:t>☐ README avec instructions</a:t>
            </a:r>
          </a:p>
        </p:txBody>
      </p:sp>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PARTIE 2 : MAÎTRISE AVANCÉE</a:t>
            </a:r>
          </a:p>
        </p:txBody>
      </p:sp>
      <p:sp>
        <p:nvSpPr>
          <p:cNvPr id="3" name="Content Placeholder 2"/>
          <p:cNvSpPr>
            <a:spLocks noGrp="1"/>
          </p:cNvSpPr>
          <p:nvPr>
            <p:ph idx="1"/>
          </p:nvPr>
        </p:nvSpPr>
        <p:spPr/>
        <p:txBody>
          <a:bodyPr/>
          <a:lstStyle/>
          <a:p>
            <a:pPr lvl="0" indent="0" marL="0">
              <a:spcBef>
                <a:spcPts val="3000"/>
              </a:spcBef>
              <a:buNone/>
            </a:pPr>
            <a:r>
              <a:rPr b="1"/>
              <a:t>Objectif de la Partie 2</a:t>
            </a:r>
          </a:p>
          <a:p>
            <a:pPr lvl="0" indent="0" marL="0">
              <a:buNone/>
            </a:pPr>
            <a:r>
              <a:rPr/>
              <a:t>À l’issue de cette partie, l’apprenant sera capable de : - Configurer Claude Code de manière avancée (settings.json, variables d’environnement, managed settings) - Créer des fichiers CLAUDE.md modulaires avec imports - Gérer le contexte efficacement et optimiser l’usage des tokens - Configurer des règles de permission granulaires et sécurisées - Installer et créer des serveurs MCP (PostgreSQL, GitHub, Chrome DevTools) - Créer des skills et subagents personnalisés - Implémenter des hooks d’automatisation (pre-commit, formatage, notifications) - Intégrer Claude Code dans VS Code, JetBrains et les workflows CI/CD - Déployer Claude Code en contexte enterprise (managed settings, providers cloud)</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Module 13 : Configuration avancée - Fichiers (45 min)</a:t>
            </a:r>
          </a:p>
          <a:p>
            <a:pPr lvl="0" indent="0" marL="0">
              <a:buNone/>
            </a:pPr>
            <a:r>
              <a:rPr b="1"/>
              <a:t>Objectif pédagogique</a:t>
            </a:r>
            <a:r>
              <a:rPr/>
              <a:t> : À l’issue de ce module, l’apprenant sera capable de naviguer la hiérarchie des fichiers de configuration (managed, local, project, user), de créer un settings.json personnalisé, et d’utiliser les fichiers spéciaux (.claudeignore, .mcp.json).</a:t>
            </a:r>
          </a:p>
          <a:p>
            <a:pPr lvl="0" indent="0" marL="0">
              <a:spcBef>
                <a:spcPts val="3000"/>
              </a:spcBef>
              <a:buNone/>
            </a:pPr>
            <a:r>
              <a:rPr b="1"/>
              <a:t>13.1 Hiérarchie des fichiers de configuration</a:t>
            </a:r>
          </a:p>
          <a:p>
            <a:pPr lvl="0" indent="0" marL="0">
              <a:buNone/>
            </a:pPr>
            <a:r>
              <a:rPr/>
              <a:t>Claude Code utilise une hiérarchie de configuration avec différents niveaux de priorité :</a:t>
            </a:r>
          </a:p>
          <a:p>
            <a:pPr lvl="0" indent="0">
              <a:buNone/>
            </a:pPr>
            <a:r>
              <a:rPr>
                <a:latin typeface="Courier"/>
              </a:rPr>
              <a:t>┌─────────────────────────────────────────────────┐
│ PRIORITÉ LA PLUS HAUTE                          │
├─────────────────────────────────────────────────┤
│ 1. Managed Settings (IT/entreprise)             │
│    └── managed-settings.json                    │
├─────────────────────────────────────────────────┤
│ 2. Flags CLI                                    │
│    └── claude --model opus                      │
├─────────────────────────────────────────────────┤
│ 3. Local Settings (personnel, gitignored)       │
│    └── .claude/*.local.*                        │
├─────────────────────────────────────────────────┤
│ 4. Project Settings (partagé équipe)            │
│    └── .claude/settings.json                    │
├─────────────────────────────────────────────────┤
│ 5. User Settings (tous projets)                 │
│    └── ~/.claude/settings.json                  │
│                                                 │
│ PRIORITÉ LA PLUS BASSE                          │
└─────────────────────────────────────────────────┘</a:t>
            </a:r>
          </a:p>
          <a:p>
            <a:pPr lvl="0" indent="0" marL="0">
              <a:buNone/>
            </a:pPr>
            <a:r>
              <a:rPr b="1"/>
              <a:t>Managed (Entreprise) :</a:t>
            </a:r>
            <a:r>
              <a:rPr/>
              <a:t> - Fichier </a:t>
            </a:r>
            <a:r>
              <a:rPr>
                <a:latin typeface="Courier"/>
              </a:rPr>
              <a:t>managed-settings.json</a:t>
            </a:r>
            <a:r>
              <a:rPr/>
              <a:t> - Contrôlé par IT/administrateurs - Ne peut pas être overridé par l’utilisateur - Utilisé pour politiques d’entreprise</a:t>
            </a:r>
          </a:p>
          <a:p>
            <a:pPr lvl="0" indent="0" marL="0">
              <a:buNone/>
            </a:pPr>
            <a:r>
              <a:rPr b="1"/>
              <a:t>Local (Personnel) :</a:t>
            </a:r>
            <a:r>
              <a:rPr/>
              <a:t> - Dossier </a:t>
            </a:r>
            <a:r>
              <a:rPr>
                <a:latin typeface="Courier"/>
              </a:rPr>
              <a:t>.claude/</a:t>
            </a:r>
            <a:r>
              <a:rPr/>
              <a:t> avec fichiers </a:t>
            </a:r>
            <a:r>
              <a:rPr>
                <a:latin typeface="Courier"/>
              </a:rPr>
              <a:t>*.local.*</a:t>
            </a:r>
            <a:r>
              <a:rPr/>
              <a:t> - Automatiquement dans </a:t>
            </a:r>
            <a:r>
              <a:rPr>
                <a:latin typeface="Courier"/>
              </a:rPr>
              <a:t>.gitignore</a:t>
            </a:r>
            <a:r>
              <a:rPr/>
              <a:t> - Vos préférences personnelles - API keys, tokens personnels</a:t>
            </a:r>
          </a:p>
          <a:p>
            <a:pPr lvl="0" indent="0" marL="0">
              <a:buNone/>
            </a:pPr>
            <a:r>
              <a:rPr b="1"/>
              <a:t>Project (Équipe) :</a:t>
            </a:r>
            <a:r>
              <a:rPr/>
              <a:t> - Dossier </a:t>
            </a:r>
            <a:r>
              <a:rPr>
                <a:latin typeface="Courier"/>
              </a:rPr>
              <a:t>.claude/</a:t>
            </a:r>
            <a:r>
              <a:rPr/>
              <a:t> sans </a:t>
            </a:r>
            <a:r>
              <a:rPr>
                <a:latin typeface="Courier"/>
              </a:rPr>
              <a:t>.local</a:t>
            </a:r>
            <a:r>
              <a:rPr/>
              <a:t> - Versionné avec le projet - Partagé avec l’équipe - Conventions du projet</a:t>
            </a:r>
          </a:p>
          <a:p>
            <a:pPr lvl="0" indent="0" marL="0">
              <a:buNone/>
            </a:pPr>
            <a:r>
              <a:rPr b="1"/>
              <a:t>User (Global) :</a:t>
            </a:r>
            <a:r>
              <a:rPr/>
              <a:t> - Dossier </a:t>
            </a:r>
            <a:r>
              <a:rPr>
                <a:latin typeface="Courier"/>
              </a:rPr>
              <a:t>~/.claude/</a:t>
            </a:r>
            <a:r>
              <a:rPr/>
              <a:t> - Appliqué à tous vos projets - Vos préférences par défaut</a:t>
            </a:r>
          </a:p>
          <a:p>
            <a:pPr lvl="0" indent="0" marL="0">
              <a:spcBef>
                <a:spcPts val="3000"/>
              </a:spcBef>
              <a:buNone/>
            </a:pPr>
            <a:r>
              <a:rPr b="1"/>
              <a:t>13.2 Le fichier settings.json</a:t>
            </a:r>
          </a:p>
          <a:p>
            <a:pPr lvl="0" indent="0" marL="0">
              <a:buNone/>
            </a:pPr>
            <a:r>
              <a:rPr b="1"/>
              <a:t>Structure complète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"model"</a:t>
            </a:r>
            <a:r>
              <a:rPr>
                <a:solidFill>
                  <a:srgbClr val="EFEF8F"/>
                </a:solidFill>
                <a:latin typeface="Courier"/>
              </a:rPr>
              <a:t>:</a:t>
            </a:r>
            <a:r>
              <a:rPr>
                <a:solidFill>
                  <a:srgbClr val="CCCCCC"/>
                </a:solidFill>
                <a:latin typeface="Courier"/>
              </a:rPr>
              <a:t> </a:t>
            </a:r>
            <a:r>
              <a:rPr>
                <a:solidFill>
                  <a:srgbClr val="CC9393"/>
                </a:solidFill>
                <a:latin typeface="Courier"/>
              </a:rPr>
              <a:t>"sonnet"</a:t>
            </a:r>
            <a:r>
              <a:rPr>
                <a:solidFill>
                  <a:srgbClr val="EFEF8F"/>
                </a:solidFill>
                <a:latin typeface="Courier"/>
              </a:rPr>
              <a:t>,</a:t>
            </a:r>
            <a:br/>
            <a:r>
              <a:rPr>
                <a:solidFill>
                  <a:srgbClr val="CCCCCC"/>
                </a:solidFill>
                <a:latin typeface="Courier"/>
              </a:rPr>
              <a:t>  </a:t>
            </a:r>
            <a:r>
              <a:rPr>
                <a:solidFill>
                  <a:srgbClr val="DFDFBF"/>
                </a:solidFill>
                <a:latin typeface="Courier"/>
              </a:rPr>
              <a:t>"customApiKeyHelper"</a:t>
            </a:r>
            <a:r>
              <a:rPr>
                <a:solidFill>
                  <a:srgbClr val="EFEF8F"/>
                </a:solidFill>
                <a:latin typeface="Courier"/>
              </a:rPr>
              <a:t>:</a:t>
            </a:r>
            <a:r>
              <a:rPr>
                <a:solidFill>
                  <a:srgbClr val="CCCCCC"/>
                </a:solidFill>
                <a:latin typeface="Courier"/>
              </a:rPr>
              <a:t> </a:t>
            </a:r>
            <a:r>
              <a:rPr>
                <a:solidFill>
                  <a:srgbClr val="F0DFAF"/>
                </a:solidFill>
                <a:latin typeface="Courier"/>
              </a:rPr>
              <a:t>null</a:t>
            </a:r>
            <a:r>
              <a:rPr>
                <a:solidFill>
                  <a:srgbClr val="EFEF8F"/>
                </a:solidFill>
                <a:latin typeface="Courier"/>
              </a:rPr>
              <a:t>,</a:t>
            </a:r>
            <a:br/>
            <a:br/>
            <a:r>
              <a:rPr>
                <a:solidFill>
                  <a:srgbClr val="CCCCCC"/>
                </a:solidFill>
                <a:latin typeface="Courier"/>
              </a:rPr>
              <a:t>  </a:t>
            </a:r>
            <a:r>
              <a:rPr>
                <a:solidFill>
                  <a:srgbClr val="DFDFBF"/>
                </a:solidFill>
                <a:latin typeface="Courier"/>
              </a:rPr>
              <a:t>"permissions"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"allow"</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CC9393"/>
                </a:solidFill>
                <a:latin typeface="Courier"/>
              </a:rPr>
              <a:t>"Bash(npm run *)"</a:t>
            </a:r>
            <a:r>
              <a:rPr>
                <a:solidFill>
                  <a:srgbClr val="EFEF8F"/>
                </a:solidFill>
                <a:latin typeface="Courier"/>
              </a:rPr>
              <a:t>,</a:t>
            </a:r>
            <a:br/>
            <a:r>
              <a:rPr>
                <a:solidFill>
                  <a:srgbClr val="CCCCCC"/>
                </a:solidFill>
                <a:latin typeface="Courier"/>
              </a:rPr>
              <a:t>      </a:t>
            </a:r>
            <a:r>
              <a:rPr>
                <a:solidFill>
                  <a:srgbClr val="CC9393"/>
                </a:solidFill>
                <a:latin typeface="Courier"/>
              </a:rPr>
              <a:t>"Bash(go test *)"</a:t>
            </a:r>
            <a:r>
              <a:rPr>
                <a:solidFill>
                  <a:srgbClr val="EFEF8F"/>
                </a:solidFill>
                <a:latin typeface="Courier"/>
              </a:rPr>
              <a:t>,</a:t>
            </a:r>
            <a:br/>
            <a:r>
              <a:rPr>
                <a:solidFill>
                  <a:srgbClr val="CCCCCC"/>
                </a:solidFill>
                <a:latin typeface="Courier"/>
              </a:rPr>
              <a:t>      </a:t>
            </a:r>
            <a:r>
              <a:rPr>
                <a:solidFill>
                  <a:srgbClr val="CC9393"/>
                </a:solidFill>
                <a:latin typeface="Courier"/>
              </a:rPr>
              <a:t>"Read(*)"</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"deny"</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CC9393"/>
                </a:solidFill>
                <a:latin typeface="Courier"/>
              </a:rPr>
              <a:t>"Bash(rm -rf *)"</a:t>
            </a:r>
            <a:r>
              <a:rPr>
                <a:solidFill>
                  <a:srgbClr val="EFEF8F"/>
                </a:solidFill>
                <a:latin typeface="Courier"/>
              </a:rPr>
              <a:t>,</a:t>
            </a:r>
            <a:br/>
            <a:r>
              <a:rPr>
                <a:solidFill>
                  <a:srgbClr val="CCCCCC"/>
                </a:solidFill>
                <a:latin typeface="Courier"/>
              </a:rPr>
              <a:t>      </a:t>
            </a:r>
            <a:r>
              <a:rPr>
                <a:solidFill>
                  <a:srgbClr val="CC9393"/>
                </a:solidFill>
                <a:latin typeface="Courier"/>
              </a:rPr>
              <a:t>"Write(.env*)"</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"ask"</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CC9393"/>
                </a:solidFill>
                <a:latin typeface="Courier"/>
              </a:rPr>
              <a:t>"Bash(git push *)"</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br/>
            <a:r>
              <a:rPr>
                <a:solidFill>
                  <a:srgbClr val="CCCCCC"/>
                </a:solidFill>
                <a:latin typeface="Courier"/>
              </a:rPr>
              <a:t>  </a:t>
            </a:r>
            <a:r>
              <a:rPr>
                <a:solidFill>
                  <a:srgbClr val="DFDFBF"/>
                </a:solidFill>
                <a:latin typeface="Courier"/>
              </a:rPr>
              <a:t>"env"</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"NODE_ENV"</a:t>
            </a:r>
            <a:r>
              <a:rPr>
                <a:solidFill>
                  <a:srgbClr val="EFEF8F"/>
                </a:solidFill>
                <a:latin typeface="Courier"/>
              </a:rPr>
              <a:t>:</a:t>
            </a:r>
            <a:r>
              <a:rPr>
                <a:solidFill>
                  <a:srgbClr val="CCCCCC"/>
                </a:solidFill>
                <a:latin typeface="Courier"/>
              </a:rPr>
              <a:t> </a:t>
            </a:r>
            <a:r>
              <a:rPr>
                <a:solidFill>
                  <a:srgbClr val="CC9393"/>
                </a:solidFill>
                <a:latin typeface="Courier"/>
              </a:rPr>
              <a:t>"development"</a:t>
            </a:r>
            <a:r>
              <a:rPr>
                <a:solidFill>
                  <a:srgbClr val="EFEF8F"/>
                </a:solidFill>
                <a:latin typeface="Courier"/>
              </a:rPr>
              <a:t>,</a:t>
            </a:r>
            <a:br/>
            <a:r>
              <a:rPr>
                <a:solidFill>
                  <a:srgbClr val="CCCCCC"/>
                </a:solidFill>
                <a:latin typeface="Courier"/>
              </a:rPr>
              <a:t>    </a:t>
            </a:r>
            <a:r>
              <a:rPr>
                <a:solidFill>
                  <a:srgbClr val="DFDFBF"/>
                </a:solidFill>
                <a:latin typeface="Courier"/>
              </a:rPr>
              <a:t>"CUSTOM_VAR"</a:t>
            </a:r>
            <a:r>
              <a:rPr>
                <a:solidFill>
                  <a:srgbClr val="EFEF8F"/>
                </a:solidFill>
                <a:latin typeface="Courier"/>
              </a:rPr>
              <a:t>:</a:t>
            </a:r>
            <a:r>
              <a:rPr>
                <a:solidFill>
                  <a:srgbClr val="CCCCCC"/>
                </a:solidFill>
                <a:latin typeface="Courier"/>
              </a:rPr>
              <a:t> </a:t>
            </a:r>
            <a:r>
              <a:rPr>
                <a:solidFill>
                  <a:srgbClr val="CC9393"/>
                </a:solidFill>
                <a:latin typeface="Courier"/>
              </a:rPr>
              <a:t>"value"</a:t>
            </a:r>
            <a:br/>
            <a:r>
              <a:rPr>
                <a:solidFill>
                  <a:srgbClr val="CCCCCC"/>
                </a:solidFill>
                <a:latin typeface="Courier"/>
              </a:rPr>
              <a:t>  </a:t>
            </a:r>
            <a:r>
              <a:rPr>
                <a:solidFill>
                  <a:srgbClr val="EFEF8F"/>
                </a:solidFill>
                <a:latin typeface="Courier"/>
              </a:rPr>
              <a:t>},</a:t>
            </a:r>
            <a:br/>
            <a:br/>
            <a:r>
              <a:rPr>
                <a:solidFill>
                  <a:srgbClr val="CCCCCC"/>
                </a:solidFill>
                <a:latin typeface="Courier"/>
              </a:rPr>
              <a:t>  </a:t>
            </a:r>
            <a:r>
              <a:rPr>
                <a:solidFill>
                  <a:srgbClr val="DFDFBF"/>
                </a:solidFill>
                <a:latin typeface="Courier"/>
              </a:rPr>
              <a:t>"mcpServers"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"postgres"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CC9393"/>
                </a:solidFill>
                <a:latin typeface="Courier"/>
              </a:rPr>
              <a:t>"npx"</a:t>
            </a:r>
            <a:r>
              <a:rPr>
                <a:solidFill>
                  <a:srgbClr val="EFEF8F"/>
                </a:solidFill>
                <a:latin typeface="Courier"/>
              </a:rPr>
              <a:t>,</a:t>
            </a:r>
            <a:br/>
            <a:r>
              <a:rPr>
                <a:solidFill>
                  <a:srgbClr val="CCCCCC"/>
                </a:solidFill>
                <a:latin typeface="Courier"/>
              </a:rPr>
              <a:t>      </a:t>
            </a:r>
            <a:r>
              <a:rPr>
                <a:solidFill>
                  <a:srgbClr val="DFDFBF"/>
                </a:solidFill>
                <a:latin typeface="Courier"/>
              </a:rPr>
              <a:t>"args"</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"-y"</a:t>
            </a:r>
            <a:r>
              <a:rPr>
                <a:solidFill>
                  <a:srgbClr val="EFEF8F"/>
                </a:solidFill>
                <a:latin typeface="Courier"/>
              </a:rPr>
              <a:t>,</a:t>
            </a:r>
            <a:r>
              <a:rPr>
                <a:solidFill>
                  <a:srgbClr val="CCCCCC"/>
                </a:solidFill>
                <a:latin typeface="Courier"/>
              </a:rPr>
              <a:t> </a:t>
            </a:r>
            <a:r>
              <a:rPr>
                <a:solidFill>
                  <a:srgbClr val="CC9393"/>
                </a:solidFill>
                <a:latin typeface="Courier"/>
              </a:rPr>
              <a:t>"@modelcontextprotocol/server-postgres"</a:t>
            </a:r>
            <a:r>
              <a:rPr>
                <a:solidFill>
                  <a:srgbClr val="EFEF8F"/>
                </a:solidFill>
                <a:latin typeface="Courier"/>
              </a:rPr>
              <a:t>],</a:t>
            </a:r>
            <a:br/>
            <a:r>
              <a:rPr>
                <a:solidFill>
                  <a:srgbClr val="CCCCCC"/>
                </a:solidFill>
                <a:latin typeface="Courier"/>
              </a:rPr>
              <a:t>      </a:t>
            </a:r>
            <a:r>
              <a:rPr>
                <a:solidFill>
                  <a:srgbClr val="DFDFBF"/>
                </a:solidFill>
                <a:latin typeface="Courier"/>
              </a:rPr>
              <a:t>"env"</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"DATABASE_URL"</a:t>
            </a:r>
            <a:r>
              <a:rPr>
                <a:solidFill>
                  <a:srgbClr val="EFEF8F"/>
                </a:solidFill>
                <a:latin typeface="Courier"/>
              </a:rPr>
              <a:t>:</a:t>
            </a:r>
            <a:r>
              <a:rPr>
                <a:solidFill>
                  <a:srgbClr val="CCCCCC"/>
                </a:solidFill>
                <a:latin typeface="Courier"/>
              </a:rPr>
              <a:t> </a:t>
            </a:r>
            <a:r>
              <a:rPr>
                <a:solidFill>
                  <a:srgbClr val="CC9393"/>
                </a:solidFill>
                <a:latin typeface="Courier"/>
              </a:rPr>
              <a:t>"postgresql://..."</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br/>
            <a:r>
              <a:rPr>
                <a:solidFill>
                  <a:srgbClr val="CCCCCC"/>
                </a:solidFill>
                <a:latin typeface="Courier"/>
              </a:rPr>
              <a:t>  </a:t>
            </a:r>
            <a:r>
              <a:rPr>
                <a:solidFill>
                  <a:srgbClr val="DFDFBF"/>
                </a:solidFill>
                <a:latin typeface="Courier"/>
              </a:rPr>
              <a:t>"hooks"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"PostToolUse"</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"matcher"</a:t>
            </a:r>
            <a:r>
              <a:rPr>
                <a:solidFill>
                  <a:srgbClr val="EFEF8F"/>
                </a:solidFill>
                <a:latin typeface="Courier"/>
              </a:rPr>
              <a:t>:</a:t>
            </a:r>
            <a:r>
              <a:rPr>
                <a:solidFill>
                  <a:srgbClr val="CCCCCC"/>
                </a:solidFill>
                <a:latin typeface="Courier"/>
              </a:rPr>
              <a:t> </a:t>
            </a:r>
            <a:r>
              <a:rPr>
                <a:solidFill>
                  <a:srgbClr val="CC9393"/>
                </a:solidFill>
                <a:latin typeface="Courier"/>
              </a:rPr>
              <a:t>"Edit"</a:t>
            </a:r>
            <a:r>
              <a:rPr>
                <a:solidFill>
                  <a:srgbClr val="EFEF8F"/>
                </a:solidFill>
                <a:latin typeface="Courier"/>
              </a:rPr>
              <a:t>,</a:t>
            </a:r>
            <a:b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"npm"</a:t>
            </a:r>
            <a:r>
              <a:rPr>
                <a:solidFill>
                  <a:srgbClr val="EFEF8F"/>
                </a:solidFill>
                <a:latin typeface="Courier"/>
              </a:rPr>
              <a:t>,</a:t>
            </a:r>
            <a:r>
              <a:rPr>
                <a:solidFill>
                  <a:srgbClr val="CCCCCC"/>
                </a:solidFill>
                <a:latin typeface="Courier"/>
              </a:rPr>
              <a:t> </a:t>
            </a:r>
            <a:r>
              <a:rPr>
                <a:solidFill>
                  <a:srgbClr val="CC9393"/>
                </a:solidFill>
                <a:latin typeface="Courier"/>
              </a:rPr>
              <a:t>"run"</a:t>
            </a:r>
            <a:r>
              <a:rPr>
                <a:solidFill>
                  <a:srgbClr val="EFEF8F"/>
                </a:solidFill>
                <a:latin typeface="Courier"/>
              </a:rPr>
              <a:t>,</a:t>
            </a:r>
            <a:r>
              <a:rPr>
                <a:solidFill>
                  <a:srgbClr val="CCCCCC"/>
                </a:solidFill>
                <a:latin typeface="Courier"/>
              </a:rPr>
              <a:t> </a:t>
            </a:r>
            <a:r>
              <a:rPr>
                <a:solidFill>
                  <a:srgbClr val="CC9393"/>
                </a:solidFill>
                <a:latin typeface="Courier"/>
              </a:rPr>
              <a:t>"format"</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buNone/>
            </a:pPr>
            <a:r>
              <a:rPr b="1"/>
              <a:t>Options de modèle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"model"</a:t>
            </a:r>
            <a:r>
              <a:rPr>
                <a:solidFill>
                  <a:srgbClr val="EFEF8F"/>
                </a:solidFill>
                <a:latin typeface="Courier"/>
              </a:rPr>
              <a:t>:</a:t>
            </a:r>
            <a:r>
              <a:rPr>
                <a:solidFill>
                  <a:srgbClr val="CCCCCC"/>
                </a:solidFill>
                <a:latin typeface="Courier"/>
              </a:rPr>
              <a:t> </a:t>
            </a:r>
            <a:r>
              <a:rPr>
                <a:solidFill>
                  <a:srgbClr val="CC9393"/>
                </a:solidFill>
                <a:latin typeface="Courier"/>
              </a:rPr>
              <a:t>"sonnet"</a:t>
            </a:r>
            <a:r>
              <a:rPr>
                <a:solidFill>
                  <a:srgbClr val="EFEF8F"/>
                </a:solidFill>
                <a:latin typeface="Courier"/>
              </a:rPr>
              <a:t>,</a:t>
            </a:r>
            <a:r>
              <a:rPr>
                <a:solidFill>
                  <a:srgbClr val="CCCCCC"/>
                </a:solidFill>
                <a:latin typeface="Courier"/>
              </a:rPr>
              <a:t>          </a:t>
            </a:r>
            <a:r>
              <a:rPr>
                <a:solidFill>
                  <a:srgbClr val="C3BF9F"/>
                </a:solidFill>
                <a:latin typeface="Courier"/>
              </a:rPr>
              <a:t>//</a:t>
            </a:r>
            <a:r>
              <a:rPr>
                <a:solidFill>
                  <a:srgbClr val="CCCCCC"/>
                </a:solidFill>
                <a:latin typeface="Courier"/>
              </a:rPr>
              <a:t> </a:t>
            </a:r>
            <a:r>
              <a:rPr>
                <a:solidFill>
                  <a:srgbClr val="C3BF9F"/>
                </a:solidFill>
                <a:latin typeface="Courier"/>
              </a:rPr>
              <a:t>Modèle</a:t>
            </a:r>
            <a:r>
              <a:rPr>
                <a:solidFill>
                  <a:srgbClr val="CCCCCC"/>
                </a:solidFill>
                <a:latin typeface="Courier"/>
              </a:rPr>
              <a:t> </a:t>
            </a:r>
            <a:r>
              <a:rPr>
                <a:solidFill>
                  <a:srgbClr val="C3BF9F"/>
                </a:solidFill>
                <a:latin typeface="Courier"/>
              </a:rPr>
              <a:t>par</a:t>
            </a:r>
            <a:r>
              <a:rPr>
                <a:solidFill>
                  <a:srgbClr val="CCCCCC"/>
                </a:solidFill>
                <a:latin typeface="Courier"/>
              </a:rPr>
              <a:t> </a:t>
            </a:r>
            <a:r>
              <a:rPr>
                <a:solidFill>
                  <a:srgbClr val="C3BF9F"/>
                </a:solidFill>
                <a:latin typeface="Courier"/>
              </a:rPr>
              <a:t>défaut</a:t>
            </a:r>
            <a:br/>
            <a:r>
              <a:rPr>
                <a:solidFill>
                  <a:srgbClr val="CCCCCC"/>
                </a:solidFill>
                <a:latin typeface="Courier"/>
              </a:rPr>
              <a:t>  </a:t>
            </a:r>
            <a:r>
              <a:rPr>
                <a:solidFill>
                  <a:srgbClr val="DFDFBF"/>
                </a:solidFill>
                <a:latin typeface="Courier"/>
              </a:rPr>
              <a:t>"fallbackModel"</a:t>
            </a:r>
            <a:r>
              <a:rPr>
                <a:solidFill>
                  <a:srgbClr val="EFEF8F"/>
                </a:solidFill>
                <a:latin typeface="Courier"/>
              </a:rPr>
              <a:t>:</a:t>
            </a:r>
            <a:r>
              <a:rPr>
                <a:solidFill>
                  <a:srgbClr val="CCCCCC"/>
                </a:solidFill>
                <a:latin typeface="Courier"/>
              </a:rPr>
              <a:t> </a:t>
            </a:r>
            <a:r>
              <a:rPr>
                <a:solidFill>
                  <a:srgbClr val="CC9393"/>
                </a:solidFill>
                <a:latin typeface="Courier"/>
              </a:rPr>
              <a:t>"haiku"</a:t>
            </a:r>
            <a:r>
              <a:rPr>
                <a:solidFill>
                  <a:srgbClr val="EFEF8F"/>
                </a:solidFill>
                <a:latin typeface="Courier"/>
              </a:rPr>
              <a:t>,</a:t>
            </a:r>
            <a:r>
              <a:rPr>
                <a:solidFill>
                  <a:srgbClr val="CCCCCC"/>
                </a:solidFill>
                <a:latin typeface="Courier"/>
              </a:rPr>
              <a:t>   </a:t>
            </a:r>
            <a:r>
              <a:rPr>
                <a:solidFill>
                  <a:srgbClr val="C3BF9F"/>
                </a:solidFill>
                <a:latin typeface="Courier"/>
              </a:rPr>
              <a:t>//</a:t>
            </a:r>
            <a:r>
              <a:rPr>
                <a:solidFill>
                  <a:srgbClr val="CCCCCC"/>
                </a:solidFill>
                <a:latin typeface="Courier"/>
              </a:rPr>
              <a:t> </a:t>
            </a:r>
            <a:r>
              <a:rPr>
                <a:solidFill>
                  <a:srgbClr val="C3BF9F"/>
                </a:solidFill>
                <a:latin typeface="Courier"/>
              </a:rPr>
              <a:t>Si</a:t>
            </a:r>
            <a:r>
              <a:rPr>
                <a:solidFill>
                  <a:srgbClr val="CCCCCC"/>
                </a:solidFill>
                <a:latin typeface="Courier"/>
              </a:rPr>
              <a:t> </a:t>
            </a:r>
            <a:r>
              <a:rPr>
                <a:solidFill>
                  <a:srgbClr val="C3BF9F"/>
                </a:solidFill>
                <a:latin typeface="Courier"/>
              </a:rPr>
              <a:t>le</a:t>
            </a:r>
            <a:r>
              <a:rPr>
                <a:solidFill>
                  <a:srgbClr val="CCCCCC"/>
                </a:solidFill>
                <a:latin typeface="Courier"/>
              </a:rPr>
              <a:t> </a:t>
            </a:r>
            <a:r>
              <a:rPr>
                <a:solidFill>
                  <a:srgbClr val="C3BF9F"/>
                </a:solidFill>
                <a:latin typeface="Courier"/>
              </a:rPr>
              <a:t>principal</a:t>
            </a:r>
            <a:r>
              <a:rPr>
                <a:solidFill>
                  <a:srgbClr val="CCCCCC"/>
                </a:solidFill>
                <a:latin typeface="Courier"/>
              </a:rPr>
              <a:t> </a:t>
            </a:r>
            <a:r>
              <a:rPr>
                <a:solidFill>
                  <a:srgbClr val="C3BF9F"/>
                </a:solidFill>
                <a:latin typeface="Courier"/>
              </a:rPr>
              <a:t>échoue</a:t>
            </a:r>
            <a:br/>
            <a:r>
              <a:rPr>
                <a:solidFill>
                  <a:srgbClr val="CCCCCC"/>
                </a:solidFill>
                <a:latin typeface="Courier"/>
              </a:rPr>
              <a:t>  </a:t>
            </a:r>
            <a:r>
              <a:rPr>
                <a:solidFill>
                  <a:srgbClr val="DFDFBF"/>
                </a:solidFill>
                <a:latin typeface="Courier"/>
              </a:rPr>
              <a:t>"maxThinkingTokens"</a:t>
            </a:r>
            <a:r>
              <a:rPr>
                <a:solidFill>
                  <a:srgbClr val="EFEF8F"/>
                </a:solidFill>
                <a:latin typeface="Courier"/>
              </a:rPr>
              <a:t>:</a:t>
            </a:r>
            <a:r>
              <a:rPr>
                <a:solidFill>
                  <a:srgbClr val="CCCCCC"/>
                </a:solidFill>
                <a:latin typeface="Courier"/>
              </a:rPr>
              <a:t> </a:t>
            </a:r>
            <a:r>
              <a:rPr>
                <a:solidFill>
                  <a:srgbClr val="DCDCCC"/>
                </a:solidFill>
                <a:latin typeface="Courier"/>
              </a:rPr>
              <a:t>10000</a:t>
            </a:r>
            <a:r>
              <a:rPr>
                <a:solidFill>
                  <a:srgbClr val="CCCCCC"/>
                </a:solidFill>
                <a:latin typeface="Courier"/>
              </a:rPr>
              <a:t>  </a:t>
            </a:r>
            <a:r>
              <a:rPr>
                <a:solidFill>
                  <a:srgbClr val="C3BF9F"/>
                </a:solidFill>
                <a:latin typeface="Courier"/>
              </a:rPr>
              <a:t>//</a:t>
            </a:r>
            <a:r>
              <a:rPr>
                <a:solidFill>
                  <a:srgbClr val="CCCCCC"/>
                </a:solidFill>
                <a:latin typeface="Courier"/>
              </a:rPr>
              <a:t> </a:t>
            </a:r>
            <a:r>
              <a:rPr>
                <a:solidFill>
                  <a:srgbClr val="C3BF9F"/>
                </a:solidFill>
                <a:latin typeface="Courier"/>
              </a:rPr>
              <a:t>Pour</a:t>
            </a:r>
            <a:r>
              <a:rPr>
                <a:solidFill>
                  <a:srgbClr val="CCCCCC"/>
                </a:solidFill>
                <a:latin typeface="Courier"/>
              </a:rPr>
              <a:t> </a:t>
            </a:r>
            <a:r>
              <a:rPr>
                <a:solidFill>
                  <a:srgbClr val="C3BF9F"/>
                </a:solidFill>
                <a:latin typeface="Courier"/>
              </a:rPr>
              <a:t>Extended</a:t>
            </a:r>
            <a:r>
              <a:rPr>
                <a:solidFill>
                  <a:srgbClr val="CCCCCC"/>
                </a:solidFill>
                <a:latin typeface="Courier"/>
              </a:rPr>
              <a:t> </a:t>
            </a:r>
            <a:r>
              <a:rPr>
                <a:solidFill>
                  <a:srgbClr val="C3BF9F"/>
                </a:solidFill>
                <a:latin typeface="Courier"/>
              </a:rPr>
              <a:t>Thinking</a:t>
            </a:r>
            <a:br/>
            <a:r>
              <a:rPr>
                <a:solidFill>
                  <a:srgbClr val="EFEF8F"/>
                </a:solidFill>
                <a:latin typeface="Courier"/>
              </a:rPr>
              <a:t>}</a:t>
            </a:r>
          </a:p>
          <a:p>
            <a:pPr lvl="0" indent="0" marL="0">
              <a:buNone/>
            </a:pPr>
            <a:r>
              <a:rPr b="1"/>
              <a:t>Options d’interface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"theme"</a:t>
            </a:r>
            <a:r>
              <a:rPr>
                <a:solidFill>
                  <a:srgbClr val="EFEF8F"/>
                </a:solidFill>
                <a:latin typeface="Courier"/>
              </a:rPr>
              <a:t>:</a:t>
            </a:r>
            <a:r>
              <a:rPr>
                <a:solidFill>
                  <a:srgbClr val="CCCCCC"/>
                </a:solidFill>
                <a:latin typeface="Courier"/>
              </a:rPr>
              <a:t> </a:t>
            </a:r>
            <a:r>
              <a:rPr>
                <a:solidFill>
                  <a:srgbClr val="CC9393"/>
                </a:solidFill>
                <a:latin typeface="Courier"/>
              </a:rPr>
              <a:t>"dark"</a:t>
            </a:r>
            <a:r>
              <a:rPr>
                <a:solidFill>
                  <a:srgbClr val="EFEF8F"/>
                </a:solidFill>
                <a:latin typeface="Courier"/>
              </a:rPr>
              <a:t>,</a:t>
            </a:r>
            <a:br/>
            <a:r>
              <a:rPr>
                <a:solidFill>
                  <a:srgbClr val="CCCCCC"/>
                </a:solidFill>
                <a:latin typeface="Courier"/>
              </a:rPr>
              <a:t>  </a:t>
            </a:r>
            <a:r>
              <a:rPr>
                <a:solidFill>
                  <a:srgbClr val="DFDFBF"/>
                </a:solidFill>
                <a:latin typeface="Courier"/>
              </a:rPr>
              <a:t>"verbose"</a:t>
            </a:r>
            <a:r>
              <a:rPr>
                <a:solidFill>
                  <a:srgbClr val="EFEF8F"/>
                </a:solidFill>
                <a:latin typeface="Courier"/>
              </a:rPr>
              <a:t>:</a:t>
            </a:r>
            <a:r>
              <a:rPr>
                <a:solidFill>
                  <a:srgbClr val="CCCCCC"/>
                </a:solidFill>
                <a:latin typeface="Courier"/>
              </a:rPr>
              <a:t> </a:t>
            </a:r>
            <a:r>
              <a:rPr>
                <a:solidFill>
                  <a:srgbClr val="F0DFAF"/>
                </a:solidFill>
                <a:latin typeface="Courier"/>
              </a:rPr>
              <a:t>false</a:t>
            </a:r>
            <a:r>
              <a:rPr>
                <a:solidFill>
                  <a:srgbClr val="EFEF8F"/>
                </a:solidFill>
                <a:latin typeface="Courier"/>
              </a:rPr>
              <a:t>,</a:t>
            </a:r>
            <a:br/>
            <a:r>
              <a:rPr>
                <a:solidFill>
                  <a:srgbClr val="CCCCCC"/>
                </a:solidFill>
                <a:latin typeface="Courier"/>
              </a:rPr>
              <a:t>  </a:t>
            </a:r>
            <a:r>
              <a:rPr>
                <a:solidFill>
                  <a:srgbClr val="DFDFBF"/>
                </a:solidFill>
                <a:latin typeface="Courier"/>
              </a:rPr>
              <a:t>"notifications"</a:t>
            </a:r>
            <a:r>
              <a:rPr>
                <a:solidFill>
                  <a:srgbClr val="EFEF8F"/>
                </a:solidFill>
                <a:latin typeface="Courier"/>
              </a:rPr>
              <a:t>:</a:t>
            </a:r>
            <a:r>
              <a:rPr>
                <a:solidFill>
                  <a:srgbClr val="CCCCCC"/>
                </a:solidFill>
                <a:latin typeface="Courier"/>
              </a:rPr>
              <a:t> </a:t>
            </a:r>
            <a:r>
              <a:rPr>
                <a:solidFill>
                  <a:srgbClr val="F0DFAF"/>
                </a:solidFill>
                <a:latin typeface="Courier"/>
              </a:rPr>
              <a:t>true</a:t>
            </a:r>
            <a:r>
              <a:rPr>
                <a:solidFill>
                  <a:srgbClr val="EFEF8F"/>
                </a:solidFill>
                <a:latin typeface="Courier"/>
              </a:rPr>
              <a:t>,</a:t>
            </a:r>
            <a:br/>
            <a:r>
              <a:rPr>
                <a:solidFill>
                  <a:srgbClr val="CCCCCC"/>
                </a:solidFill>
                <a:latin typeface="Courier"/>
              </a:rPr>
              <a:t>  </a:t>
            </a:r>
            <a:r>
              <a:rPr>
                <a:solidFill>
                  <a:srgbClr val="DFDFBF"/>
                </a:solidFill>
                <a:latin typeface="Courier"/>
              </a:rPr>
              <a:t>"autoCompactThreshold"</a:t>
            </a:r>
            <a:r>
              <a:rPr>
                <a:solidFill>
                  <a:srgbClr val="EFEF8F"/>
                </a:solidFill>
                <a:latin typeface="Courier"/>
              </a:rPr>
              <a:t>:</a:t>
            </a:r>
            <a:r>
              <a:rPr>
                <a:solidFill>
                  <a:srgbClr val="CCCCCC"/>
                </a:solidFill>
                <a:latin typeface="Courier"/>
              </a:rPr>
              <a:t> </a:t>
            </a:r>
            <a:r>
              <a:rPr>
                <a:solidFill>
                  <a:srgbClr val="C0BED1"/>
                </a:solidFill>
                <a:latin typeface="Courier"/>
              </a:rPr>
              <a:t>0.8</a:t>
            </a:r>
            <a:br/>
            <a:r>
              <a:rPr>
                <a:solidFill>
                  <a:srgbClr val="EFEF8F"/>
                </a:solidFill>
                <a:latin typeface="Courier"/>
              </a:rPr>
              <a:t>}</a:t>
            </a:r>
          </a:p>
          <a:p>
            <a:pPr lvl="0" indent="0" marL="0">
              <a:spcBef>
                <a:spcPts val="3000"/>
              </a:spcBef>
              <a:buNone/>
            </a:pPr>
            <a:r>
              <a:rPr b="1"/>
              <a:t>13.3 Fichiers spéciaux</a:t>
            </a:r>
          </a:p>
          <a:p>
            <a:pPr lvl="0" indent="0" marL="0">
              <a:spcBef>
                <a:spcPts val="3000"/>
              </a:spcBef>
              <a:buNone/>
            </a:pPr>
            <a:r>
              <a:rPr b="1"/>
              <a:t>.claudeignore</a:t>
            </a:r>
          </a:p>
          <a:p>
            <a:pPr lvl="0" indent="0" marL="0">
              <a:buNone/>
            </a:pPr>
            <a:r>
              <a:rPr/>
              <a:t>Fonctionne comme </a:t>
            </a:r>
            <a:r>
              <a:rPr>
                <a:latin typeface="Courier"/>
              </a:rPr>
              <a:t>.gitignore</a:t>
            </a:r>
            <a:r>
              <a:rPr/>
              <a:t> pour exclure des fichiers du contexte :</a:t>
            </a:r>
          </a:p>
          <a:p>
            <a:pPr lvl="0" indent="0">
              <a:buNone/>
            </a:pPr>
            <a:r>
              <a:rPr>
                <a:latin typeface="Courier"/>
              </a:rPr>
              <a:t># Dépendances
node_modules/
vendor/
# Build
dist/
build/
# Secrets
.env*
*.key
*.pem
# Gros fichiers
*.zip
*.tar.gz
# Fichiers générés
coverage/
*.log</a:t>
            </a:r>
          </a:p>
          <a:p>
            <a:pPr lvl="0" indent="0" marL="0">
              <a:spcBef>
                <a:spcPts val="3000"/>
              </a:spcBef>
              <a:buNone/>
            </a:pPr>
            <a:r>
              <a:rPr b="1"/>
              <a:t>.mcp.json</a:t>
            </a:r>
          </a:p>
          <a:p>
            <a:pPr lvl="0" indent="0" marL="0">
              <a:buNone/>
            </a:pPr>
            <a:r>
              <a:rPr/>
              <a:t>Configuration des serveurs MCP au niveau projet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"servers"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"postgres"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CC9393"/>
                </a:solidFill>
                <a:latin typeface="Courier"/>
              </a:rPr>
              <a:t>"npx"</a:t>
            </a:r>
            <a:r>
              <a:rPr>
                <a:solidFill>
                  <a:srgbClr val="EFEF8F"/>
                </a:solidFill>
                <a:latin typeface="Courier"/>
              </a:rPr>
              <a:t>,</a:t>
            </a:r>
            <a:br/>
            <a:r>
              <a:rPr>
                <a:solidFill>
                  <a:srgbClr val="CCCCCC"/>
                </a:solidFill>
                <a:latin typeface="Courier"/>
              </a:rPr>
              <a:t>      </a:t>
            </a:r>
            <a:r>
              <a:rPr>
                <a:solidFill>
                  <a:srgbClr val="DFDFBF"/>
                </a:solidFill>
                <a:latin typeface="Courier"/>
              </a:rPr>
              <a:t>"args"</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"-y"</a:t>
            </a:r>
            <a:r>
              <a:rPr>
                <a:solidFill>
                  <a:srgbClr val="EFEF8F"/>
                </a:solidFill>
                <a:latin typeface="Courier"/>
              </a:rPr>
              <a:t>,</a:t>
            </a:r>
            <a:r>
              <a:rPr>
                <a:solidFill>
                  <a:srgbClr val="CCCCCC"/>
                </a:solidFill>
                <a:latin typeface="Courier"/>
              </a:rPr>
              <a:t> </a:t>
            </a:r>
            <a:r>
              <a:rPr>
                <a:solidFill>
                  <a:srgbClr val="CC9393"/>
                </a:solidFill>
                <a:latin typeface="Courier"/>
              </a:rPr>
              <a:t>"@modelcontextprotocol/server-postgres"</a:t>
            </a:r>
            <a:r>
              <a:rPr>
                <a:solidFill>
                  <a:srgbClr val="EFEF8F"/>
                </a:solidFill>
                <a:latin typeface="Courier"/>
              </a:rPr>
              <a:t>],</a:t>
            </a:r>
            <a:br/>
            <a:r>
              <a:rPr>
                <a:solidFill>
                  <a:srgbClr val="CCCCCC"/>
                </a:solidFill>
                <a:latin typeface="Courier"/>
              </a:rPr>
              <a:t>      </a:t>
            </a:r>
            <a:r>
              <a:rPr>
                <a:solidFill>
                  <a:srgbClr val="DFDFBF"/>
                </a:solidFill>
                <a:latin typeface="Courier"/>
              </a:rPr>
              <a:t>"env"</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"DATABASE_URL"</a:t>
            </a:r>
            <a:r>
              <a:rPr>
                <a:solidFill>
                  <a:srgbClr val="EFEF8F"/>
                </a:solidFill>
                <a:latin typeface="Courier"/>
              </a:rPr>
              <a:t>:</a:t>
            </a:r>
            <a:r>
              <a:rPr>
                <a:solidFill>
                  <a:srgbClr val="CCCCCC"/>
                </a:solidFill>
                <a:latin typeface="Courier"/>
              </a:rPr>
              <a:t> </a:t>
            </a:r>
            <a:r>
              <a:rPr>
                <a:solidFill>
                  <a:srgbClr val="CC9393"/>
                </a:solidFill>
                <a:latin typeface="Courier"/>
              </a:rPr>
              <a:t>"${DATABASE_URL}"</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"github"</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CC9393"/>
                </a:solidFill>
                <a:latin typeface="Courier"/>
              </a:rPr>
              <a:t>"npx"</a:t>
            </a:r>
            <a:r>
              <a:rPr>
                <a:solidFill>
                  <a:srgbClr val="EFEF8F"/>
                </a:solidFill>
                <a:latin typeface="Courier"/>
              </a:rPr>
              <a:t>,</a:t>
            </a:r>
            <a:br/>
            <a:r>
              <a:rPr>
                <a:solidFill>
                  <a:srgbClr val="CCCCCC"/>
                </a:solidFill>
                <a:latin typeface="Courier"/>
              </a:rPr>
              <a:t>      </a:t>
            </a:r>
            <a:r>
              <a:rPr>
                <a:solidFill>
                  <a:srgbClr val="DFDFBF"/>
                </a:solidFill>
                <a:latin typeface="Courier"/>
              </a:rPr>
              <a:t>"args"</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"-y"</a:t>
            </a:r>
            <a:r>
              <a:rPr>
                <a:solidFill>
                  <a:srgbClr val="EFEF8F"/>
                </a:solidFill>
                <a:latin typeface="Courier"/>
              </a:rPr>
              <a:t>,</a:t>
            </a:r>
            <a:r>
              <a:rPr>
                <a:solidFill>
                  <a:srgbClr val="CCCCCC"/>
                </a:solidFill>
                <a:latin typeface="Courier"/>
              </a:rPr>
              <a:t> </a:t>
            </a:r>
            <a:r>
              <a:rPr>
                <a:solidFill>
                  <a:srgbClr val="CC9393"/>
                </a:solidFill>
                <a:latin typeface="Courier"/>
              </a:rPr>
              <a:t>"@modelcontextprotocol/server-github"</a:t>
            </a:r>
            <a:r>
              <a:rPr>
                <a:solidFill>
                  <a:srgbClr val="EFEF8F"/>
                </a:solidFill>
                <a:latin typeface="Courier"/>
              </a:rPr>
              <a:t>],</a:t>
            </a:r>
            <a:br/>
            <a:r>
              <a:rPr>
                <a:solidFill>
                  <a:srgbClr val="CCCCCC"/>
                </a:solidFill>
                <a:latin typeface="Courier"/>
              </a:rPr>
              <a:t>      </a:t>
            </a:r>
            <a:r>
              <a:rPr>
                <a:solidFill>
                  <a:srgbClr val="DFDFBF"/>
                </a:solidFill>
                <a:latin typeface="Courier"/>
              </a:rPr>
              <a:t>"env"</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"GITHUB_TOKEN"</a:t>
            </a:r>
            <a:r>
              <a:rPr>
                <a:solidFill>
                  <a:srgbClr val="EFEF8F"/>
                </a:solidFill>
                <a:latin typeface="Courier"/>
              </a:rPr>
              <a:t>:</a:t>
            </a:r>
            <a:r>
              <a:rPr>
                <a:solidFill>
                  <a:srgbClr val="CCCCCC"/>
                </a:solidFill>
                <a:latin typeface="Courier"/>
              </a:rPr>
              <a:t> </a:t>
            </a:r>
            <a:r>
              <a:rPr>
                <a:solidFill>
                  <a:srgbClr val="CC9393"/>
                </a:solidFill>
                <a:latin typeface="Courier"/>
              </a:rPr>
              <a:t>"${GITHUB_TOKEN}"</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spcBef>
                <a:spcPts val="3000"/>
              </a:spcBef>
              <a:buNone/>
            </a:pPr>
            <a:r>
              <a:rPr b="1"/>
              <a:t>~/.claude.json</a:t>
            </a:r>
          </a:p>
          <a:p>
            <a:pPr lvl="0" indent="0" marL="0">
              <a:buNone/>
            </a:pPr>
            <a:r>
              <a:rPr/>
              <a:t>Configuration utilisateur globale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"oauthTokens"</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CCCC"/>
                </a:solidFill>
                <a:latin typeface="Courier"/>
              </a:rPr>
              <a:t> </a:t>
            </a:r>
            <a:r>
              <a:rPr>
                <a:solidFill>
                  <a:srgbClr val="C3BF9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"mcpServers"</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CCCC"/>
                </a:solidFill>
                <a:latin typeface="Courier"/>
              </a:rPr>
              <a:t> </a:t>
            </a:r>
            <a:r>
              <a:rPr>
                <a:solidFill>
                  <a:srgbClr val="C3BF9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"defaultModel"</a:t>
            </a:r>
            <a:r>
              <a:rPr>
                <a:solidFill>
                  <a:srgbClr val="EFEF8F"/>
                </a:solidFill>
                <a:latin typeface="Courier"/>
              </a:rPr>
              <a:t>:</a:t>
            </a:r>
            <a:r>
              <a:rPr>
                <a:solidFill>
                  <a:srgbClr val="CCCCCC"/>
                </a:solidFill>
                <a:latin typeface="Courier"/>
              </a:rPr>
              <a:t> </a:t>
            </a:r>
            <a:r>
              <a:rPr>
                <a:solidFill>
                  <a:srgbClr val="CC9393"/>
                </a:solidFill>
                <a:latin typeface="Courier"/>
              </a:rPr>
              <a:t>"sonnet"</a:t>
            </a:r>
            <a:r>
              <a:rPr>
                <a:solidFill>
                  <a:srgbClr val="EFEF8F"/>
                </a:solidFill>
                <a:latin typeface="Courier"/>
              </a:rPr>
              <a:t>,</a:t>
            </a:r>
            <a:br/>
            <a:r>
              <a:rPr>
                <a:solidFill>
                  <a:srgbClr val="CCCCCC"/>
                </a:solidFill>
                <a:latin typeface="Courier"/>
              </a:rPr>
              <a:t>  </a:t>
            </a:r>
            <a:r>
              <a:rPr>
                <a:solidFill>
                  <a:srgbClr val="DFDFBF"/>
                </a:solidFill>
                <a:latin typeface="Courier"/>
              </a:rPr>
              <a:t>"theme"</a:t>
            </a:r>
            <a:r>
              <a:rPr>
                <a:solidFill>
                  <a:srgbClr val="EFEF8F"/>
                </a:solidFill>
                <a:latin typeface="Courier"/>
              </a:rPr>
              <a:t>:</a:t>
            </a:r>
            <a:r>
              <a:rPr>
                <a:solidFill>
                  <a:srgbClr val="CCCCCC"/>
                </a:solidFill>
                <a:latin typeface="Courier"/>
              </a:rPr>
              <a:t> </a:t>
            </a:r>
            <a:r>
              <a:rPr>
                <a:solidFill>
                  <a:srgbClr val="CC9393"/>
                </a:solidFill>
                <a:latin typeface="Courier"/>
              </a:rPr>
              <a:t>"dark"</a:t>
            </a:r>
            <a:br/>
            <a:r>
              <a:rPr>
                <a:solidFill>
                  <a:srgbClr val="EFEF8F"/>
                </a:solidFill>
                <a:latin typeface="Courier"/>
              </a:rPr>
              <a:t>}</a:t>
            </a:r>
          </a:p>
          <a:p>
            <a:pPr lvl="0" indent="0" marL="0">
              <a:spcBef>
                <a:spcPts val="3000"/>
              </a:spcBef>
              <a:buNone/>
            </a:pPr>
            <a:r>
              <a:rPr b="1"/>
              <a:t>13.4 Configuration par environnement</a:t>
            </a:r>
          </a:p>
          <a:p>
            <a:pPr lvl="0" indent="0" marL="0">
              <a:buNone/>
            </a:pPr>
            <a:r>
              <a:rPr b="1"/>
              <a:t>Variables d’environnement importantes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Variable</a:t>
                      </a:r>
                    </a:p>
                  </a:txBody>
                  <a:tcPr/>
                </a:tc>
                <a:tc>
                  <a:txBody>
                    <a:bodyPr/>
                    <a:lstStyle/>
                    <a:p>
                      <a:pPr lvl="0" indent="0" marL="0">
                        <a:buNone/>
                      </a:pPr>
                      <a:r>
                        <a:rPr/>
                        <a:t>Description</a:t>
                      </a:r>
                    </a:p>
                  </a:txBody>
                  <a:tcPr/>
                </a:tc>
              </a:tr>
              <a:tr h="0">
                <a:tc>
                  <a:txBody>
                    <a:bodyPr/>
                    <a:lstStyle/>
                    <a:p>
                      <a:pPr lvl="0" indent="0" marL="0">
                        <a:buNone/>
                      </a:pPr>
                      <a:r>
                        <a:rPr>
                          <a:latin typeface="Courier"/>
                        </a:rPr>
                        <a:t>ANTHROPIC_API_KEY</a:t>
                      </a:r>
                    </a:p>
                  </a:txBody>
                </a:tc>
                <a:tc>
                  <a:txBody>
                    <a:bodyPr/>
                    <a:lstStyle/>
                    <a:p>
                      <a:pPr lvl="0" indent="0" marL="0">
                        <a:buNone/>
                      </a:pPr>
                      <a:r>
                        <a:rPr/>
                        <a:t>Clé API Anthropic</a:t>
                      </a:r>
                    </a:p>
                  </a:txBody>
                </a:tc>
              </a:tr>
              <a:tr h="0">
                <a:tc>
                  <a:txBody>
                    <a:bodyPr/>
                    <a:lstStyle/>
                    <a:p>
                      <a:pPr lvl="0" indent="0" marL="0">
                        <a:buNone/>
                      </a:pPr>
                      <a:r>
                        <a:rPr>
                          <a:latin typeface="Courier"/>
                        </a:rPr>
                        <a:t>ANTHROPIC_MODEL</a:t>
                      </a:r>
                    </a:p>
                  </a:txBody>
                </a:tc>
                <a:tc>
                  <a:txBody>
                    <a:bodyPr/>
                    <a:lstStyle/>
                    <a:p>
                      <a:pPr lvl="0" indent="0" marL="0">
                        <a:buNone/>
                      </a:pPr>
                      <a:r>
                        <a:rPr/>
                        <a:t>Modèle par défaut</a:t>
                      </a:r>
                    </a:p>
                  </a:txBody>
                </a:tc>
              </a:tr>
              <a:tr h="0">
                <a:tc>
                  <a:txBody>
                    <a:bodyPr/>
                    <a:lstStyle/>
                    <a:p>
                      <a:pPr lvl="0" indent="0" marL="0">
                        <a:buNone/>
                      </a:pPr>
                      <a:r>
                        <a:rPr>
                          <a:latin typeface="Courier"/>
                        </a:rPr>
                        <a:t>CLAUDE_PROJECT_DIR</a:t>
                      </a:r>
                    </a:p>
                  </a:txBody>
                </a:tc>
                <a:tc>
                  <a:txBody>
                    <a:bodyPr/>
                    <a:lstStyle/>
                    <a:p>
                      <a:pPr lvl="0" indent="0" marL="0">
                        <a:buNone/>
                      </a:pPr>
                      <a:r>
                        <a:rPr/>
                        <a:t>Dossier de travail</a:t>
                      </a:r>
                    </a:p>
                  </a:txBody>
                </a:tc>
              </a:tr>
              <a:tr h="0">
                <a:tc>
                  <a:txBody>
                    <a:bodyPr/>
                    <a:lstStyle/>
                    <a:p>
                      <a:pPr lvl="0" indent="0" marL="0">
                        <a:buNone/>
                      </a:pPr>
                      <a:r>
                        <a:rPr>
                          <a:latin typeface="Courier"/>
                        </a:rPr>
                        <a:t>CLAUDE_CONFIG_DIR</a:t>
                      </a:r>
                    </a:p>
                  </a:txBody>
                </a:tc>
                <a:tc>
                  <a:txBody>
                    <a:bodyPr/>
                    <a:lstStyle/>
                    <a:p>
                      <a:pPr lvl="0" indent="0" marL="0">
                        <a:buNone/>
                      </a:pPr>
                      <a:r>
                        <a:rPr/>
                        <a:t>Dossier de config</a:t>
                      </a:r>
                    </a:p>
                  </a:txBody>
                </a:tc>
              </a:tr>
            </a:tbl>
          </a:graphicData>
        </a:graphic>
      </p:graphicFrame>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Variables de contexte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Variable</a:t>
                      </a:r>
                    </a:p>
                  </a:txBody>
                  <a:tcPr/>
                </a:tc>
                <a:tc>
                  <a:txBody>
                    <a:bodyPr/>
                    <a:lstStyle/>
                    <a:p>
                      <a:pPr lvl="0" indent="0" marL="0">
                        <a:buNone/>
                      </a:pPr>
                      <a:r>
                        <a:rPr/>
                        <a:t>Description</a:t>
                      </a:r>
                    </a:p>
                  </a:txBody>
                  <a:tcPr/>
                </a:tc>
              </a:tr>
              <a:tr h="0">
                <a:tc>
                  <a:txBody>
                    <a:bodyPr/>
                    <a:lstStyle/>
                    <a:p>
                      <a:pPr lvl="0" indent="0" marL="0">
                        <a:buNone/>
                      </a:pPr>
                      <a:r>
                        <a:rPr>
                          <a:latin typeface="Courier"/>
                        </a:rPr>
                        <a:t>CLAUDE_MAX_TOKENS</a:t>
                      </a:r>
                    </a:p>
                  </a:txBody>
                </a:tc>
                <a:tc>
                  <a:txBody>
                    <a:bodyPr/>
                    <a:lstStyle/>
                    <a:p>
                      <a:pPr lvl="0" indent="0" marL="0">
                        <a:buNone/>
                      </a:pPr>
                      <a:r>
                        <a:rPr/>
                        <a:t>Limite de tokens</a:t>
                      </a:r>
                    </a:p>
                  </a:txBody>
                </a:tc>
              </a:tr>
              <a:tr h="0">
                <a:tc>
                  <a:txBody>
                    <a:bodyPr/>
                    <a:lstStyle/>
                    <a:p>
                      <a:pPr lvl="0" indent="0" marL="0">
                        <a:buNone/>
                      </a:pPr>
                      <a:r>
                        <a:rPr>
                          <a:latin typeface="Courier"/>
                        </a:rPr>
                        <a:t>CLAUDE_AUTOCOMPACT_PCT_OVERRIDE</a:t>
                      </a:r>
                    </a:p>
                  </a:txBody>
                </a:tc>
                <a:tc>
                  <a:txBody>
                    <a:bodyPr/>
                    <a:lstStyle/>
                    <a:p>
                      <a:pPr lvl="0" indent="0" marL="0">
                        <a:buNone/>
                      </a:pPr>
                      <a:r>
                        <a:rPr/>
                        <a:t>Seuil de compaction auto</a:t>
                      </a:r>
                    </a:p>
                  </a:txBody>
                </a:tc>
              </a:tr>
              <a:tr h="0">
                <a:tc>
                  <a:txBody>
                    <a:bodyPr/>
                    <a:lstStyle/>
                    <a:p>
                      <a:pPr lvl="0" indent="0" marL="0">
                        <a:buNone/>
                      </a:pPr>
                      <a:r>
                        <a:rPr>
                          <a:latin typeface="Courier"/>
                        </a:rPr>
                        <a:t>MAX_THINKING_TOKENS</a:t>
                      </a:r>
                    </a:p>
                  </a:txBody>
                </a:tc>
                <a:tc>
                  <a:txBody>
                    <a:bodyPr/>
                    <a:lstStyle/>
                    <a:p>
                      <a:pPr lvl="0" indent="0" marL="0">
                        <a:buNone/>
                      </a:pPr>
                      <a:r>
                        <a:rPr/>
                        <a:t>Tokens pour Extended Thinking</a:t>
                      </a:r>
                    </a:p>
                  </a:txBody>
                </a:tc>
              </a:tr>
            </a:tbl>
          </a:graphicData>
        </a:graphic>
      </p:graphicFrame>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Variables de debugging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Variable</a:t>
                      </a:r>
                    </a:p>
                  </a:txBody>
                  <a:tcPr/>
                </a:tc>
                <a:tc>
                  <a:txBody>
                    <a:bodyPr/>
                    <a:lstStyle/>
                    <a:p>
                      <a:pPr lvl="0" indent="0" marL="0">
                        <a:buNone/>
                      </a:pPr>
                      <a:r>
                        <a:rPr/>
                        <a:t>Description</a:t>
                      </a:r>
                    </a:p>
                  </a:txBody>
                  <a:tcPr/>
                </a:tc>
              </a:tr>
              <a:tr h="0">
                <a:tc>
                  <a:txBody>
                    <a:bodyPr/>
                    <a:lstStyle/>
                    <a:p>
                      <a:pPr lvl="0" indent="0" marL="0">
                        <a:buNone/>
                      </a:pPr>
                      <a:r>
                        <a:rPr>
                          <a:latin typeface="Courier"/>
                        </a:rPr>
                        <a:t>CLAUDE_DEBUG</a:t>
                      </a:r>
                    </a:p>
                  </a:txBody>
                </a:tc>
                <a:tc>
                  <a:txBody>
                    <a:bodyPr/>
                    <a:lstStyle/>
                    <a:p>
                      <a:pPr lvl="0" indent="0" marL="0">
                        <a:buNone/>
                      </a:pPr>
                      <a:r>
                        <a:rPr/>
                        <a:t>Active les logs de debug</a:t>
                      </a:r>
                    </a:p>
                  </a:txBody>
                </a:tc>
              </a:tr>
              <a:tr h="0">
                <a:tc>
                  <a:txBody>
                    <a:bodyPr/>
                    <a:lstStyle/>
                    <a:p>
                      <a:pPr lvl="0" indent="0" marL="0">
                        <a:buNone/>
                      </a:pPr>
                      <a:r>
                        <a:rPr>
                          <a:latin typeface="Courier"/>
                        </a:rPr>
                        <a:t>CLAUDE_VERBOSE</a:t>
                      </a:r>
                    </a:p>
                  </a:txBody>
                </a:tc>
                <a:tc>
                  <a:txBody>
                    <a:bodyPr/>
                    <a:lstStyle/>
                    <a:p>
                      <a:pPr lvl="0" indent="0" marL="0">
                        <a:buNone/>
                      </a:pPr>
                      <a:r>
                        <a:rPr/>
                        <a:t>Mode verbose par défaut</a:t>
                      </a:r>
                    </a:p>
                  </a:txBody>
                </a:tc>
              </a:tr>
            </a:tbl>
          </a:graphicData>
        </a:graphic>
      </p:graphicFrame>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Exemple de configuration shell :</a:t>
            </a:r>
          </a:p>
          <a:p>
            <a:pPr lvl="0" indent="0">
              <a:buNone/>
            </a:pPr>
            <a:r>
              <a:rPr>
                <a:solidFill>
                  <a:srgbClr val="7F9F7F"/>
                </a:solidFill>
                <a:latin typeface="Courier"/>
              </a:rPr>
              <a:t># ~/.zshrc ou ~/.bashrc</a:t>
            </a:r>
            <a:br/>
            <a:br/>
            <a:r>
              <a:rPr>
                <a:solidFill>
                  <a:srgbClr val="CCCCCC"/>
                </a:solidFill>
                <a:latin typeface="Courier"/>
              </a:rPr>
              <a:t>export ANTHROPIC_API_KEY</a:t>
            </a:r>
            <a:r>
              <a:rPr>
                <a:solidFill>
                  <a:srgbClr val="F0EFD0"/>
                </a:solidFill>
                <a:latin typeface="Courier"/>
              </a:rPr>
              <a:t>=</a:t>
            </a:r>
            <a:r>
              <a:rPr>
                <a:solidFill>
                  <a:srgbClr val="CC9393"/>
                </a:solidFill>
                <a:latin typeface="Courier"/>
              </a:rPr>
              <a:t>"sk-ant-..."</a:t>
            </a:r>
            <a:br/>
            <a:r>
              <a:rPr>
                <a:solidFill>
                  <a:srgbClr val="CCCCCC"/>
                </a:solidFill>
                <a:latin typeface="Courier"/>
              </a:rPr>
              <a:t>export ANTHROPIC_MODEL</a:t>
            </a:r>
            <a:r>
              <a:rPr>
                <a:solidFill>
                  <a:srgbClr val="F0EFD0"/>
                </a:solidFill>
                <a:latin typeface="Courier"/>
              </a:rPr>
              <a:t>=</a:t>
            </a:r>
            <a:r>
              <a:rPr>
                <a:solidFill>
                  <a:srgbClr val="CC9393"/>
                </a:solidFill>
                <a:latin typeface="Courier"/>
              </a:rPr>
              <a:t>"sonnet"</a:t>
            </a:r>
            <a:br/>
            <a:r>
              <a:rPr>
                <a:solidFill>
                  <a:srgbClr val="CCCCCC"/>
                </a:solidFill>
                <a:latin typeface="Courier"/>
              </a:rPr>
              <a:t>export CLAUDE_AUTOCOMPACT_PCT_OVERRIDE</a:t>
            </a:r>
            <a:r>
              <a:rPr>
                <a:solidFill>
                  <a:srgbClr val="F0EFD0"/>
                </a:solidFill>
                <a:latin typeface="Courier"/>
              </a:rPr>
              <a:t>=</a:t>
            </a:r>
            <a:r>
              <a:rPr>
                <a:solidFill>
                  <a:srgbClr val="CC9393"/>
                </a:solidFill>
                <a:latin typeface="Courier"/>
              </a:rPr>
              <a:t>"0.7"</a:t>
            </a:r>
            <a:br/>
            <a:br/>
            <a:r>
              <a:rPr>
                <a:solidFill>
                  <a:srgbClr val="7F9F7F"/>
                </a:solidFill>
                <a:latin typeface="Courier"/>
              </a:rPr>
              <a:t># Alias pratiques</a:t>
            </a:r>
            <a:br/>
            <a:r>
              <a:rPr>
                <a:solidFill>
                  <a:srgbClr val="CCCCCC"/>
                </a:solidFill>
                <a:latin typeface="Courier"/>
              </a:rPr>
              <a:t>alias cc=</a:t>
            </a:r>
            <a:r>
              <a:rPr>
                <a:solidFill>
                  <a:srgbClr val="CC9393"/>
                </a:solidFill>
                <a:latin typeface="Courier"/>
              </a:rPr>
              <a:t>'claude'</a:t>
            </a:r>
            <a:br/>
            <a:r>
              <a:rPr>
                <a:solidFill>
                  <a:srgbClr val="CCCCCC"/>
                </a:solidFill>
                <a:latin typeface="Courier"/>
              </a:rPr>
              <a:t>alias ccc=</a:t>
            </a:r>
            <a:r>
              <a:rPr>
                <a:solidFill>
                  <a:srgbClr val="CC9393"/>
                </a:solidFill>
                <a:latin typeface="Courier"/>
              </a:rPr>
              <a:t>'claude -c'</a:t>
            </a:r>
            <a:br/>
            <a:r>
              <a:rPr>
                <a:solidFill>
                  <a:srgbClr val="CCCCCC"/>
                </a:solidFill>
                <a:latin typeface="Courier"/>
              </a:rPr>
              <a:t>alias ccp=</a:t>
            </a:r>
            <a:r>
              <a:rPr>
                <a:solidFill>
                  <a:srgbClr val="CC9393"/>
                </a:solidFill>
                <a:latin typeface="Courier"/>
              </a:rPr>
              <a:t>'claude -p'</a:t>
            </a:r>
          </a:p>
          <a:p>
            <a:pPr lvl="0" indent="0" marL="0">
              <a:buNone/>
            </a:pPr>
            <a:r>
              <a:rPr b="1"/>
              <a:t>Exercice :</a:t>
            </a:r>
          </a:p>
          <a:p>
            <a:pPr lvl="0" indent="-342900" marL="342900">
              <a:buAutoNum type="arabicPeriod"/>
            </a:pPr>
            <a:r>
              <a:rPr/>
              <a:t>Créez un fichier </a:t>
            </a:r>
            <a:r>
              <a:rPr>
                <a:latin typeface="Courier"/>
              </a:rPr>
              <a:t>.claude/settings.json</a:t>
            </a:r>
            <a:r>
              <a:rPr/>
              <a:t> dans un projet</a:t>
            </a:r>
          </a:p>
          <a:p>
            <a:pPr lvl="0" indent="-342900" marL="342900">
              <a:buAutoNum type="arabicPeriod"/>
            </a:pPr>
            <a:r>
              <a:rPr/>
              <a:t>Configurez des permissions personnalisées</a:t>
            </a:r>
          </a:p>
          <a:p>
            <a:pPr lvl="0" indent="-342900" marL="342900">
              <a:buAutoNum type="arabicPeriod"/>
            </a:pPr>
            <a:r>
              <a:rPr/>
              <a:t>Ajoutez des variables d’environnement</a:t>
            </a:r>
          </a:p>
          <a:p>
            <a:pPr lvl="0" indent="-342900" marL="342900">
              <a:buAutoNum type="arabicPeriod"/>
            </a:pPr>
            <a:r>
              <a:rPr/>
              <a:t>Créez un </a:t>
            </a:r>
            <a:r>
              <a:rPr>
                <a:latin typeface="Courier"/>
              </a:rPr>
              <a:t>.claudeignore</a:t>
            </a:r>
            <a:r>
              <a:rPr/>
              <a:t> pour exclure les fichiers inutiles</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Module 14 : CLAUDE.md et Memory System (45 min)</a:t>
            </a:r>
          </a:p>
          <a:p>
            <a:pPr lvl="0" indent="0" marL="0">
              <a:buNone/>
            </a:pPr>
            <a:r>
              <a:rPr b="1"/>
              <a:t>Objectif pédagogique</a:t>
            </a:r>
            <a:r>
              <a:rPr/>
              <a:t> : À l’issue de ce module, l’apprenant sera capable de créer un CLAUDE.md structuré et adapté à son projet, d’utiliser la hiérarchie des fichiers mémoire (global, projet, local), et de modulariser avec la syntaxe d’import.</a:t>
            </a:r>
          </a:p>
          <a:p>
            <a:pPr lvl="0" indent="0" marL="0">
              <a:spcBef>
                <a:spcPts val="3000"/>
              </a:spcBef>
              <a:buNone/>
            </a:pPr>
            <a:r>
              <a:rPr b="1"/>
              <a:t>14.1 Le fichier CLAUDE.md</a:t>
            </a:r>
          </a:p>
          <a:p>
            <a:pPr lvl="0" indent="0" marL="0">
              <a:buNone/>
            </a:pPr>
            <a:r>
              <a:rPr/>
              <a:t>CLAUDE.md est la </a:t>
            </a:r>
            <a:r>
              <a:rPr b="1"/>
              <a:t>mémoire projet</a:t>
            </a:r>
            <a:r>
              <a:rPr/>
              <a:t> de Claude Code. Il est chargé automatiquement à chaque session.</a:t>
            </a:r>
          </a:p>
          <a:p>
            <a:pPr lvl="0" indent="0" marL="0">
              <a:buNone/>
            </a:pPr>
            <a:r>
              <a:rPr b="1"/>
              <a:t>Contenu recommandé :</a:t>
            </a:r>
          </a:p>
          <a:p>
            <a:pPr lvl="0" indent="0">
              <a:buNone/>
            </a:pPr>
            <a:r>
              <a:rPr>
                <a:solidFill>
                  <a:srgbClr val="EFEF8F"/>
                </a:solidFill>
                <a:latin typeface="Courier"/>
              </a:rPr>
              <a:t># CLAUDE.md</a:t>
            </a:r>
            <a:br/>
            <a:br/>
            <a:r>
              <a:rPr>
                <a:solidFill>
                  <a:srgbClr val="EFEF8F"/>
                </a:solidFill>
                <a:latin typeface="Courier"/>
              </a:rPr>
              <a:t>## À propos du projet</a:t>
            </a:r>
            <a:br/>
            <a:r>
              <a:rPr>
                <a:solidFill>
                  <a:srgbClr val="7F9F7F"/>
                </a:solidFill>
                <a:latin typeface="Courier"/>
              </a:rPr>
              <a:t>[</a:t>
            </a:r>
            <a:r>
              <a:rPr>
                <a:solidFill>
                  <a:srgbClr val="EFEF8F"/>
                </a:solidFill>
                <a:latin typeface="Courier"/>
              </a:rPr>
              <a:t>Description courte du projet et son objectif</a:t>
            </a:r>
            <a:r>
              <a:rPr>
                <a:solidFill>
                  <a:srgbClr val="7F9F7F"/>
                </a:solidFill>
                <a:latin typeface="Courier"/>
              </a:rPr>
              <a:t>]</a:t>
            </a:r>
            <a:br/>
            <a:br/>
            <a:r>
              <a:rPr>
                <a:solidFill>
                  <a:srgbClr val="EFEF8F"/>
                </a:solidFill>
                <a:latin typeface="Courier"/>
              </a:rPr>
              <a:t>## Stack technique</a:t>
            </a:r>
            <a:br/>
            <a:r>
              <a:rPr>
                <a:solidFill>
                  <a:srgbClr val="CC9393"/>
                </a:solidFill>
                <a:latin typeface="Courier"/>
              </a:rPr>
              <a:t>- </a:t>
            </a:r>
            <a:r>
              <a:rPr>
                <a:solidFill>
                  <a:srgbClr val="CCCCCC"/>
                </a:solidFill>
                <a:latin typeface="Courier"/>
              </a:rPr>
              <a:t>Backend: </a:t>
            </a:r>
            <a:r>
              <a:rPr>
                <a:solidFill>
                  <a:srgbClr val="7F9F7F"/>
                </a:solidFill>
                <a:latin typeface="Courier"/>
              </a:rPr>
              <a:t>[</a:t>
            </a:r>
            <a:r>
              <a:rPr>
                <a:solidFill>
                  <a:srgbClr val="EFEF8F"/>
                </a:solidFill>
                <a:latin typeface="Courier"/>
              </a:rPr>
              <a:t>langages, frameworks, versions</a:t>
            </a:r>
            <a:r>
              <a:rPr>
                <a:solidFill>
                  <a:srgbClr val="7F9F7F"/>
                </a:solidFill>
                <a:latin typeface="Courier"/>
              </a:rPr>
              <a:t>]</a:t>
            </a:r>
            <a:br/>
            <a:r>
              <a:rPr>
                <a:solidFill>
                  <a:srgbClr val="CC9393"/>
                </a:solidFill>
                <a:latin typeface="Courier"/>
              </a:rPr>
              <a:t>- </a:t>
            </a:r>
            <a:r>
              <a:rPr>
                <a:solidFill>
                  <a:srgbClr val="CCCCCC"/>
                </a:solidFill>
                <a:latin typeface="Courier"/>
              </a:rPr>
              <a:t>Frontend: </a:t>
            </a:r>
            <a:r>
              <a:rPr>
                <a:solidFill>
                  <a:srgbClr val="7F9F7F"/>
                </a:solidFill>
                <a:latin typeface="Courier"/>
              </a:rPr>
              <a:t>[</a:t>
            </a:r>
            <a:r>
              <a:rPr>
                <a:solidFill>
                  <a:srgbClr val="EFEF8F"/>
                </a:solidFill>
                <a:latin typeface="Courier"/>
              </a:rPr>
              <a:t>langages, frameworks, versions</a:t>
            </a:r>
            <a:r>
              <a:rPr>
                <a:solidFill>
                  <a:srgbClr val="7F9F7F"/>
                </a:solidFill>
                <a:latin typeface="Courier"/>
              </a:rPr>
              <a:t>]</a:t>
            </a:r>
            <a:br/>
            <a:r>
              <a:rPr>
                <a:solidFill>
                  <a:srgbClr val="CC9393"/>
                </a:solidFill>
                <a:latin typeface="Courier"/>
              </a:rPr>
              <a:t>- </a:t>
            </a:r>
            <a:r>
              <a:rPr>
                <a:solidFill>
                  <a:srgbClr val="CCCCCC"/>
                </a:solidFill>
                <a:latin typeface="Courier"/>
              </a:rPr>
              <a:t>Database: </a:t>
            </a:r>
            <a:r>
              <a:rPr>
                <a:solidFill>
                  <a:srgbClr val="7F9F7F"/>
                </a:solidFill>
                <a:latin typeface="Courier"/>
              </a:rPr>
              <a:t>[</a:t>
            </a:r>
            <a:r>
              <a:rPr>
                <a:solidFill>
                  <a:srgbClr val="EFEF8F"/>
                </a:solidFill>
                <a:latin typeface="Courier"/>
              </a:rPr>
              <a:t>type, version</a:t>
            </a:r>
            <a:r>
              <a:rPr>
                <a:solidFill>
                  <a:srgbClr val="7F9F7F"/>
                </a:solidFill>
                <a:latin typeface="Courier"/>
              </a:rPr>
              <a:t>]</a:t>
            </a:r>
            <a:br/>
            <a:r>
              <a:rPr>
                <a:solidFill>
                  <a:srgbClr val="CC9393"/>
                </a:solidFill>
                <a:latin typeface="Courier"/>
              </a:rPr>
              <a:t>- </a:t>
            </a:r>
            <a:r>
              <a:rPr>
                <a:solidFill>
                  <a:srgbClr val="CCCCCC"/>
                </a:solidFill>
                <a:latin typeface="Courier"/>
              </a:rPr>
              <a:t>Infrastructure: </a:t>
            </a:r>
            <a:r>
              <a:rPr>
                <a:solidFill>
                  <a:srgbClr val="7F9F7F"/>
                </a:solidFill>
                <a:latin typeface="Courier"/>
              </a:rPr>
              <a:t>[</a:t>
            </a:r>
            <a:r>
              <a:rPr>
                <a:solidFill>
                  <a:srgbClr val="EFEF8F"/>
                </a:solidFill>
                <a:latin typeface="Courier"/>
              </a:rPr>
              <a:t>cloud, containers, etc.</a:t>
            </a:r>
            <a:r>
              <a:rPr>
                <a:solidFill>
                  <a:srgbClr val="7F9F7F"/>
                </a:solidFill>
                <a:latin typeface="Courier"/>
              </a:rPr>
              <a:t>]</a:t>
            </a:r>
            <a:br/>
            <a:br/>
            <a:r>
              <a:rPr>
                <a:solidFill>
                  <a:srgbClr val="EFEF8F"/>
                </a:solidFill>
                <a:latin typeface="Courier"/>
              </a:rPr>
              <a:t>## Architecture</a:t>
            </a:r>
            <a:br/>
            <a:r>
              <a:rPr>
                <a:solidFill>
                  <a:srgbClr val="7F9F7F"/>
                </a:solidFill>
                <a:latin typeface="Courier"/>
              </a:rPr>
              <a:t>[</a:t>
            </a:r>
            <a:r>
              <a:rPr>
                <a:solidFill>
                  <a:srgbClr val="EFEF8F"/>
                </a:solidFill>
                <a:latin typeface="Courier"/>
              </a:rPr>
              <a:t>Description de l'organisation du code</a:t>
            </a:r>
            <a:r>
              <a:rPr>
                <a:solidFill>
                  <a:srgbClr val="7F9F7F"/>
                </a:solidFill>
                <a:latin typeface="Courier"/>
              </a:rPr>
              <a:t>]</a:t>
            </a:r>
            <a:br/>
            <a:br/>
            <a:r>
              <a:rPr>
                <a:solidFill>
                  <a:srgbClr val="EFEF8F"/>
                </a:solidFill>
                <a:latin typeface="Courier"/>
              </a:rPr>
              <a:t>## Conventions de code</a:t>
            </a:r>
            <a:br/>
            <a:r>
              <a:rPr>
                <a:solidFill>
                  <a:srgbClr val="7F9F7F"/>
                </a:solidFill>
                <a:latin typeface="Courier"/>
              </a:rPr>
              <a:t>[</a:t>
            </a:r>
            <a:r>
              <a:rPr>
                <a:solidFill>
                  <a:srgbClr val="EFEF8F"/>
                </a:solidFill>
                <a:latin typeface="Courier"/>
              </a:rPr>
              <a:t>Nommage, formatage, patterns utilisés</a:t>
            </a:r>
            <a:r>
              <a:rPr>
                <a:solidFill>
                  <a:srgbClr val="7F9F7F"/>
                </a:solidFill>
                <a:latin typeface="Courier"/>
              </a:rPr>
              <a:t>]</a:t>
            </a:r>
            <a:br/>
            <a:br/>
            <a:r>
              <a:rPr>
                <a:solidFill>
                  <a:srgbClr val="EFEF8F"/>
                </a:solidFill>
                <a:latin typeface="Courier"/>
              </a:rPr>
              <a:t>## Commandes de développement</a:t>
            </a:r>
            <a:br/>
            <a:r>
              <a:rPr>
                <a:solidFill>
                  <a:srgbClr val="CC9393"/>
                </a:solidFill>
                <a:latin typeface="Courier"/>
              </a:rPr>
              <a:t>- </a:t>
            </a:r>
            <a:r>
              <a:rPr b="1">
                <a:solidFill>
                  <a:srgbClr val="7F9F7F"/>
                </a:solidFill>
                <a:latin typeface="Courier"/>
              </a:rPr>
              <a:t>`make dev`</a:t>
            </a:r>
            <a:r>
              <a:rPr>
                <a:solidFill>
                  <a:srgbClr val="CCCCCC"/>
                </a:solidFill>
                <a:latin typeface="Courier"/>
              </a:rPr>
              <a:t> : </a:t>
            </a:r>
            <a:r>
              <a:rPr>
                <a:solidFill>
                  <a:srgbClr val="7F9F7F"/>
                </a:solidFill>
                <a:latin typeface="Courier"/>
              </a:rPr>
              <a:t>[</a:t>
            </a:r>
            <a:r>
              <a:rPr>
                <a:solidFill>
                  <a:srgbClr val="EFEF8F"/>
                </a:solidFill>
                <a:latin typeface="Courier"/>
              </a:rPr>
              <a:t>description</a:t>
            </a:r>
            <a:r>
              <a:rPr>
                <a:solidFill>
                  <a:srgbClr val="7F9F7F"/>
                </a:solidFill>
                <a:latin typeface="Courier"/>
              </a:rPr>
              <a:t>]</a:t>
            </a:r>
            <a:br/>
            <a:r>
              <a:rPr>
                <a:solidFill>
                  <a:srgbClr val="CC9393"/>
                </a:solidFill>
                <a:latin typeface="Courier"/>
              </a:rPr>
              <a:t>- </a:t>
            </a:r>
            <a:r>
              <a:rPr b="1">
                <a:solidFill>
                  <a:srgbClr val="7F9F7F"/>
                </a:solidFill>
                <a:latin typeface="Courier"/>
              </a:rPr>
              <a:t>`make test`</a:t>
            </a:r>
            <a:r>
              <a:rPr>
                <a:solidFill>
                  <a:srgbClr val="CCCCCC"/>
                </a:solidFill>
                <a:latin typeface="Courier"/>
              </a:rPr>
              <a:t> : </a:t>
            </a:r>
            <a:r>
              <a:rPr>
                <a:solidFill>
                  <a:srgbClr val="7F9F7F"/>
                </a:solidFill>
                <a:latin typeface="Courier"/>
              </a:rPr>
              <a:t>[</a:t>
            </a:r>
            <a:r>
              <a:rPr>
                <a:solidFill>
                  <a:srgbClr val="EFEF8F"/>
                </a:solidFill>
                <a:latin typeface="Courier"/>
              </a:rPr>
              <a:t>description</a:t>
            </a:r>
            <a:r>
              <a:rPr>
                <a:solidFill>
                  <a:srgbClr val="7F9F7F"/>
                </a:solidFill>
                <a:latin typeface="Courier"/>
              </a:rPr>
              <a:t>]</a:t>
            </a:r>
            <a:br/>
            <a:r>
              <a:rPr>
                <a:solidFill>
                  <a:srgbClr val="CC9393"/>
                </a:solidFill>
                <a:latin typeface="Courier"/>
              </a:rPr>
              <a:t>- </a:t>
            </a:r>
            <a:r>
              <a:rPr b="1">
                <a:solidFill>
                  <a:srgbClr val="7F9F7F"/>
                </a:solidFill>
                <a:latin typeface="Courier"/>
              </a:rPr>
              <a:t>`make build`</a:t>
            </a:r>
            <a:r>
              <a:rPr>
                <a:solidFill>
                  <a:srgbClr val="CCCCCC"/>
                </a:solidFill>
                <a:latin typeface="Courier"/>
              </a:rPr>
              <a:t> : </a:t>
            </a:r>
            <a:r>
              <a:rPr>
                <a:solidFill>
                  <a:srgbClr val="7F9F7F"/>
                </a:solidFill>
                <a:latin typeface="Courier"/>
              </a:rPr>
              <a:t>[</a:t>
            </a:r>
            <a:r>
              <a:rPr>
                <a:solidFill>
                  <a:srgbClr val="EFEF8F"/>
                </a:solidFill>
                <a:latin typeface="Courier"/>
              </a:rPr>
              <a:t>description</a:t>
            </a:r>
            <a:r>
              <a:rPr>
                <a:solidFill>
                  <a:srgbClr val="7F9F7F"/>
                </a:solidFill>
                <a:latin typeface="Courier"/>
              </a:rPr>
              <a:t>]</a:t>
            </a:r>
            <a:br/>
            <a:br/>
            <a:r>
              <a:rPr>
                <a:solidFill>
                  <a:srgbClr val="EFEF8F"/>
                </a:solidFill>
                <a:latin typeface="Courier"/>
              </a:rPr>
              <a:t>## Points d'attention</a:t>
            </a:r>
            <a:br/>
            <a:r>
              <a:rPr>
                <a:solidFill>
                  <a:srgbClr val="7F9F7F"/>
                </a:solidFill>
                <a:latin typeface="Courier"/>
              </a:rPr>
              <a:t>[</a:t>
            </a:r>
            <a:r>
              <a:rPr>
                <a:solidFill>
                  <a:srgbClr val="EFEF8F"/>
                </a:solidFill>
                <a:latin typeface="Courier"/>
              </a:rPr>
              <a:t>Choses que Claude doit savoir : legacy, dette technique, etc.</a:t>
            </a:r>
            <a:r>
              <a:rPr>
                <a:solidFill>
                  <a:srgbClr val="7F9F7F"/>
                </a:solidFill>
                <a:latin typeface="Courier"/>
              </a:rPr>
              <a:t>]</a:t>
            </a:r>
          </a:p>
          <a:p>
            <a:pPr lvl="0" indent="0" marL="0">
              <a:buNone/>
            </a:pPr>
            <a:r>
              <a:rPr b="1"/>
              <a:t>Exemple pour un projet Go/Angular :</a:t>
            </a:r>
          </a:p>
          <a:p>
            <a:pPr lvl="0" indent="0">
              <a:buNone/>
            </a:pPr>
            <a:r>
              <a:rPr>
                <a:solidFill>
                  <a:srgbClr val="EFEF8F"/>
                </a:solidFill>
                <a:latin typeface="Courier"/>
              </a:rPr>
              <a:t># CLAUDE.md</a:t>
            </a:r>
            <a:br/>
            <a:br/>
            <a:r>
              <a:rPr>
                <a:solidFill>
                  <a:srgbClr val="EFEF8F"/>
                </a:solidFill>
                <a:latin typeface="Courier"/>
              </a:rPr>
              <a:t>## Projet</a:t>
            </a:r>
            <a:br/>
            <a:r>
              <a:rPr>
                <a:solidFill>
                  <a:srgbClr val="CCCCCC"/>
                </a:solidFill>
                <a:latin typeface="Courier"/>
              </a:rPr>
              <a:t>API de gestion de tâches avec frontend Angular.</a:t>
            </a:r>
            <a:br/>
            <a:br/>
            <a:r>
              <a:rPr>
                <a:solidFill>
                  <a:srgbClr val="EFEF8F"/>
                </a:solidFill>
                <a:latin typeface="Courier"/>
              </a:rPr>
              <a:t>## Stack</a:t>
            </a:r>
            <a:br/>
            <a:r>
              <a:rPr>
                <a:solidFill>
                  <a:srgbClr val="CC9393"/>
                </a:solidFill>
                <a:latin typeface="Courier"/>
              </a:rPr>
              <a:t>- </a:t>
            </a:r>
            <a:r>
              <a:rPr>
                <a:solidFill>
                  <a:srgbClr val="CCCCCC"/>
                </a:solidFill>
                <a:latin typeface="Courier"/>
              </a:rPr>
              <a:t>Backend: Go 1.22, Chi router, sqlc pour queries</a:t>
            </a:r>
            <a:br/>
            <a:r>
              <a:rPr>
                <a:solidFill>
                  <a:srgbClr val="CC9393"/>
                </a:solidFill>
                <a:latin typeface="Courier"/>
              </a:rPr>
              <a:t>- </a:t>
            </a:r>
            <a:r>
              <a:rPr>
                <a:solidFill>
                  <a:srgbClr val="CCCCCC"/>
                </a:solidFill>
                <a:latin typeface="Courier"/>
              </a:rPr>
              <a:t>Frontend: Angular 18, Tailwind CSS, standalone components</a:t>
            </a:r>
            <a:br/>
            <a:r>
              <a:rPr>
                <a:solidFill>
                  <a:srgbClr val="CC9393"/>
                </a:solidFill>
                <a:latin typeface="Courier"/>
              </a:rPr>
              <a:t>- </a:t>
            </a:r>
            <a:r>
              <a:rPr>
                <a:solidFill>
                  <a:srgbClr val="CCCCCC"/>
                </a:solidFill>
                <a:latin typeface="Courier"/>
              </a:rPr>
              <a:t>DB: PostgreSQL 16</a:t>
            </a:r>
            <a:br/>
            <a:r>
              <a:rPr>
                <a:solidFill>
                  <a:srgbClr val="CC9393"/>
                </a:solidFill>
                <a:latin typeface="Courier"/>
              </a:rPr>
              <a:t>- </a:t>
            </a:r>
            <a:r>
              <a:rPr>
                <a:solidFill>
                  <a:srgbClr val="CCCCCC"/>
                </a:solidFill>
                <a:latin typeface="Courier"/>
              </a:rPr>
              <a:t>Deploy: Azure Container Apps</a:t>
            </a:r>
            <a:br/>
            <a:br/>
            <a:r>
              <a:rPr>
                <a:solidFill>
                  <a:srgbClr val="EFEF8F"/>
                </a:solidFill>
                <a:latin typeface="Courier"/>
              </a:rPr>
              <a:t>## Architecture</a:t>
            </a:r>
            <a:br/>
            <a:br/>
            <a:r>
              <a:rPr>
                <a:solidFill>
                  <a:srgbClr val="EFEF8F"/>
                </a:solidFill>
                <a:latin typeface="Courier"/>
              </a:rPr>
              <a:t>### Backend (/api)</a:t>
            </a:r>
          </a:p>
          <a:p>
            <a:pPr lvl="0" indent="0" marL="0">
              <a:buNone/>
            </a:pPr>
            <a:r>
              <a:rPr/>
              <a:t>/cmd/api → Point d’entrée /internal/ /handlers → HTTP handlers (thin layer) /services → Business logic /repository → Data access (sqlc generated) /domain → Entities et value objects /migrations → SQL migrations</a:t>
            </a:r>
          </a:p>
          <a:p>
            <a:pPr lvl="0" indent="0">
              <a:buNone/>
            </a:pPr>
            <a:r>
              <a:rPr>
                <a:latin typeface="Courier"/>
              </a:rPr>
              <a:t>
### Frontend (/web)</a:t>
            </a:r>
          </a:p>
          <a:p>
            <a:pPr lvl="0" indent="0" marL="0">
              <a:buNone/>
            </a:pPr>
            <a:r>
              <a:rPr/>
              <a:t>/src/app/ /core → Services singleton, guards /shared → Components réutilisables /features → Feature modules /pages → Pages/routes principales</a:t>
            </a:r>
          </a:p>
          <a:p>
            <a:pPr lvl="0" indent="0">
              <a:buNone/>
            </a:pPr>
            <a:r>
              <a:rPr>
                <a:latin typeface="Courier"/>
              </a:rPr>
              <a:t>
## Conventions
### Go
- Erreurs: wrap avec fmt.Errorf("context: %w", err)
- Tests: fichiers _test.go, mocks avec gomock
- Logs: slog structured logging
### Angular
- Components: standalone, OnPush change detection
- State: signals pour state local, services pour partagé
- Forms: reactive forms uniquement
## Commandes
- `make dev` : Lance API + DB + Frontend
- `make test` : Tests Go + Angular
- `make migrate` : Applique les migrations
- `make generate` : Génère le code sqlc</a:t>
            </a:r>
          </a:p>
          <a:p>
            <a:pPr lvl="0" indent="0" marL="0">
              <a:spcBef>
                <a:spcPts val="3000"/>
              </a:spcBef>
              <a:buNone/>
            </a:pPr>
            <a:r>
              <a:rPr b="1"/>
              <a:t>14.2 Hiérarchie des fichiers mémoire</a:t>
            </a:r>
          </a:p>
          <a:p>
            <a:pPr lvl="0" indent="0">
              <a:buNone/>
            </a:pPr>
            <a:r>
              <a:rPr>
                <a:latin typeface="Courier"/>
              </a:rPr>
              <a:t>┌─────────────────────────────────────────────┐
│ Chargement automatique (du plus au moins    │
│ spécifique) :                               │
├─────────────────────────────────────────────┤
│                                             │
│ ~/.claude/CLAUDE.md                         │
│ └── Global : s'applique à TOUS vos projets  │
│     Ex: vos préférences personnelles        │
│                                             │
│ .claude/CLAUDE.md                           │
│ └── Projet : partagé avec l'équipe          │
│     Ex: conventions du projet               │
│                                             │
│ .claude/CLAUDE.local.md                     │
│ └── Personnel : gitignored                  │
│     Ex: notes personnelles, TODO perso      │
│                                             │
│ CLAUDE.md (racine)                          │
│ └── Alternatif : si pas de dossier .claude  │
│                                             │
└─────────────────────────────────────────────┘</a:t>
            </a:r>
          </a:p>
          <a:p>
            <a:pPr lvl="0" indent="0" marL="0">
              <a:buNone/>
            </a:pPr>
            <a:r>
              <a:rPr b="1"/>
              <a:t>Cas d’usage par niveau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943100"/>
                <a:gridCol w="3162300"/>
              </a:tblGrid>
              <a:tr h="0">
                <a:tc>
                  <a:txBody>
                    <a:bodyPr/>
                    <a:lstStyle/>
                    <a:p>
                      <a:pPr lvl="0" indent="0" marL="0">
                        <a:buNone/>
                      </a:pPr>
                      <a:r>
                        <a:rPr/>
                        <a:t>Niveau</a:t>
                      </a:r>
                    </a:p>
                  </a:txBody>
                  <a:tcPr/>
                </a:tc>
                <a:tc>
                  <a:txBody>
                    <a:bodyPr/>
                    <a:lstStyle/>
                    <a:p>
                      <a:pPr lvl="0" indent="0" marL="0">
                        <a:buNone/>
                      </a:pPr>
                      <a:r>
                        <a:rPr/>
                        <a:t>Quoi mettre</a:t>
                      </a:r>
                    </a:p>
                  </a:txBody>
                  <a:tcPr/>
                </a:tc>
              </a:tr>
              <a:tr h="0">
                <a:tc>
                  <a:txBody>
                    <a:bodyPr/>
                    <a:lstStyle/>
                    <a:p>
                      <a:pPr lvl="0" indent="0" marL="0">
                        <a:buNone/>
                      </a:pPr>
                      <a:r>
                        <a:rPr/>
                        <a:t>Global (~/.claude/CLAUDE.md)</a:t>
                      </a:r>
                    </a:p>
                  </a:txBody>
                </a:tc>
                <a:tc>
                  <a:txBody>
                    <a:bodyPr/>
                    <a:lstStyle/>
                    <a:p>
                      <a:pPr lvl="0" indent="0" marL="0">
                        <a:buNone/>
                      </a:pPr>
                      <a:r>
                        <a:rPr/>
                        <a:t>Style de code préféré, langues, habitudes</a:t>
                      </a:r>
                    </a:p>
                  </a:txBody>
                </a:tc>
              </a:tr>
              <a:tr h="0">
                <a:tc>
                  <a:txBody>
                    <a:bodyPr/>
                    <a:lstStyle/>
                    <a:p>
                      <a:pPr lvl="0" indent="0" marL="0">
                        <a:buNone/>
                      </a:pPr>
                      <a:r>
                        <a:rPr/>
                        <a:t>Projet (.claude/CLAUDE.md)</a:t>
                      </a:r>
                    </a:p>
                  </a:txBody>
                </a:tc>
                <a:tc>
                  <a:txBody>
                    <a:bodyPr/>
                    <a:lstStyle/>
                    <a:p>
                      <a:pPr lvl="0" indent="0" marL="0">
                        <a:buNone/>
                      </a:pPr>
                      <a:r>
                        <a:rPr/>
                        <a:t>Stack, architecture, conventions équipe</a:t>
                      </a:r>
                    </a:p>
                  </a:txBody>
                </a:tc>
              </a:tr>
              <a:tr h="0">
                <a:tc>
                  <a:txBody>
                    <a:bodyPr/>
                    <a:lstStyle/>
                    <a:p>
                      <a:pPr lvl="0" indent="0" marL="0">
                        <a:buNone/>
                      </a:pPr>
                      <a:r>
                        <a:rPr/>
                        <a:t>Local (.claude/CLAUDE.local.md)</a:t>
                      </a:r>
                    </a:p>
                  </a:txBody>
                </a:tc>
                <a:tc>
                  <a:txBody>
                    <a:bodyPr/>
                    <a:lstStyle/>
                    <a:p>
                      <a:pPr lvl="0" indent="0" marL="0">
                        <a:buNone/>
                      </a:pPr>
                      <a:r>
                        <a:rPr/>
                        <a:t>Notes perso, TODO, expériences en cours</a:t>
                      </a:r>
                    </a:p>
                  </a:txBody>
                </a:tc>
              </a:tr>
            </a:tbl>
          </a:graphicData>
        </a:graphic>
      </p:graphicFrame>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14.3 Imports et modularité</a:t>
            </a:r>
          </a:p>
          <a:p>
            <a:pPr lvl="0" indent="0" marL="0">
              <a:buNone/>
            </a:pPr>
            <a:r>
              <a:rPr/>
              <a:t>Pour les gros projets, découpez le CLAUDE.md en fichiers modulaires.</a:t>
            </a:r>
          </a:p>
          <a:p>
            <a:pPr lvl="0" indent="0" marL="0">
              <a:buNone/>
            </a:pPr>
            <a:r>
              <a:rPr b="1"/>
              <a:t>Syntaxe d’import :</a:t>
            </a:r>
          </a:p>
          <a:p>
            <a:pPr lvl="0" indent="0">
              <a:buNone/>
            </a:pPr>
            <a:r>
              <a:rPr>
                <a:solidFill>
                  <a:srgbClr val="EFEF8F"/>
                </a:solidFill>
                <a:latin typeface="Courier"/>
              </a:rPr>
              <a:t># CLAUDE.md</a:t>
            </a:r>
            <a:br/>
            <a:br/>
            <a:r>
              <a:rPr>
                <a:solidFill>
                  <a:srgbClr val="EFEF8F"/>
                </a:solidFill>
                <a:latin typeface="Courier"/>
              </a:rPr>
              <a:t>## Projet</a:t>
            </a:r>
            <a:br/>
            <a:r>
              <a:rPr>
                <a:solidFill>
                  <a:srgbClr val="CCCCCC"/>
                </a:solidFill>
                <a:latin typeface="Courier"/>
              </a:rPr>
              <a:t>Application BizCraft SaaS</a:t>
            </a:r>
            <a:br/>
            <a:br/>
            <a:r>
              <a:rPr>
                <a:solidFill>
                  <a:srgbClr val="7F9F7F"/>
                </a:solidFill>
                <a:latin typeface="Courier"/>
              </a:rPr>
              <a:t>&lt;!-- @import ./rules/api.md --&gt;</a:t>
            </a:r>
            <a:br/>
            <a:r>
              <a:rPr>
                <a:solidFill>
                  <a:srgbClr val="7F9F7F"/>
                </a:solidFill>
                <a:latin typeface="Courier"/>
              </a:rPr>
              <a:t>&lt;!-- @import ./rules/angular.md --&gt;</a:t>
            </a:r>
            <a:br/>
            <a:r>
              <a:rPr>
                <a:solidFill>
                  <a:srgbClr val="7F9F7F"/>
                </a:solidFill>
                <a:latin typeface="Courier"/>
              </a:rPr>
              <a:t>&lt;!-- @import ./rules/security.md --&gt;</a:t>
            </a:r>
            <a:br/>
            <a:r>
              <a:rPr>
                <a:solidFill>
                  <a:srgbClr val="7F9F7F"/>
                </a:solidFill>
                <a:latin typeface="Courier"/>
              </a:rPr>
              <a:t>&lt;!-- @import ./rules/testing.md --&gt;</a:t>
            </a:r>
          </a:p>
          <a:p>
            <a:pPr lvl="0" indent="0" marL="0">
              <a:buNone/>
            </a:pPr>
            <a:r>
              <a:rPr b="1"/>
              <a:t>Structure recommandée :</a:t>
            </a:r>
          </a:p>
          <a:p>
            <a:pPr lvl="0" indent="0">
              <a:buNone/>
            </a:pPr>
            <a:r>
              <a:rPr>
                <a:latin typeface="Courier"/>
              </a:rPr>
              <a:t>.claude/
├── CLAUDE.md              # Fichier principal
├── CLAUDE.local.md        # Notes perso (gitignored)
└── rules/
    ├── api.md             # Conventions API Go
    ├── angular.md         # Standards Angular
    ├── security.md        # Règles de sécurité
    ├── testing.md         # Conventions de test
    └── azure.md           # Patterns Azure</a:t>
            </a:r>
          </a:p>
          <a:p>
            <a:pPr lvl="0" indent="0" marL="0">
              <a:buNone/>
            </a:pPr>
            <a:r>
              <a:rPr b="1"/>
              <a:t>Exemple de fichier modulaire (.claude/rules/api.md) :</a:t>
            </a:r>
          </a:p>
          <a:p>
            <a:pPr lvl="0" indent="0">
              <a:buNone/>
            </a:pPr>
            <a:r>
              <a:rPr>
                <a:solidFill>
                  <a:srgbClr val="EFEF8F"/>
                </a:solidFill>
                <a:latin typeface="Courier"/>
              </a:rPr>
              <a:t># Conventions API Go</a:t>
            </a:r>
            <a:br/>
            <a:br/>
            <a:r>
              <a:rPr>
                <a:solidFill>
                  <a:srgbClr val="EFEF8F"/>
                </a:solidFill>
                <a:latin typeface="Courier"/>
              </a:rPr>
              <a:t>## Structure des handlers</a:t>
            </a:r>
            <a:br/>
            <a:r>
              <a:rPr>
                <a:solidFill>
                  <a:srgbClr val="CC9393"/>
                </a:solidFill>
                <a:latin typeface="Courier"/>
              </a:rPr>
              <a:t>- </a:t>
            </a:r>
            <a:r>
              <a:rPr>
                <a:solidFill>
                  <a:srgbClr val="CCCCCC"/>
                </a:solidFill>
                <a:latin typeface="Courier"/>
              </a:rPr>
              <a:t>Un fichier par ressource : users.go, tasks.go</a:t>
            </a:r>
            <a:br/>
            <a:r>
              <a:rPr>
                <a:solidFill>
                  <a:srgbClr val="CC9393"/>
                </a:solidFill>
                <a:latin typeface="Courier"/>
              </a:rPr>
              <a:t>- </a:t>
            </a:r>
            <a:r>
              <a:rPr>
                <a:solidFill>
                  <a:srgbClr val="CCCCCC"/>
                </a:solidFill>
                <a:latin typeface="Courier"/>
              </a:rPr>
              <a:t>Pattern : Handler struct avec dépendances injectées</a:t>
            </a:r>
            <a:br/>
            <a:r>
              <a:rPr>
                <a:solidFill>
                  <a:srgbClr val="CC9393"/>
                </a:solidFill>
                <a:latin typeface="Courier"/>
              </a:rPr>
              <a:t>- </a:t>
            </a:r>
            <a:r>
              <a:rPr>
                <a:solidFill>
                  <a:srgbClr val="CCCCCC"/>
                </a:solidFill>
                <a:latin typeface="Courier"/>
              </a:rPr>
              <a:t>Erreurs HTTP centralisées via httputil.Error()</a:t>
            </a:r>
            <a:br/>
            <a:br/>
            <a:r>
              <a:rPr>
                <a:solidFill>
                  <a:srgbClr val="EFEF8F"/>
                </a:solidFill>
                <a:latin typeface="Courier"/>
              </a:rPr>
              <a:t>## Validation</a:t>
            </a:r>
            <a:br/>
            <a:r>
              <a:rPr>
                <a:solidFill>
                  <a:srgbClr val="CC9393"/>
                </a:solidFill>
                <a:latin typeface="Courier"/>
              </a:rPr>
              <a:t>- </a:t>
            </a:r>
            <a:r>
              <a:rPr>
                <a:solidFill>
                  <a:srgbClr val="CCCCCC"/>
                </a:solidFill>
                <a:latin typeface="Courier"/>
              </a:rPr>
              <a:t>Utiliser go-playground/validator</a:t>
            </a:r>
            <a:br/>
            <a:r>
              <a:rPr>
                <a:solidFill>
                  <a:srgbClr val="CC9393"/>
                </a:solidFill>
                <a:latin typeface="Courier"/>
              </a:rPr>
              <a:t>- </a:t>
            </a:r>
            <a:r>
              <a:rPr>
                <a:solidFill>
                  <a:srgbClr val="CCCCCC"/>
                </a:solidFill>
                <a:latin typeface="Courier"/>
              </a:rPr>
              <a:t>Valider en entrée de handler</a:t>
            </a:r>
            <a:br/>
            <a:r>
              <a:rPr>
                <a:solidFill>
                  <a:srgbClr val="CC9393"/>
                </a:solidFill>
                <a:latin typeface="Courier"/>
              </a:rPr>
              <a:t>- </a:t>
            </a:r>
            <a:r>
              <a:rPr>
                <a:solidFill>
                  <a:srgbClr val="CCCCCC"/>
                </a:solidFill>
                <a:latin typeface="Courier"/>
              </a:rPr>
              <a:t>Messages d'erreur explicites</a:t>
            </a:r>
            <a:br/>
            <a:br/>
            <a:r>
              <a:rPr>
                <a:solidFill>
                  <a:srgbClr val="EFEF8F"/>
                </a:solidFill>
                <a:latin typeface="Courier"/>
              </a:rPr>
              <a:t>## Réponses</a:t>
            </a:r>
            <a:br/>
            <a:r>
              <a:rPr>
                <a:solidFill>
                  <a:srgbClr val="CC9393"/>
                </a:solidFill>
                <a:latin typeface="Courier"/>
              </a:rPr>
              <a:t>- </a:t>
            </a:r>
            <a:r>
              <a:rPr>
                <a:solidFill>
                  <a:srgbClr val="CCCCCC"/>
                </a:solidFill>
                <a:latin typeface="Courier"/>
              </a:rPr>
              <a:t>JSON uniquement</a:t>
            </a:r>
            <a:br/>
            <a:r>
              <a:rPr>
                <a:solidFill>
                  <a:srgbClr val="CC9393"/>
                </a:solidFill>
                <a:latin typeface="Courier"/>
              </a:rPr>
              <a:t>- </a:t>
            </a:r>
            <a:r>
              <a:rPr>
                <a:solidFill>
                  <a:srgbClr val="CCCCCC"/>
                </a:solidFill>
                <a:latin typeface="Courier"/>
              </a:rPr>
              <a:t>Enveloppe standard : {data, error, meta}</a:t>
            </a:r>
            <a:br/>
            <a:r>
              <a:rPr>
                <a:solidFill>
                  <a:srgbClr val="CC9393"/>
                </a:solidFill>
                <a:latin typeface="Courier"/>
              </a:rPr>
              <a:t>- </a:t>
            </a:r>
            <a:r>
              <a:rPr>
                <a:solidFill>
                  <a:srgbClr val="CCCCCC"/>
                </a:solidFill>
                <a:latin typeface="Courier"/>
              </a:rPr>
              <a:t>Codes HTTP corrects (201 create, 204 delete...)</a:t>
            </a:r>
            <a:br/>
            <a:br/>
            <a:r>
              <a:rPr>
                <a:solidFill>
                  <a:srgbClr val="EFEF8F"/>
                </a:solidFill>
                <a:latin typeface="Courier"/>
              </a:rPr>
              <a:t>## Logging</a:t>
            </a:r>
            <a:br/>
            <a:r>
              <a:rPr>
                <a:solidFill>
                  <a:srgbClr val="CC9393"/>
                </a:solidFill>
                <a:latin typeface="Courier"/>
              </a:rPr>
              <a:t>- </a:t>
            </a:r>
            <a:r>
              <a:rPr>
                <a:solidFill>
                  <a:srgbClr val="CCCCCC"/>
                </a:solidFill>
                <a:latin typeface="Courier"/>
              </a:rPr>
              <a:t>slog pour tous les logs</a:t>
            </a:r>
            <a:br/>
            <a:r>
              <a:rPr>
                <a:solidFill>
                  <a:srgbClr val="CC9393"/>
                </a:solidFill>
                <a:latin typeface="Courier"/>
              </a:rPr>
              <a:t>- </a:t>
            </a:r>
            <a:r>
              <a:rPr>
                <a:solidFill>
                  <a:srgbClr val="CCCCCC"/>
                </a:solidFill>
                <a:latin typeface="Courier"/>
              </a:rPr>
              <a:t>Contexte : request_id, user_id</a:t>
            </a:r>
            <a:br/>
            <a:r>
              <a:rPr>
                <a:solidFill>
                  <a:srgbClr val="CC9393"/>
                </a:solidFill>
                <a:latin typeface="Courier"/>
              </a:rPr>
              <a:t>- </a:t>
            </a:r>
            <a:r>
              <a:rPr>
                <a:solidFill>
                  <a:srgbClr val="CCCCCC"/>
                </a:solidFill>
                <a:latin typeface="Courier"/>
              </a:rPr>
              <a:t>Niveaux : Debug dev, Info prod</a:t>
            </a:r>
          </a:p>
          <a:p>
            <a:pPr lvl="0" indent="0" marL="0">
              <a:buNone/>
            </a:pPr>
            <a:r>
              <a:rPr b="1"/>
              <a:t>Patterns glob pour chargement conditionnel :</a:t>
            </a:r>
          </a:p>
          <a:p>
            <a:pPr lvl="0" indent="0">
              <a:buNone/>
            </a:pPr>
            <a:r>
              <a:rPr>
                <a:solidFill>
                  <a:srgbClr val="7F9F7F"/>
                </a:solidFill>
                <a:latin typeface="Courier"/>
              </a:rPr>
              <a:t>&lt;!-- @import ./rules/*.md --&gt;</a:t>
            </a:r>
            <a:br/>
            <a:r>
              <a:rPr>
                <a:solidFill>
                  <a:srgbClr val="7F9F7F"/>
                </a:solidFill>
                <a:latin typeface="Courier"/>
              </a:rPr>
              <a:t>&lt;!-- @import ./rules/api-*.md --&gt;</a:t>
            </a:r>
          </a:p>
          <a:p>
            <a:pPr lvl="0" indent="0" marL="0">
              <a:spcBef>
                <a:spcPts val="3000"/>
              </a:spcBef>
              <a:buNone/>
            </a:pPr>
            <a:r>
              <a:rPr b="1"/>
              <a:t>14.4 Bonnes pratiques</a:t>
            </a:r>
          </a:p>
          <a:p>
            <a:pPr lvl="0" indent="0" marL="0">
              <a:buNone/>
            </a:pPr>
            <a:r>
              <a:rPr b="1"/>
              <a:t>DO :</a:t>
            </a:r>
            <a:r>
              <a:rPr/>
              <a:t> - Garder le CLAUDE.md principal concis (&lt; 500 lignes) - Utiliser les imports pour la modularité - Versionner avec le projet (sauf .local) - Mettre à jour quand les conventions changent - Inclure des exemples de code</a:t>
            </a:r>
          </a:p>
          <a:p>
            <a:pPr lvl="0" indent="0" marL="0">
              <a:buNone/>
            </a:pPr>
            <a:r>
              <a:rPr b="1"/>
              <a:t>DON’T :</a:t>
            </a:r>
            <a:r>
              <a:rPr/>
              <a:t> - Dupliquer des informations - Inclure des secrets ou tokens - Écrire un roman (Claude a un contexte limité) - Laisser des informations obsolètes</a:t>
            </a:r>
          </a:p>
          <a:p>
            <a:pPr lvl="0" indent="0" marL="0">
              <a:buNone/>
            </a:pPr>
            <a:r>
              <a:rPr b="1"/>
              <a:t>Exercice :</a:t>
            </a:r>
          </a:p>
          <a:p>
            <a:pPr lvl="0" indent="-342900" marL="342900">
              <a:buAutoNum type="arabicPeriod"/>
            </a:pPr>
            <a:r>
              <a:rPr/>
              <a:t>Créez un CLAUDE.md modulaire pour votre stack</a:t>
            </a:r>
          </a:p>
          <a:p>
            <a:pPr lvl="0" indent="-342900" marL="342900">
              <a:buAutoNum type="arabicPeriod"/>
            </a:pPr>
            <a:r>
              <a:rPr/>
              <a:t>Séparez en fichiers : api.md, frontend.md, testing.md</a:t>
            </a:r>
          </a:p>
          <a:p>
            <a:pPr lvl="0" indent="-342900" marL="342900">
              <a:buAutoNum type="arabicPeriod"/>
            </a:pPr>
            <a:r>
              <a:rPr/>
              <a:t>Utilisez les imports dans le fichier principal</a:t>
            </a:r>
          </a:p>
          <a:p>
            <a:pPr lvl="0" indent="-342900" marL="342900">
              <a:buAutoNum type="arabicPeriod"/>
            </a:pPr>
            <a:r>
              <a:rPr/>
              <a:t>Ajoutez un CLAUDE.local.md avec vos notes perso</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Module 15 : Contrôler le contexte (30 min)</a:t>
            </a:r>
          </a:p>
          <a:p>
            <a:pPr lvl="0" indent="0" marL="0">
              <a:buNone/>
            </a:pPr>
            <a:r>
              <a:rPr b="1"/>
              <a:t>Objectif pédagogique</a:t>
            </a:r>
            <a:r>
              <a:rPr/>
              <a:t> : À l’issue de ce module, l’apprenant sera capable de comprendre la fenêtre de contexte et ses limites, d’utiliser </a:t>
            </a:r>
            <a:r>
              <a:rPr>
                <a:latin typeface="Courier"/>
              </a:rPr>
              <a:t>/compact</a:t>
            </a:r>
            <a:r>
              <a:rPr/>
              <a:t> et </a:t>
            </a:r>
            <a:r>
              <a:rPr>
                <a:latin typeface="Courier"/>
              </a:rPr>
              <a:t>/clear</a:t>
            </a:r>
            <a:r>
              <a:rPr/>
              <a:t> efficacement, et d’optimiser l’utilisation des tokens pour des sessions longues.</a:t>
            </a:r>
          </a:p>
          <a:p>
            <a:pPr lvl="0" indent="0" marL="0">
              <a:spcBef>
                <a:spcPts val="3000"/>
              </a:spcBef>
              <a:buNone/>
            </a:pPr>
            <a:r>
              <a:rPr b="1"/>
              <a:t>15.1 Comprendre la fenêtre de contexte</a:t>
            </a:r>
          </a:p>
          <a:p>
            <a:pPr lvl="0" indent="0" marL="0">
              <a:buNone/>
            </a:pPr>
            <a:r>
              <a:rPr/>
              <a:t>La “fenêtre de contexte” est la mémoire de travail de Claude.</a:t>
            </a:r>
          </a:p>
          <a:p>
            <a:pPr lvl="0" indent="0" marL="0">
              <a:buNone/>
            </a:pPr>
            <a:r>
              <a:rPr b="1"/>
              <a:t>Taille selon le modèle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Modèle</a:t>
                      </a:r>
                    </a:p>
                  </a:txBody>
                  <a:tcPr/>
                </a:tc>
                <a:tc>
                  <a:txBody>
                    <a:bodyPr/>
                    <a:lstStyle/>
                    <a:p>
                      <a:pPr lvl="0" indent="0" marL="0">
                        <a:buNone/>
                      </a:pPr>
                      <a:r>
                        <a:rPr/>
                        <a:t>Contexte</a:t>
                      </a:r>
                    </a:p>
                  </a:txBody>
                  <a:tcPr/>
                </a:tc>
                <a:tc>
                  <a:txBody>
                    <a:bodyPr/>
                    <a:lstStyle/>
                    <a:p>
                      <a:pPr lvl="0" indent="0" marL="0">
                        <a:buNone/>
                      </a:pPr>
                      <a:r>
                        <a:rPr/>
                        <a:t>~Équivalent</a:t>
                      </a:r>
                    </a:p>
                  </a:txBody>
                  <a:tcPr/>
                </a:tc>
              </a:tr>
              <a:tr h="0">
                <a:tc>
                  <a:txBody>
                    <a:bodyPr/>
                    <a:lstStyle/>
                    <a:p>
                      <a:pPr lvl="0" indent="0" marL="0">
                        <a:buNone/>
                      </a:pPr>
                      <a:r>
                        <a:rPr/>
                        <a:t>Haiku</a:t>
                      </a:r>
                    </a:p>
                  </a:txBody>
                </a:tc>
                <a:tc>
                  <a:txBody>
                    <a:bodyPr/>
                    <a:lstStyle/>
                    <a:p>
                      <a:pPr lvl="0" indent="0" marL="0">
                        <a:buNone/>
                      </a:pPr>
                      <a:r>
                        <a:rPr/>
                        <a:t>200K tokens</a:t>
                      </a:r>
                    </a:p>
                  </a:txBody>
                </a:tc>
                <a:tc>
                  <a:txBody>
                    <a:bodyPr/>
                    <a:lstStyle/>
                    <a:p>
                      <a:pPr lvl="0" indent="0" marL="0">
                        <a:buNone/>
                      </a:pPr>
                      <a:r>
                        <a:rPr/>
                        <a:t>~150K mots</a:t>
                      </a:r>
                    </a:p>
                  </a:txBody>
                </a:tc>
              </a:tr>
              <a:tr h="0">
                <a:tc>
                  <a:txBody>
                    <a:bodyPr/>
                    <a:lstStyle/>
                    <a:p>
                      <a:pPr lvl="0" indent="0" marL="0">
                        <a:buNone/>
                      </a:pPr>
                      <a:r>
                        <a:rPr/>
                        <a:t>Sonnet</a:t>
                      </a:r>
                    </a:p>
                  </a:txBody>
                </a:tc>
                <a:tc>
                  <a:txBody>
                    <a:bodyPr/>
                    <a:lstStyle/>
                    <a:p>
                      <a:pPr lvl="0" indent="0" marL="0">
                        <a:buNone/>
                      </a:pPr>
                      <a:r>
                        <a:rPr/>
                        <a:t>200K tokens</a:t>
                      </a:r>
                    </a:p>
                  </a:txBody>
                </a:tc>
                <a:tc>
                  <a:txBody>
                    <a:bodyPr/>
                    <a:lstStyle/>
                    <a:p>
                      <a:pPr lvl="0" indent="0" marL="0">
                        <a:buNone/>
                      </a:pPr>
                      <a:r>
                        <a:rPr/>
                        <a:t>~150K mots</a:t>
                      </a:r>
                    </a:p>
                  </a:txBody>
                </a:tc>
              </a:tr>
              <a:tr h="0">
                <a:tc>
                  <a:txBody>
                    <a:bodyPr/>
                    <a:lstStyle/>
                    <a:p>
                      <a:pPr lvl="0" indent="0" marL="0">
                        <a:buNone/>
                      </a:pPr>
                      <a:r>
                        <a:rPr/>
                        <a:t>Opus</a:t>
                      </a:r>
                    </a:p>
                  </a:txBody>
                </a:tc>
                <a:tc>
                  <a:txBody>
                    <a:bodyPr/>
                    <a:lstStyle/>
                    <a:p>
                      <a:pPr lvl="0" indent="0" marL="0">
                        <a:buNone/>
                      </a:pPr>
                      <a:r>
                        <a:rPr/>
                        <a:t>200K tokens</a:t>
                      </a:r>
                    </a:p>
                  </a:txBody>
                </a:tc>
                <a:tc>
                  <a:txBody>
                    <a:bodyPr/>
                    <a:lstStyle/>
                    <a:p>
                      <a:pPr lvl="0" indent="0" marL="0">
                        <a:buNone/>
                      </a:pPr>
                      <a:r>
                        <a:rPr/>
                        <a:t>~150K mots</a:t>
                      </a:r>
                    </a:p>
                  </a:txBody>
                </a:tc>
              </a:tr>
            </a:tbl>
          </a:graphicData>
        </a:graphic>
      </p:graphicFrame>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Ce qui consomme du contexte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Élément</a:t>
                      </a:r>
                    </a:p>
                  </a:txBody>
                  <a:tcPr/>
                </a:tc>
                <a:tc>
                  <a:txBody>
                    <a:bodyPr/>
                    <a:lstStyle/>
                    <a:p>
                      <a:pPr lvl="0" indent="0" marL="0">
                        <a:buNone/>
                      </a:pPr>
                      <a:r>
                        <a:rPr/>
                        <a:t>Consommation</a:t>
                      </a:r>
                    </a:p>
                  </a:txBody>
                  <a:tcPr/>
                </a:tc>
              </a:tr>
              <a:tr h="0">
                <a:tc>
                  <a:txBody>
                    <a:bodyPr/>
                    <a:lstStyle/>
                    <a:p>
                      <a:pPr lvl="0" indent="0" marL="0">
                        <a:buNone/>
                      </a:pPr>
                      <a:r>
                        <a:rPr/>
                        <a:t>CLAUDE.md</a:t>
                      </a:r>
                    </a:p>
                  </a:txBody>
                </a:tc>
                <a:tc>
                  <a:txBody>
                    <a:bodyPr/>
                    <a:lstStyle/>
                    <a:p>
                      <a:pPr lvl="0" indent="0" marL="0">
                        <a:buNone/>
                      </a:pPr>
                      <a:r>
                        <a:rPr/>
                        <a:t>Chargé en entier</a:t>
                      </a:r>
                    </a:p>
                  </a:txBody>
                </a:tc>
              </a:tr>
              <a:tr h="0">
                <a:tc>
                  <a:txBody>
                    <a:bodyPr/>
                    <a:lstStyle/>
                    <a:p>
                      <a:pPr lvl="0" indent="0" marL="0">
                        <a:buNone/>
                      </a:pPr>
                      <a:r>
                        <a:rPr/>
                        <a:t>Fichiers lus</a:t>
                      </a:r>
                    </a:p>
                  </a:txBody>
                </a:tc>
                <a:tc>
                  <a:txBody>
                    <a:bodyPr/>
                    <a:lstStyle/>
                    <a:p>
                      <a:pPr lvl="0" indent="0" marL="0">
                        <a:buNone/>
                      </a:pPr>
                      <a:r>
                        <a:rPr/>
                        <a:t>Contenu complet</a:t>
                      </a:r>
                    </a:p>
                  </a:txBody>
                </a:tc>
              </a:tr>
              <a:tr h="0">
                <a:tc>
                  <a:txBody>
                    <a:bodyPr/>
                    <a:lstStyle/>
                    <a:p>
                      <a:pPr lvl="0" indent="0" marL="0">
                        <a:buNone/>
                      </a:pPr>
                      <a:r>
                        <a:rPr/>
                        <a:t>Historique conversation</a:t>
                      </a:r>
                    </a:p>
                  </a:txBody>
                </a:tc>
                <a:tc>
                  <a:txBody>
                    <a:bodyPr/>
                    <a:lstStyle/>
                    <a:p>
                      <a:pPr lvl="0" indent="0" marL="0">
                        <a:buNone/>
                      </a:pPr>
                      <a:r>
                        <a:rPr/>
                        <a:t>Accumule</a:t>
                      </a:r>
                    </a:p>
                  </a:txBody>
                </a:tc>
              </a:tr>
              <a:tr h="0">
                <a:tc>
                  <a:txBody>
                    <a:bodyPr/>
                    <a:lstStyle/>
                    <a:p>
                      <a:pPr lvl="0" indent="0" marL="0">
                        <a:buNone/>
                      </a:pPr>
                      <a:r>
                        <a:rPr/>
                        <a:t>Résultats de commandes</a:t>
                      </a:r>
                    </a:p>
                  </a:txBody>
                </a:tc>
                <a:tc>
                  <a:txBody>
                    <a:bodyPr/>
                    <a:lstStyle/>
                    <a:p>
                      <a:pPr lvl="0" indent="0" marL="0">
                        <a:buNone/>
                      </a:pPr>
                      <a:r>
                        <a:rPr/>
                        <a:t>Variable</a:t>
                      </a:r>
                    </a:p>
                  </a:txBody>
                </a:tc>
              </a:tr>
              <a:tr h="0">
                <a:tc>
                  <a:txBody>
                    <a:bodyPr/>
                    <a:lstStyle/>
                    <a:p>
                      <a:pPr lvl="0" indent="0" marL="0">
                        <a:buNone/>
                      </a:pPr>
                      <a:r>
                        <a:rPr/>
                        <a:t>Outils appelés</a:t>
                      </a:r>
                    </a:p>
                  </a:txBody>
                </a:tc>
                <a:tc>
                  <a:txBody>
                    <a:bodyPr/>
                    <a:lstStyle/>
                    <a:p>
                      <a:pPr lvl="0" indent="0" marL="0">
                        <a:buNone/>
                      </a:pPr>
                      <a:r>
                        <a:rPr/>
                        <a:t>Paramètres + résultats</a:t>
                      </a:r>
                    </a:p>
                  </a:txBody>
                </a:tc>
              </a:tr>
            </a:tbl>
          </a:graphicData>
        </a:graphic>
      </p:graphicFrame>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Visualiser l’usage :</a:t>
            </a:r>
          </a:p>
          <a:p>
            <a:pPr lvl="0" indent="0">
              <a:buNone/>
            </a:pPr>
            <a:r>
              <a:rPr>
                <a:latin typeface="Courier"/>
              </a:rPr>
              <a:t>&gt; /context
Context usage: 45,230 / 200,000 tokens (23%)
Top consumers:
- Conversation history: 20,000 tokens
- src/api/users.go: 5,200 tokens
- CLAUDE.md: 3,000 tokens
- Tool results: 17,030 tokens</a:t>
            </a:r>
          </a:p>
          <a:p>
            <a:pPr lvl="0" indent="0" marL="0">
              <a:spcBef>
                <a:spcPts val="3000"/>
              </a:spcBef>
              <a:buNone/>
            </a:pPr>
            <a:r>
              <a:rPr b="1"/>
              <a:t>15.2 Stratégies de compaction</a:t>
            </a:r>
          </a:p>
          <a:p>
            <a:pPr lvl="0" indent="0" marL="0">
              <a:buNone/>
            </a:pPr>
            <a:r>
              <a:rPr b="1"/>
              <a:t>Compaction manuelle :</a:t>
            </a:r>
          </a:p>
          <a:p>
            <a:pPr lvl="0" indent="0">
              <a:buNone/>
            </a:pPr>
            <a:r>
              <a:rPr>
                <a:latin typeface="Courier"/>
              </a:rPr>
              <a:t>&gt; /compact
Compresse la conversation en gardant les points essentiels.</a:t>
            </a:r>
          </a:p>
          <a:p>
            <a:pPr lvl="0" indent="0" marL="0">
              <a:buNone/>
            </a:pPr>
            <a:r>
              <a:rPr b="1"/>
              <a:t>Compaction avec focus :</a:t>
            </a:r>
          </a:p>
          <a:p>
            <a:pPr lvl="0" indent="0">
              <a:buNone/>
            </a:pPr>
            <a:r>
              <a:rPr>
                <a:latin typeface="Courier"/>
              </a:rPr>
              <a:t>&gt; /compact focus on authentication implementation
Compresse en gardant spécifiquement le contexte d'auth.</a:t>
            </a:r>
          </a:p>
          <a:p>
            <a:pPr lvl="0" indent="0" marL="0">
              <a:buNone/>
            </a:pPr>
            <a:r>
              <a:rPr b="1"/>
              <a:t>Auto-compaction :</a:t>
            </a:r>
          </a:p>
          <a:p>
            <a:pPr lvl="0" indent="0" marL="0">
              <a:buNone/>
            </a:pPr>
            <a:r>
              <a:rPr/>
              <a:t>Claude Code compacte automatiquement quand le contexte atteint ~80%.</a:t>
            </a:r>
          </a:p>
          <a:p>
            <a:pPr lvl="0" indent="0" marL="0">
              <a:buNone/>
            </a:pPr>
            <a:r>
              <a:rPr b="1"/>
              <a:t>Configurer le seuil :</a:t>
            </a:r>
          </a:p>
          <a:p>
            <a:pPr lvl="0" indent="0">
              <a:buNone/>
            </a:pPr>
            <a:r>
              <a:rPr>
                <a:solidFill>
                  <a:srgbClr val="7F9F7F"/>
                </a:solidFill>
                <a:latin typeface="Courier"/>
              </a:rPr>
              <a:t># Dans votre shell ou settings.json</a:t>
            </a:r>
            <a:br/>
            <a:r>
              <a:rPr>
                <a:solidFill>
                  <a:srgbClr val="CCCCCC"/>
                </a:solidFill>
                <a:latin typeface="Courier"/>
              </a:rPr>
              <a:t>export CLAUDE_AUTOCOMPACT_PCT_OVERRIDE</a:t>
            </a:r>
            <a:r>
              <a:rPr>
                <a:solidFill>
                  <a:srgbClr val="F0EFD0"/>
                </a:solidFill>
                <a:latin typeface="Courier"/>
              </a:rPr>
              <a:t>=</a:t>
            </a:r>
            <a:r>
              <a:rPr>
                <a:solidFill>
                  <a:srgbClr val="CC9393"/>
                </a:solidFill>
                <a:latin typeface="Courier"/>
              </a:rPr>
              <a:t>"0.7"</a:t>
            </a:r>
            <a:r>
              <a:rPr>
                <a:solidFill>
                  <a:srgbClr val="CCCCCC"/>
                </a:solidFill>
                <a:latin typeface="Courier"/>
              </a:rPr>
              <a:t>  </a:t>
            </a:r>
            <a:r>
              <a:rPr>
                <a:solidFill>
                  <a:srgbClr val="7F9F7F"/>
                </a:solidFill>
                <a:latin typeface="Courier"/>
              </a:rPr>
              <a:t># 70%</a:t>
            </a:r>
          </a:p>
          <a:p>
            <a:pPr lvl="0" indent="0" marL="0">
              <a:buNone/>
            </a:pPr>
            <a:r>
              <a:rPr b="1"/>
              <a:t>Quand compacter manuellement :</a:t>
            </a:r>
            <a:r>
              <a:rPr/>
              <a:t> - Changement de sujet dans la même session - Après une longue exploration - Avant une tâche qui nécessitera beaucoup de fichiers</a:t>
            </a:r>
          </a:p>
          <a:p>
            <a:pPr lvl="0" indent="0" marL="0">
              <a:spcBef>
                <a:spcPts val="3000"/>
              </a:spcBef>
              <a:buNone/>
            </a:pPr>
            <a:r>
              <a:rPr b="1"/>
              <a:t>15.3 Optimiser l’utilisation du contexte</a:t>
            </a:r>
          </a:p>
          <a:p>
            <a:pPr lvl="0" indent="0" marL="0">
              <a:buNone/>
            </a:pPr>
            <a:r>
              <a:rPr b="1"/>
              <a:t>Éviter de charger des fichiers inutiles :</a:t>
            </a:r>
          </a:p>
          <a:p>
            <a:pPr lvl="0" indent="0">
              <a:buNone/>
            </a:pPr>
            <a:r>
              <a:rPr>
                <a:latin typeface="Courier"/>
              </a:rPr>
              <a:t># Mauvais : charge tout
&gt; Montre-moi tous les fichiers du projet
# Bon : charge uniquement ce qui est pertinent
&gt; Montre-moi la structure du dossier src/api/</a:t>
            </a:r>
          </a:p>
          <a:p>
            <a:pPr lvl="0" indent="0" marL="0">
              <a:buNone/>
            </a:pPr>
            <a:r>
              <a:rPr b="1"/>
              <a:t>Utiliser les bons patterns de recherche :</a:t>
            </a:r>
          </a:p>
          <a:p>
            <a:pPr lvl="0" indent="0">
              <a:buNone/>
            </a:pPr>
            <a:r>
              <a:rPr>
                <a:latin typeface="Courier"/>
              </a:rPr>
              <a:t># Mauvais : potentiellement beaucoup de résultats
&gt; Cherche "error" dans tout le projet
# Bon : ciblé
&gt; Cherche "error handling" dans src/api/*.go</a:t>
            </a:r>
          </a:p>
          <a:p>
            <a:pPr lvl="0" indent="0" marL="0">
              <a:buNone/>
            </a:pPr>
            <a:r>
              <a:rPr b="1"/>
              <a:t>Fermer et rouvrir pour les sessions longues :</a:t>
            </a:r>
          </a:p>
          <a:p>
            <a:pPr lvl="0" indent="0" marL="0">
              <a:buNone/>
            </a:pPr>
            <a:r>
              <a:rPr/>
              <a:t>Si vous travaillez depuis longtemps sur le même sujet, parfois il vaut mieux : 1. </a:t>
            </a:r>
            <a:r>
              <a:rPr>
                <a:latin typeface="Courier"/>
              </a:rPr>
              <a:t>/export</a:t>
            </a:r>
            <a:r>
              <a:rPr/>
              <a:t> la conversation 2. Fermer la session 3. Ouvrir une nouvelle session 4. Résumer ce qui a été fait</a:t>
            </a:r>
          </a:p>
          <a:p>
            <a:pPr lvl="0" indent="0" marL="0">
              <a:buNone/>
            </a:pPr>
            <a:r>
              <a:rPr b="1"/>
              <a:t>Déléguer aux subagents :</a:t>
            </a:r>
          </a:p>
          <a:p>
            <a:pPr lvl="0" indent="0" marL="0">
              <a:buNone/>
            </a:pPr>
            <a:r>
              <a:rPr/>
              <a:t>Les subagents ont leur propre contexte. Les opérations verbeuses (exploration, recherche large) sont mieux dans un subagent.</a:t>
            </a:r>
          </a:p>
          <a:p>
            <a:pPr lvl="0" indent="0">
              <a:buNone/>
            </a:pPr>
            <a:r>
              <a:rPr>
                <a:latin typeface="Courier"/>
              </a:rPr>
              <a:t>&gt; Explore ce projet et résume l'architecture
Le subagent Explore utilise son propre contexte.
Seul le résumé revient dans votre conversation.</a:t>
            </a:r>
          </a:p>
          <a:p>
            <a:pPr lvl="0" indent="0" marL="0">
              <a:spcBef>
                <a:spcPts val="3000"/>
              </a:spcBef>
              <a:buNone/>
            </a:pPr>
            <a:r>
              <a:rPr b="1"/>
              <a:t>15.4 Gérer les grands projets</a:t>
            </a:r>
          </a:p>
          <a:p>
            <a:pPr lvl="0" indent="0" marL="0">
              <a:buNone/>
            </a:pPr>
            <a:r>
              <a:rPr b="1"/>
              <a:t>Monorepos :</a:t>
            </a:r>
          </a:p>
          <a:p>
            <a:pPr lvl="0" indent="0">
              <a:buNone/>
            </a:pPr>
            <a:r>
              <a:rPr>
                <a:solidFill>
                  <a:srgbClr val="7F9F7F"/>
                </a:solidFill>
                <a:latin typeface="Courier"/>
              </a:rPr>
              <a:t># Ne pas charger tout le monorepo</a:t>
            </a:r>
            <a:br/>
            <a:r>
              <a:rPr>
                <a:solidFill>
                  <a:srgbClr val="CCCCCC"/>
                </a:solidFill>
                <a:latin typeface="Courier"/>
              </a:rPr>
              <a:t>cd packages/api</a:t>
            </a:r>
            <a:br/>
            <a:r>
              <a:rPr>
                <a:solidFill>
                  <a:srgbClr val="CCCCCC"/>
                </a:solidFill>
                <a:latin typeface="Courier"/>
              </a:rPr>
              <a:t>claude</a:t>
            </a:r>
            <a:br/>
            <a:br/>
            <a:r>
              <a:rPr>
                <a:solidFill>
                  <a:srgbClr val="7F9F7F"/>
                </a:solidFill>
                <a:latin typeface="Courier"/>
              </a:rPr>
              <a:t># Ajouter seulement ce qui est nécessaire</a:t>
            </a:r>
            <a:br/>
            <a:r>
              <a:rPr>
                <a:solidFill>
                  <a:srgbClr val="F0EFD0"/>
                </a:solidFill>
                <a:latin typeface="Courier"/>
              </a:rPr>
              <a:t>&gt;</a:t>
            </a:r>
            <a:r>
              <a:rPr>
                <a:solidFill>
                  <a:srgbClr val="CCCCCC"/>
                </a:solidFill>
                <a:latin typeface="Courier"/>
              </a:rPr>
              <a:t> /add-dir ../shared-types</a:t>
            </a:r>
          </a:p>
          <a:p>
            <a:pPr lvl="0" indent="0" marL="0">
              <a:buNone/>
            </a:pPr>
            <a:r>
              <a:rPr b="1"/>
              <a:t>Utiliser /add-dir stratégiquement :</a:t>
            </a:r>
          </a:p>
          <a:p>
            <a:pPr lvl="0" indent="0">
              <a:buNone/>
            </a:pPr>
            <a:r>
              <a:rPr>
                <a:latin typeface="Courier"/>
              </a:rPr>
              <a:t>&gt; /add-dir ../shared-types   # Oui : types partagés
&gt; /add-dir ../other-api      # Non : pas pertinent</a:t>
            </a:r>
          </a:p>
          <a:p>
            <a:pPr lvl="0" indent="0" marL="0">
              <a:buNone/>
            </a:pPr>
            <a:r>
              <a:rPr b="1"/>
              <a:t>CLAUDE.md par sous-projet :</a:t>
            </a:r>
          </a:p>
          <a:p>
            <a:pPr lvl="0" indent="0">
              <a:buNone/>
            </a:pPr>
            <a:r>
              <a:rPr>
                <a:latin typeface="Courier"/>
              </a:rPr>
              <a:t>monorepo/
├── CLAUDE.md                 # Contexte global monorepo
├── packages/
│   ├── api/
│   │   └── CLAUDE.md         # Spécifique à l'API
│   ├── web/
│   │   └── CLAUDE.md         # Spécifique au frontend
│   └── shared/
│       └── CLAUDE.md         # Spécifique aux types partagés</a:t>
            </a:r>
          </a:p>
          <a:p>
            <a:pPr lvl="0" indent="0" marL="0">
              <a:buNone/>
            </a:pPr>
            <a:r>
              <a:rPr b="1"/>
              <a:t>Exercice :</a:t>
            </a:r>
          </a:p>
          <a:p>
            <a:pPr lvl="0" indent="-342900" marL="342900">
              <a:buAutoNum type="arabicPeriod"/>
            </a:pPr>
            <a:r>
              <a:rPr/>
              <a:t>Utilisez </a:t>
            </a:r>
            <a:r>
              <a:rPr>
                <a:latin typeface="Courier"/>
              </a:rPr>
              <a:t>/context</a:t>
            </a:r>
            <a:r>
              <a:rPr/>
              <a:t> pour voir votre usage</a:t>
            </a:r>
          </a:p>
          <a:p>
            <a:pPr lvl="0" indent="-342900" marL="342900">
              <a:buAutoNum type="arabicPeriod"/>
            </a:pPr>
            <a:r>
              <a:rPr/>
              <a:t>Faites une session avec beaucoup de fichiers</a:t>
            </a:r>
          </a:p>
          <a:p>
            <a:pPr lvl="0" indent="-342900" marL="342900">
              <a:buAutoNum type="arabicPeriod"/>
            </a:pPr>
            <a:r>
              <a:rPr/>
              <a:t>Utilisez </a:t>
            </a:r>
            <a:r>
              <a:rPr>
                <a:latin typeface="Courier"/>
              </a:rPr>
              <a:t>/compact</a:t>
            </a:r>
            <a:r>
              <a:rPr/>
              <a:t> pour réduire</a:t>
            </a:r>
          </a:p>
          <a:p>
            <a:pPr lvl="0" indent="-342900" marL="342900">
              <a:buAutoNum type="arabicPeriod"/>
            </a:pPr>
            <a:r>
              <a:rPr/>
              <a:t>Comparez avant/après avec </a:t>
            </a:r>
            <a:r>
              <a:rPr>
                <a:latin typeface="Courier"/>
              </a:rPr>
              <a:t>/context</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Module 16 : Permissions et Sécurité (45 min)</a:t>
            </a:r>
          </a:p>
          <a:p>
            <a:pPr lvl="0" indent="0" marL="0">
              <a:buNone/>
            </a:pPr>
            <a:r>
              <a:rPr b="1"/>
              <a:t>Objectif pédagogique</a:t>
            </a:r>
            <a:r>
              <a:rPr/>
              <a:t> : À l’issue de ce module, l’apprenant sera capable de choisir le mode de permission adapté (default, plan, acceptEdits, bypassPermissions), de configurer des règles allow/deny/ask granulaires, et d’implémenter les bonnes pratiques de sécurité.</a:t>
            </a:r>
          </a:p>
          <a:p>
            <a:pPr lvl="0" indent="0" marL="0">
              <a:spcBef>
                <a:spcPts val="3000"/>
              </a:spcBef>
              <a:buNone/>
            </a:pPr>
            <a:r>
              <a:rPr b="1"/>
              <a:t>16.1 Modes de permission</a:t>
            </a:r>
          </a:p>
          <a:p>
            <a:pPr lvl="0" indent="0" marL="0">
              <a:buNone/>
            </a:pPr>
            <a:r>
              <a:rPr/>
              <a:t>Claude Code offre plusieurs niveaux de contrôle sur ce qu’il peut faire.</a:t>
            </a:r>
          </a:p>
          <a:p>
            <a:pPr lvl="0" indent="0" marL="0">
              <a:buNone/>
            </a:pPr>
            <a:r>
              <a:rPr b="1"/>
              <a:t>Default : Confirmation pour chaque action</a:t>
            </a:r>
          </a:p>
          <a:p>
            <a:pPr lvl="0" indent="0">
              <a:buNone/>
            </a:pPr>
            <a:r>
              <a:rPr>
                <a:latin typeface="Courier"/>
              </a:rPr>
              <a:t>Claude wants to edit: src/api/users.go
[A]ccept [R]eject [E]dit [Always]
Claude wants to run: npm test
[A]ccept [R]eject [E]dit [Always]</a:t>
            </a:r>
          </a:p>
          <a:p>
            <a:pPr lvl="0" indent="0" marL="0">
              <a:buNone/>
            </a:pPr>
            <a:r>
              <a:rPr/>
              <a:t>C’est le mode le plus sûr pour les débutants.</a:t>
            </a:r>
          </a:p>
          <a:p>
            <a:pPr lvl="0" indent="0" marL="0">
              <a:buNone/>
            </a:pPr>
            <a:r>
              <a:rPr b="1"/>
              <a:t>Plan Mode : Affiche sans exécuter</a:t>
            </a:r>
          </a:p>
          <a:p>
            <a:pPr lvl="0" indent="0">
              <a:buNone/>
            </a:pPr>
            <a:r>
              <a:rPr>
                <a:solidFill>
                  <a:srgbClr val="CCCCCC"/>
                </a:solidFill>
                <a:latin typeface="Courier"/>
              </a:rPr>
              <a:t>claude --permission-mode plan</a:t>
            </a:r>
          </a:p>
          <a:p>
            <a:pPr lvl="0" indent="0" marL="0">
              <a:buNone/>
            </a:pPr>
            <a:r>
              <a:rPr/>
              <a:t>Claude va : - Analyser et planifier - Montrer ce qu’il ferait - Ne rien exécuter - Attendre votre validation explicite</a:t>
            </a:r>
          </a:p>
          <a:p>
            <a:pPr lvl="0" indent="0" marL="0">
              <a:buNone/>
            </a:pPr>
            <a:r>
              <a:rPr/>
              <a:t>Idéal pour : comprendre avant d’agir, review de plan.</a:t>
            </a:r>
          </a:p>
          <a:p>
            <a:pPr lvl="0" indent="0" marL="0">
              <a:buNone/>
            </a:pPr>
            <a:r>
              <a:rPr b="1"/>
              <a:t>Accept Edits : Auto-accepte les fichiers</a:t>
            </a:r>
          </a:p>
          <a:p>
            <a:pPr lvl="0" indent="0">
              <a:buNone/>
            </a:pPr>
            <a:r>
              <a:rPr>
                <a:solidFill>
                  <a:srgbClr val="CCCCCC"/>
                </a:solidFill>
                <a:latin typeface="Courier"/>
              </a:rPr>
              <a:t>claude --permission-mode acceptEdits</a:t>
            </a:r>
          </a:p>
          <a:p>
            <a:pPr lvl="0"/>
            <a:r>
              <a:rPr/>
              <a:t>Modifications de fichiers : automatiques</a:t>
            </a:r>
          </a:p>
          <a:p>
            <a:pPr lvl="0"/>
            <a:r>
              <a:rPr/>
              <a:t>Commandes shell : demandent confirmation</a:t>
            </a:r>
          </a:p>
          <a:p>
            <a:pPr lvl="0"/>
            <a:r>
              <a:rPr/>
              <a:t>Bon équilibre confiance/sécurité</a:t>
            </a:r>
          </a:p>
          <a:p>
            <a:pPr lvl="0" indent="0" marL="0">
              <a:buNone/>
            </a:pPr>
            <a:r>
              <a:rPr b="1"/>
              <a:t>Bypass : Aucune confirmation</a:t>
            </a:r>
          </a:p>
          <a:p>
            <a:pPr lvl="0" indent="0">
              <a:buNone/>
            </a:pPr>
            <a:r>
              <a:rPr>
                <a:solidFill>
                  <a:srgbClr val="CCCCCC"/>
                </a:solidFill>
                <a:latin typeface="Courier"/>
              </a:rPr>
              <a:t>claude --permission-mode bypass</a:t>
            </a:r>
          </a:p>
          <a:p>
            <a:pPr lvl="0" indent="0" marL="0">
              <a:buNone/>
            </a:pPr>
            <a:r>
              <a:rPr b="1"/>
              <a:t>Attention : Dangereux</a:t>
            </a:r>
            <a:r>
              <a:rPr/>
              <a:t> - N’utilisez que pour : - Scripts automatisés contrôlés - Environnements sandboxés - CI/CD avec limites strictes</a:t>
            </a:r>
          </a:p>
          <a:p>
            <a:pPr lvl="0" indent="0" marL="0">
              <a:spcBef>
                <a:spcPts val="3000"/>
              </a:spcBef>
              <a:buNone/>
            </a:pPr>
            <a:r>
              <a:rPr b="1"/>
              <a:t>16.2 Règles de permission granulaires</a:t>
            </a:r>
          </a:p>
          <a:p>
            <a:pPr lvl="0" indent="0" marL="0">
              <a:buNone/>
            </a:pPr>
            <a:r>
              <a:rPr b="1"/>
              <a:t>Syntaxe des règles :</a:t>
            </a:r>
          </a:p>
          <a:p>
            <a:pPr lvl="0" indent="0">
              <a:buNone/>
            </a:pPr>
            <a:r>
              <a:rPr>
                <a:latin typeface="Courier"/>
              </a:rPr>
              <a:t>Tool(pattern)</a:t>
            </a:r>
          </a:p>
          <a:p>
            <a:pPr lvl="0" indent="0" marL="0">
              <a:buNone/>
            </a:pPr>
            <a:r>
              <a:rPr b="1"/>
              <a:t>Exemples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Règle</a:t>
                      </a:r>
                    </a:p>
                  </a:txBody>
                  <a:tcPr/>
                </a:tc>
                <a:tc>
                  <a:txBody>
                    <a:bodyPr/>
                    <a:lstStyle/>
                    <a:p>
                      <a:pPr lvl="0" indent="0" marL="0">
                        <a:buNone/>
                      </a:pPr>
                      <a:r>
                        <a:rPr/>
                        <a:t>Signification</a:t>
                      </a:r>
                    </a:p>
                  </a:txBody>
                  <a:tcPr/>
                </a:tc>
              </a:tr>
              <a:tr h="0">
                <a:tc>
                  <a:txBody>
                    <a:bodyPr/>
                    <a:lstStyle/>
                    <a:p>
                      <a:pPr lvl="0" indent="0" marL="0">
                        <a:buNone/>
                      </a:pPr>
                      <a:r>
                        <a:rPr>
                          <a:latin typeface="Courier"/>
                        </a:rPr>
                        <a:t>Bash(npm run *)</a:t>
                      </a:r>
                    </a:p>
                  </a:txBody>
                </a:tc>
                <a:tc>
                  <a:txBody>
                    <a:bodyPr/>
                    <a:lstStyle/>
                    <a:p>
                      <a:pPr lvl="0" indent="0" marL="0">
                        <a:buNone/>
                      </a:pPr>
                      <a:r>
                        <a:rPr/>
                        <a:t>Toutes les commandes npm run</a:t>
                      </a:r>
                    </a:p>
                  </a:txBody>
                </a:tc>
              </a:tr>
              <a:tr h="0">
                <a:tc>
                  <a:txBody>
                    <a:bodyPr/>
                    <a:lstStyle/>
                    <a:p>
                      <a:pPr lvl="0" indent="0" marL="0">
                        <a:buNone/>
                      </a:pPr>
                      <a:r>
                        <a:rPr>
                          <a:latin typeface="Courier"/>
                        </a:rPr>
                        <a:t>Bash(go test ./...)</a:t>
                      </a:r>
                    </a:p>
                  </a:txBody>
                </a:tc>
                <a:tc>
                  <a:txBody>
                    <a:bodyPr/>
                    <a:lstStyle/>
                    <a:p>
                      <a:pPr lvl="0" indent="0" marL="0">
                        <a:buNone/>
                      </a:pPr>
                      <a:r>
                        <a:rPr/>
                        <a:t>Tests Go uniquement</a:t>
                      </a:r>
                    </a:p>
                  </a:txBody>
                </a:tc>
              </a:tr>
              <a:tr h="0">
                <a:tc>
                  <a:txBody>
                    <a:bodyPr/>
                    <a:lstStyle/>
                    <a:p>
                      <a:pPr lvl="0" indent="0" marL="0">
                        <a:buNone/>
                      </a:pPr>
                      <a:r>
                        <a:rPr>
                          <a:latin typeface="Courier"/>
                        </a:rPr>
                        <a:t>Read(src/**)</a:t>
                      </a:r>
                    </a:p>
                  </a:txBody>
                </a:tc>
                <a:tc>
                  <a:txBody>
                    <a:bodyPr/>
                    <a:lstStyle/>
                    <a:p>
                      <a:pPr lvl="0" indent="0" marL="0">
                        <a:buNone/>
                      </a:pPr>
                      <a:r>
                        <a:rPr/>
                        <a:t>Lecture dans src/</a:t>
                      </a:r>
                    </a:p>
                  </a:txBody>
                </a:tc>
              </a:tr>
              <a:tr h="0">
                <a:tc>
                  <a:txBody>
                    <a:bodyPr/>
                    <a:lstStyle/>
                    <a:p>
                      <a:pPr lvl="0" indent="0" marL="0">
                        <a:buNone/>
                      </a:pPr>
                      <a:r>
                        <a:rPr>
                          <a:latin typeface="Courier"/>
                        </a:rPr>
                        <a:t>Edit(*.test.ts)</a:t>
                      </a:r>
                    </a:p>
                  </a:txBody>
                </a:tc>
                <a:tc>
                  <a:txBody>
                    <a:bodyPr/>
                    <a:lstStyle/>
                    <a:p>
                      <a:pPr lvl="0" indent="0" marL="0">
                        <a:buNone/>
                      </a:pPr>
                      <a:r>
                        <a:rPr/>
                        <a:t>Édition des fichiers de test</a:t>
                      </a:r>
                    </a:p>
                  </a:txBody>
                </a:tc>
              </a:tr>
              <a:tr h="0">
                <a:tc>
                  <a:txBody>
                    <a:bodyPr/>
                    <a:lstStyle/>
                    <a:p>
                      <a:pPr lvl="0" indent="0" marL="0">
                        <a:buNone/>
                      </a:pPr>
                      <a:r>
                        <a:rPr>
                          <a:latin typeface="Courier"/>
                        </a:rPr>
                        <a:t>Write(*.md)</a:t>
                      </a:r>
                    </a:p>
                  </a:txBody>
                </a:tc>
                <a:tc>
                  <a:txBody>
                    <a:bodyPr/>
                    <a:lstStyle/>
                    <a:p>
                      <a:pPr lvl="0" indent="0" marL="0">
                        <a:buNone/>
                      </a:pPr>
                      <a:r>
                        <a:rPr/>
                        <a:t>Création de fichiers markdown</a:t>
                      </a:r>
                    </a:p>
                  </a:txBody>
                </a:tc>
              </a:tr>
            </a:tbl>
          </a:graphicData>
        </a:graphic>
      </p:graphicFrame>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Configuration dans settings.json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"permissions"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"allow"</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CC9393"/>
                </a:solidFill>
                <a:latin typeface="Courier"/>
              </a:rPr>
              <a:t>"Read(*)"</a:t>
            </a:r>
            <a:r>
              <a:rPr>
                <a:solidFill>
                  <a:srgbClr val="EFEF8F"/>
                </a:solidFill>
                <a:latin typeface="Courier"/>
              </a:rPr>
              <a:t>,</a:t>
            </a:r>
            <a:br/>
            <a:r>
              <a:rPr>
                <a:solidFill>
                  <a:srgbClr val="CCCCCC"/>
                </a:solidFill>
                <a:latin typeface="Courier"/>
              </a:rPr>
              <a:t>      </a:t>
            </a:r>
            <a:r>
              <a:rPr>
                <a:solidFill>
                  <a:srgbClr val="CC9393"/>
                </a:solidFill>
                <a:latin typeface="Courier"/>
              </a:rPr>
              <a:t>"Bash(npm run *)"</a:t>
            </a:r>
            <a:r>
              <a:rPr>
                <a:solidFill>
                  <a:srgbClr val="EFEF8F"/>
                </a:solidFill>
                <a:latin typeface="Courier"/>
              </a:rPr>
              <a:t>,</a:t>
            </a:r>
            <a:br/>
            <a:r>
              <a:rPr>
                <a:solidFill>
                  <a:srgbClr val="CCCCCC"/>
                </a:solidFill>
                <a:latin typeface="Courier"/>
              </a:rPr>
              <a:t>      </a:t>
            </a:r>
            <a:r>
              <a:rPr>
                <a:solidFill>
                  <a:srgbClr val="CC9393"/>
                </a:solidFill>
                <a:latin typeface="Courier"/>
              </a:rPr>
              <a:t>"Bash(go test *)"</a:t>
            </a:r>
            <a:r>
              <a:rPr>
                <a:solidFill>
                  <a:srgbClr val="EFEF8F"/>
                </a:solidFill>
                <a:latin typeface="Courier"/>
              </a:rPr>
              <a:t>,</a:t>
            </a:r>
            <a:br/>
            <a:r>
              <a:rPr>
                <a:solidFill>
                  <a:srgbClr val="CCCCCC"/>
                </a:solidFill>
                <a:latin typeface="Courier"/>
              </a:rPr>
              <a:t>      </a:t>
            </a:r>
            <a:r>
              <a:rPr>
                <a:solidFill>
                  <a:srgbClr val="CC9393"/>
                </a:solidFill>
                <a:latin typeface="Courier"/>
              </a:rPr>
              <a:t>"Bash(make *)"</a:t>
            </a:r>
            <a:r>
              <a:rPr>
                <a:solidFill>
                  <a:srgbClr val="EFEF8F"/>
                </a:solidFill>
                <a:latin typeface="Courier"/>
              </a:rPr>
              <a:t>,</a:t>
            </a:r>
            <a:br/>
            <a:r>
              <a:rPr>
                <a:solidFill>
                  <a:srgbClr val="CCCCCC"/>
                </a:solidFill>
                <a:latin typeface="Courier"/>
              </a:rPr>
              <a:t>      </a:t>
            </a:r>
            <a:r>
              <a:rPr>
                <a:solidFill>
                  <a:srgbClr val="CC9393"/>
                </a:solidFill>
                <a:latin typeface="Courier"/>
              </a:rPr>
              <a:t>"Edit(src/**)"</a:t>
            </a:r>
            <a:r>
              <a:rPr>
                <a:solidFill>
                  <a:srgbClr val="EFEF8F"/>
                </a:solidFill>
                <a:latin typeface="Courier"/>
              </a:rPr>
              <a:t>,</a:t>
            </a:r>
            <a:br/>
            <a:r>
              <a:rPr>
                <a:solidFill>
                  <a:srgbClr val="CCCCCC"/>
                </a:solidFill>
                <a:latin typeface="Courier"/>
              </a:rPr>
              <a:t>      </a:t>
            </a:r>
            <a:r>
              <a:rPr>
                <a:solidFill>
                  <a:srgbClr val="CC9393"/>
                </a:solidFill>
                <a:latin typeface="Courier"/>
              </a:rPr>
              <a:t>"Edit(tests/**)"</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"deny"</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CC9393"/>
                </a:solidFill>
                <a:latin typeface="Courier"/>
              </a:rPr>
              <a:t>"Bash(rm -rf *)"</a:t>
            </a:r>
            <a:r>
              <a:rPr>
                <a:solidFill>
                  <a:srgbClr val="EFEF8F"/>
                </a:solidFill>
                <a:latin typeface="Courier"/>
              </a:rPr>
              <a:t>,</a:t>
            </a:r>
            <a:br/>
            <a:r>
              <a:rPr>
                <a:solidFill>
                  <a:srgbClr val="CCCCCC"/>
                </a:solidFill>
                <a:latin typeface="Courier"/>
              </a:rPr>
              <a:t>      </a:t>
            </a:r>
            <a:r>
              <a:rPr>
                <a:solidFill>
                  <a:srgbClr val="CC9393"/>
                </a:solidFill>
                <a:latin typeface="Courier"/>
              </a:rPr>
              <a:t>"Bash(sudo *)"</a:t>
            </a:r>
            <a:r>
              <a:rPr>
                <a:solidFill>
                  <a:srgbClr val="EFEF8F"/>
                </a:solidFill>
                <a:latin typeface="Courier"/>
              </a:rPr>
              <a:t>,</a:t>
            </a:r>
            <a:br/>
            <a:r>
              <a:rPr>
                <a:solidFill>
                  <a:srgbClr val="CCCCCC"/>
                </a:solidFill>
                <a:latin typeface="Courier"/>
              </a:rPr>
              <a:t>      </a:t>
            </a:r>
            <a:r>
              <a:rPr>
                <a:solidFill>
                  <a:srgbClr val="CC9393"/>
                </a:solidFill>
                <a:latin typeface="Courier"/>
              </a:rPr>
              <a:t>"Write(.env*)"</a:t>
            </a:r>
            <a:r>
              <a:rPr>
                <a:solidFill>
                  <a:srgbClr val="EFEF8F"/>
                </a:solidFill>
                <a:latin typeface="Courier"/>
              </a:rPr>
              <a:t>,</a:t>
            </a:r>
            <a:br/>
            <a:r>
              <a:rPr>
                <a:solidFill>
                  <a:srgbClr val="CCCCCC"/>
                </a:solidFill>
                <a:latin typeface="Courier"/>
              </a:rPr>
              <a:t>      </a:t>
            </a:r>
            <a:r>
              <a:rPr>
                <a:solidFill>
                  <a:srgbClr val="CC9393"/>
                </a:solidFill>
                <a:latin typeface="Courier"/>
              </a:rPr>
              <a:t>"Edit(*.key)"</a:t>
            </a:r>
            <a:r>
              <a:rPr>
                <a:solidFill>
                  <a:srgbClr val="EFEF8F"/>
                </a:solidFill>
                <a:latin typeface="Courier"/>
              </a:rPr>
              <a:t>,</a:t>
            </a:r>
            <a:br/>
            <a:r>
              <a:rPr>
                <a:solidFill>
                  <a:srgbClr val="CCCCCC"/>
                </a:solidFill>
                <a:latin typeface="Courier"/>
              </a:rPr>
              <a:t>      </a:t>
            </a:r>
            <a:r>
              <a:rPr>
                <a:solidFill>
                  <a:srgbClr val="CC9393"/>
                </a:solidFill>
                <a:latin typeface="Courier"/>
              </a:rPr>
              <a:t>"Bash(curl * | sh)"</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"ask"</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CC9393"/>
                </a:solidFill>
                <a:latin typeface="Courier"/>
              </a:rPr>
              <a:t>"Bash(git push *)"</a:t>
            </a:r>
            <a:r>
              <a:rPr>
                <a:solidFill>
                  <a:srgbClr val="EFEF8F"/>
                </a:solidFill>
                <a:latin typeface="Courier"/>
              </a:rPr>
              <a:t>,</a:t>
            </a:r>
            <a:br/>
            <a:r>
              <a:rPr>
                <a:solidFill>
                  <a:srgbClr val="CCCCCC"/>
                </a:solidFill>
                <a:latin typeface="Courier"/>
              </a:rPr>
              <a:t>      </a:t>
            </a:r>
            <a:r>
              <a:rPr>
                <a:solidFill>
                  <a:srgbClr val="CC9393"/>
                </a:solidFill>
                <a:latin typeface="Courier"/>
              </a:rPr>
              <a:t>"Bash(npm publish)"</a:t>
            </a:r>
            <a:r>
              <a:rPr>
                <a:solidFill>
                  <a:srgbClr val="EFEF8F"/>
                </a:solidFill>
                <a:latin typeface="Courier"/>
              </a:rPr>
              <a:t>,</a:t>
            </a:r>
            <a:br/>
            <a:r>
              <a:rPr>
                <a:solidFill>
                  <a:srgbClr val="CCCCCC"/>
                </a:solidFill>
                <a:latin typeface="Courier"/>
              </a:rPr>
              <a:t>      </a:t>
            </a:r>
            <a:r>
              <a:rPr>
                <a:solidFill>
                  <a:srgbClr val="CC9393"/>
                </a:solidFill>
                <a:latin typeface="Courier"/>
              </a:rPr>
              <a:t>"Write(migrations/*)"</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buNone/>
            </a:pPr>
            <a:r>
              <a:rPr b="1"/>
              <a:t>Patterns avancés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"permissions"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"allow"</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CC9393"/>
                </a:solidFill>
                <a:latin typeface="Courier"/>
              </a:rPr>
              <a:t>"Bash(docker-compose up *)"</a:t>
            </a:r>
            <a:r>
              <a:rPr>
                <a:solidFill>
                  <a:srgbClr val="EFEF8F"/>
                </a:solidFill>
                <a:latin typeface="Courier"/>
              </a:rPr>
              <a:t>,</a:t>
            </a:r>
            <a:br/>
            <a:r>
              <a:rPr>
                <a:solidFill>
                  <a:srgbClr val="CCCCCC"/>
                </a:solidFill>
                <a:latin typeface="Courier"/>
              </a:rPr>
              <a:t>      </a:t>
            </a:r>
            <a:r>
              <a:rPr>
                <a:solidFill>
                  <a:srgbClr val="CC9393"/>
                </a:solidFill>
                <a:latin typeface="Courier"/>
              </a:rPr>
              <a:t>"Bash(docker-compose down)"</a:t>
            </a:r>
            <a:r>
              <a:rPr>
                <a:solidFill>
                  <a:srgbClr val="EFEF8F"/>
                </a:solidFill>
                <a:latin typeface="Courier"/>
              </a:rPr>
              <a:t>,</a:t>
            </a:r>
            <a:br/>
            <a:r>
              <a:rPr>
                <a:solidFill>
                  <a:srgbClr val="CCCCCC"/>
                </a:solidFill>
                <a:latin typeface="Courier"/>
              </a:rPr>
              <a:t>      </a:t>
            </a:r>
            <a:r>
              <a:rPr>
                <a:solidFill>
                  <a:srgbClr val="CC9393"/>
                </a:solidFill>
                <a:latin typeface="Courier"/>
              </a:rPr>
              <a:t>"Edit(src/**/*.{ts,tsx})"</a:t>
            </a:r>
            <a:r>
              <a:rPr>
                <a:solidFill>
                  <a:srgbClr val="EFEF8F"/>
                </a:solidFill>
                <a:latin typeface="Courier"/>
              </a:rPr>
              <a:t>,</a:t>
            </a:r>
            <a:br/>
            <a:r>
              <a:rPr>
                <a:solidFill>
                  <a:srgbClr val="CCCCCC"/>
                </a:solidFill>
                <a:latin typeface="Courier"/>
              </a:rPr>
              <a:t>      </a:t>
            </a:r>
            <a:r>
              <a:rPr>
                <a:solidFill>
                  <a:srgbClr val="CC9393"/>
                </a:solidFill>
                <a:latin typeface="Courier"/>
              </a:rPr>
              <a:t>"Read(**/*.{go,ts,md})"</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spcBef>
                <a:spcPts val="3000"/>
              </a:spcBef>
              <a:buNone/>
            </a:pPr>
            <a:r>
              <a:rPr b="1"/>
              <a:t>16.3 Sandboxing</a:t>
            </a:r>
          </a:p>
          <a:p>
            <a:pPr lvl="0" indent="0" marL="0">
              <a:buNone/>
            </a:pPr>
            <a:r>
              <a:rPr b="1"/>
              <a:t>Isolation du filesystem :</a:t>
            </a:r>
          </a:p>
          <a:p>
            <a:pPr lvl="0" indent="0" marL="0">
              <a:buNone/>
            </a:pPr>
            <a:r>
              <a:rPr/>
              <a:t>Par défaut, Claude Code ne peut accéder qu’au : - Dossier de travail actuel - Dossiers ajoutés avec </a:t>
            </a:r>
            <a:r>
              <a:rPr>
                <a:latin typeface="Courier"/>
              </a:rPr>
              <a:t>--add-dir</a:t>
            </a:r>
          </a:p>
          <a:p>
            <a:pPr lvl="0" indent="0" marL="0">
              <a:buNone/>
            </a:pPr>
            <a:r>
              <a:rPr b="1"/>
              <a:t>Isolation réseau :</a:t>
            </a:r>
          </a:p>
          <a:p>
            <a:pPr lvl="0" indent="0" marL="0">
              <a:buNone/>
            </a:pPr>
            <a:r>
              <a:rPr/>
              <a:t>Claude Code ne peut pas : - Ouvrir des connexions arbitraires - Exécuter des serveurs écoutant sur des ports - Accéder à des APIs sans votre permission</a:t>
            </a:r>
          </a:p>
          <a:p>
            <a:pPr lvl="0" indent="0" marL="0">
              <a:buNone/>
            </a:pPr>
            <a:r>
              <a:rPr b="1"/>
              <a:t>Protection contre l’injection de prompts :</a:t>
            </a:r>
          </a:p>
          <a:p>
            <a:pPr lvl="0" indent="0" marL="0">
              <a:buNone/>
            </a:pPr>
            <a:r>
              <a:rPr/>
              <a:t>Claude Code détecte et refuse les tentatives d’injection dans : - Contenu de fichiers lus - Résultats de commandes - Réponses d’APIs</a:t>
            </a:r>
          </a:p>
          <a:p>
            <a:pPr lvl="0" indent="0" marL="0">
              <a:buNone/>
            </a:pPr>
            <a:r>
              <a:rPr b="1"/>
              <a:t>Configuration du sandbox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"sandbox"</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"allowedPaths"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CC9393"/>
                </a:solidFill>
                <a:latin typeface="Courier"/>
              </a:rPr>
              <a:t>"/home/user/projects"</a:t>
            </a:r>
            <a:r>
              <a:rPr>
                <a:solidFill>
                  <a:srgbClr val="EFEF8F"/>
                </a:solidFill>
                <a:latin typeface="Courier"/>
              </a:rPr>
              <a:t>,</a:t>
            </a:r>
            <a:br/>
            <a:r>
              <a:rPr>
                <a:solidFill>
                  <a:srgbClr val="CCCCCC"/>
                </a:solidFill>
                <a:latin typeface="Courier"/>
              </a:rPr>
              <a:t>      </a:t>
            </a:r>
            <a:r>
              <a:rPr>
                <a:solidFill>
                  <a:srgbClr val="CC9393"/>
                </a:solidFill>
                <a:latin typeface="Courier"/>
              </a:rPr>
              <a:t>"/tmp"</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"deniedPaths"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CC9393"/>
                </a:solidFill>
                <a:latin typeface="Courier"/>
              </a:rPr>
              <a:t>"/etc"</a:t>
            </a:r>
            <a:r>
              <a:rPr>
                <a:solidFill>
                  <a:srgbClr val="EFEF8F"/>
                </a:solidFill>
                <a:latin typeface="Courier"/>
              </a:rPr>
              <a:t>,</a:t>
            </a:r>
            <a:br/>
            <a:r>
              <a:rPr>
                <a:solidFill>
                  <a:srgbClr val="CCCCCC"/>
                </a:solidFill>
                <a:latin typeface="Courier"/>
              </a:rPr>
              <a:t>      </a:t>
            </a:r>
            <a:r>
              <a:rPr>
                <a:solidFill>
                  <a:srgbClr val="CC9393"/>
                </a:solidFill>
                <a:latin typeface="Courier"/>
              </a:rPr>
              <a:t>"/var"</a:t>
            </a:r>
            <a:r>
              <a:rPr>
                <a:solidFill>
                  <a:srgbClr val="EFEF8F"/>
                </a:solidFill>
                <a:latin typeface="Courier"/>
              </a:rPr>
              <a:t>,</a:t>
            </a:r>
            <a:br/>
            <a:r>
              <a:rPr>
                <a:solidFill>
                  <a:srgbClr val="CCCCCC"/>
                </a:solidFill>
                <a:latin typeface="Courier"/>
              </a:rPr>
              <a:t>      </a:t>
            </a:r>
            <a:r>
              <a:rPr>
                <a:solidFill>
                  <a:srgbClr val="CC9393"/>
                </a:solidFill>
                <a:latin typeface="Courier"/>
              </a:rPr>
              <a:t>"~/.ssh"</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"networkAccess"</a:t>
            </a:r>
            <a:r>
              <a:rPr>
                <a:solidFill>
                  <a:srgbClr val="EFEF8F"/>
                </a:solidFill>
                <a:latin typeface="Courier"/>
              </a:rPr>
              <a:t>:</a:t>
            </a:r>
            <a:r>
              <a:rPr>
                <a:solidFill>
                  <a:srgbClr val="CCCCCC"/>
                </a:solidFill>
                <a:latin typeface="Courier"/>
              </a:rPr>
              <a:t> </a:t>
            </a:r>
            <a:r>
              <a:rPr>
                <a:solidFill>
                  <a:srgbClr val="CC9393"/>
                </a:solidFill>
                <a:latin typeface="Courier"/>
              </a:rPr>
              <a:t>"restricted"</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spcBef>
                <a:spcPts val="3000"/>
              </a:spcBef>
              <a:buNone/>
            </a:pPr>
            <a:r>
              <a:rPr b="1"/>
              <a:t>16.4 Sécurité en équipe</a:t>
            </a:r>
          </a:p>
          <a:p>
            <a:pPr lvl="0" indent="0" marL="0">
              <a:buNone/>
            </a:pPr>
            <a:r>
              <a:rPr b="1"/>
              <a:t>Managed Settings (Entreprise) :</a:t>
            </a:r>
          </a:p>
          <a:p>
            <a:pPr lvl="0" indent="0" marL="0">
              <a:buNone/>
            </a:pPr>
            <a:r>
              <a:rPr/>
              <a:t>L’IT peut déployer un fichier </a:t>
            </a:r>
            <a:r>
              <a:rPr>
                <a:latin typeface="Courier"/>
              </a:rPr>
              <a:t>managed-settings.json</a:t>
            </a:r>
            <a:r>
              <a:rPr/>
              <a:t> :</a:t>
            </a:r>
          </a:p>
          <a:p>
            <a:pPr lvl="0" indent="0" marL="0">
              <a:buNone/>
            </a:pPr>
            <a:r>
              <a:rPr b="1"/>
              <a:t>macOS :</a:t>
            </a:r>
            <a:r>
              <a:rPr/>
              <a:t> </a:t>
            </a:r>
            <a:r>
              <a:rPr>
                <a:latin typeface="Courier"/>
              </a:rPr>
              <a:t>/Library/Application Support/ClaudeCode/managed-settings.json</a:t>
            </a:r>
            <a:r>
              <a:rPr/>
              <a:t> </a:t>
            </a:r>
            <a:r>
              <a:rPr b="1"/>
              <a:t>Linux :</a:t>
            </a:r>
            <a:r>
              <a:rPr/>
              <a:t> </a:t>
            </a:r>
            <a:r>
              <a:rPr>
                <a:latin typeface="Courier"/>
              </a:rPr>
              <a:t>/etc/claude-code/managed-settings.json</a:t>
            </a:r>
            <a:r>
              <a:rPr/>
              <a:t> </a:t>
            </a:r>
            <a:r>
              <a:rPr b="1"/>
              <a:t>Windows :</a:t>
            </a:r>
            <a:r>
              <a:rPr/>
              <a:t> </a:t>
            </a:r>
            <a:r>
              <a:rPr>
                <a:latin typeface="Courier"/>
              </a:rPr>
              <a:t>%PROGRAMDATA%\ClaudeCode\managed-settings.json</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"permissions"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"deny"</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CC9393"/>
                </a:solidFill>
                <a:latin typeface="Courier"/>
              </a:rPr>
              <a:t>"Bash(curl * | *)"</a:t>
            </a:r>
            <a:r>
              <a:rPr>
                <a:solidFill>
                  <a:srgbClr val="EFEF8F"/>
                </a:solidFill>
                <a:latin typeface="Courier"/>
              </a:rPr>
              <a:t>,</a:t>
            </a:r>
            <a:br/>
            <a:r>
              <a:rPr>
                <a:solidFill>
                  <a:srgbClr val="CCCCCC"/>
                </a:solidFill>
                <a:latin typeface="Courier"/>
              </a:rPr>
              <a:t>      </a:t>
            </a:r>
            <a:r>
              <a:rPr>
                <a:solidFill>
                  <a:srgbClr val="CC9393"/>
                </a:solidFill>
                <a:latin typeface="Courier"/>
              </a:rPr>
              <a:t>"Bash(wget * | *)"</a:t>
            </a:r>
            <a:r>
              <a:rPr>
                <a:solidFill>
                  <a:srgbClr val="EFEF8F"/>
                </a:solidFill>
                <a:latin typeface="Courier"/>
              </a:rPr>
              <a:t>,</a:t>
            </a:r>
            <a:br/>
            <a:r>
              <a:rPr>
                <a:solidFill>
                  <a:srgbClr val="CCCCCC"/>
                </a:solidFill>
                <a:latin typeface="Courier"/>
              </a:rPr>
              <a:t>      </a:t>
            </a:r>
            <a:r>
              <a:rPr>
                <a:solidFill>
                  <a:srgbClr val="CC9393"/>
                </a:solidFill>
                <a:latin typeface="Courier"/>
              </a:rPr>
              <a:t>"Write(*.env*)"</a:t>
            </a:r>
            <a:r>
              <a:rPr>
                <a:solidFill>
                  <a:srgbClr val="EFEF8F"/>
                </a:solidFill>
                <a:latin typeface="Courier"/>
              </a:rPr>
              <a:t>,</a:t>
            </a:r>
            <a:br/>
            <a:r>
              <a:rPr>
                <a:solidFill>
                  <a:srgbClr val="CCCCCC"/>
                </a:solidFill>
                <a:latin typeface="Courier"/>
              </a:rPr>
              <a:t>      </a:t>
            </a:r>
            <a:r>
              <a:rPr>
                <a:solidFill>
                  <a:srgbClr val="CC9393"/>
                </a:solidFill>
                <a:latin typeface="Courier"/>
              </a:rPr>
              <a:t>"Write(*credentials*)"</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"mcpServers"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"allowlist"</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"postgres"</a:t>
            </a:r>
            <a:r>
              <a:rPr>
                <a:solidFill>
                  <a:srgbClr val="EFEF8F"/>
                </a:solidFill>
                <a:latin typeface="Courier"/>
              </a:rPr>
              <a:t>,</a:t>
            </a:r>
            <a:r>
              <a:rPr>
                <a:solidFill>
                  <a:srgbClr val="CCCCCC"/>
                </a:solidFill>
                <a:latin typeface="Courier"/>
              </a:rPr>
              <a:t> </a:t>
            </a:r>
            <a:r>
              <a:rPr>
                <a:solidFill>
                  <a:srgbClr val="CC9393"/>
                </a:solidFill>
                <a:latin typeface="Courier"/>
              </a:rPr>
              <a:t>"github"</a:t>
            </a:r>
            <a:r>
              <a:rPr>
                <a:solidFill>
                  <a:srgbClr val="EFEF8F"/>
                </a:solidFill>
                <a:latin typeface="Courier"/>
              </a:rPr>
              <a:t>],</a:t>
            </a:r>
            <a:br/>
            <a:r>
              <a:rPr>
                <a:solidFill>
                  <a:srgbClr val="CCCCCC"/>
                </a:solidFill>
                <a:latin typeface="Courier"/>
              </a:rPr>
              <a:t>    </a:t>
            </a:r>
            <a:r>
              <a:rPr>
                <a:solidFill>
                  <a:srgbClr val="DFDFBF"/>
                </a:solidFill>
                <a:latin typeface="Courier"/>
              </a:rPr>
              <a:t>"denylist"</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"model"</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"allowed"</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"sonnet"</a:t>
            </a:r>
            <a:r>
              <a:rPr>
                <a:solidFill>
                  <a:srgbClr val="EFEF8F"/>
                </a:solidFill>
                <a:latin typeface="Courier"/>
              </a:rPr>
              <a:t>,</a:t>
            </a:r>
            <a:r>
              <a:rPr>
                <a:solidFill>
                  <a:srgbClr val="CCCCCC"/>
                </a:solidFill>
                <a:latin typeface="Courier"/>
              </a:rPr>
              <a:t> </a:t>
            </a:r>
            <a:r>
              <a:rPr>
                <a:solidFill>
                  <a:srgbClr val="CC9393"/>
                </a:solidFill>
                <a:latin typeface="Courier"/>
              </a:rPr>
              <a:t>"haiku"</a:t>
            </a:r>
            <a:r>
              <a:rPr>
                <a:solidFill>
                  <a:srgbClr val="EFEF8F"/>
                </a:solidFill>
                <a:latin typeface="Courier"/>
              </a:rPr>
              <a:t>],</a:t>
            </a:r>
            <a:br/>
            <a:r>
              <a:rPr>
                <a:solidFill>
                  <a:srgbClr val="CCCCCC"/>
                </a:solidFill>
                <a:latin typeface="Courier"/>
              </a:rPr>
              <a:t>    </a:t>
            </a:r>
            <a:r>
              <a:rPr>
                <a:solidFill>
                  <a:srgbClr val="DFDFBF"/>
                </a:solidFill>
                <a:latin typeface="Courier"/>
              </a:rPr>
              <a:t>"denied"</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"opus"</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buNone/>
            </a:pPr>
            <a:r>
              <a:rPr b="1"/>
              <a:t>Audit et logging :</a:t>
            </a:r>
          </a:p>
          <a:p>
            <a:pPr lvl="0" indent="0" marL="0">
              <a:buNone/>
            </a:pPr>
            <a:r>
              <a:rPr/>
              <a:t>Activez le logging pour traçabilité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"logging"</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"enabled"</a:t>
            </a:r>
            <a:r>
              <a:rPr>
                <a:solidFill>
                  <a:srgbClr val="EFEF8F"/>
                </a:solidFill>
                <a:latin typeface="Courier"/>
              </a:rPr>
              <a:t>:</a:t>
            </a:r>
            <a:r>
              <a:rPr>
                <a:solidFill>
                  <a:srgbClr val="CCCCCC"/>
                </a:solidFill>
                <a:latin typeface="Courier"/>
              </a:rPr>
              <a:t> </a:t>
            </a:r>
            <a:r>
              <a:rPr>
                <a:solidFill>
                  <a:srgbClr val="F0DFAF"/>
                </a:solidFill>
                <a:latin typeface="Courier"/>
              </a:rPr>
              <a:t>true</a:t>
            </a:r>
            <a:r>
              <a:rPr>
                <a:solidFill>
                  <a:srgbClr val="EFEF8F"/>
                </a:solidFill>
                <a:latin typeface="Courier"/>
              </a:rPr>
              <a:t>,</a:t>
            </a:r>
            <a:br/>
            <a:r>
              <a:rPr>
                <a:solidFill>
                  <a:srgbClr val="CCCCCC"/>
                </a:solidFill>
                <a:latin typeface="Courier"/>
              </a:rPr>
              <a:t>    </a:t>
            </a:r>
            <a:r>
              <a:rPr>
                <a:solidFill>
                  <a:srgbClr val="DFDFBF"/>
                </a:solidFill>
                <a:latin typeface="Courier"/>
              </a:rPr>
              <a:t>"level"</a:t>
            </a:r>
            <a:r>
              <a:rPr>
                <a:solidFill>
                  <a:srgbClr val="EFEF8F"/>
                </a:solidFill>
                <a:latin typeface="Courier"/>
              </a:rPr>
              <a:t>:</a:t>
            </a:r>
            <a:r>
              <a:rPr>
                <a:solidFill>
                  <a:srgbClr val="CCCCCC"/>
                </a:solidFill>
                <a:latin typeface="Courier"/>
              </a:rPr>
              <a:t> </a:t>
            </a:r>
            <a:r>
              <a:rPr>
                <a:solidFill>
                  <a:srgbClr val="CC9393"/>
                </a:solidFill>
                <a:latin typeface="Courier"/>
              </a:rPr>
              <a:t>"info"</a:t>
            </a:r>
            <a:r>
              <a:rPr>
                <a:solidFill>
                  <a:srgbClr val="EFEF8F"/>
                </a:solidFill>
                <a:latin typeface="Courier"/>
              </a:rPr>
              <a:t>,</a:t>
            </a:r>
            <a:br/>
            <a:r>
              <a:rPr>
                <a:solidFill>
                  <a:srgbClr val="CCCCCC"/>
                </a:solidFill>
                <a:latin typeface="Courier"/>
              </a:rPr>
              <a:t>    </a:t>
            </a:r>
            <a:r>
              <a:rPr>
                <a:solidFill>
                  <a:srgbClr val="DFDFBF"/>
                </a:solidFill>
                <a:latin typeface="Courier"/>
              </a:rPr>
              <a:t>"path"</a:t>
            </a:r>
            <a:r>
              <a:rPr>
                <a:solidFill>
                  <a:srgbClr val="EFEF8F"/>
                </a:solidFill>
                <a:latin typeface="Courier"/>
              </a:rPr>
              <a:t>:</a:t>
            </a:r>
            <a:r>
              <a:rPr>
                <a:solidFill>
                  <a:srgbClr val="CCCCCC"/>
                </a:solidFill>
                <a:latin typeface="Courier"/>
              </a:rPr>
              <a:t> </a:t>
            </a:r>
            <a:r>
              <a:rPr>
                <a:solidFill>
                  <a:srgbClr val="CC9393"/>
                </a:solidFill>
                <a:latin typeface="Courier"/>
              </a:rPr>
              <a:t>"/var/log/claude-code/"</a:t>
            </a:r>
            <a:r>
              <a:rPr>
                <a:solidFill>
                  <a:srgbClr val="EFEF8F"/>
                </a:solidFill>
                <a:latin typeface="Courier"/>
              </a:rPr>
              <a:t>,</a:t>
            </a:r>
            <a:br/>
            <a:r>
              <a:rPr>
                <a:solidFill>
                  <a:srgbClr val="CCCCCC"/>
                </a:solidFill>
                <a:latin typeface="Courier"/>
              </a:rPr>
              <a:t>    </a:t>
            </a:r>
            <a:r>
              <a:rPr>
                <a:solidFill>
                  <a:srgbClr val="DFDFBF"/>
                </a:solidFill>
                <a:latin typeface="Courier"/>
              </a:rPr>
              <a:t>"includeToolCalls"</a:t>
            </a:r>
            <a:r>
              <a:rPr>
                <a:solidFill>
                  <a:srgbClr val="EFEF8F"/>
                </a:solidFill>
                <a:latin typeface="Courier"/>
              </a:rPr>
              <a:t>:</a:t>
            </a:r>
            <a:r>
              <a:rPr>
                <a:solidFill>
                  <a:srgbClr val="CCCCCC"/>
                </a:solidFill>
                <a:latin typeface="Courier"/>
              </a:rPr>
              <a:t> </a:t>
            </a:r>
            <a:r>
              <a:rPr>
                <a:solidFill>
                  <a:srgbClr val="F0DFAF"/>
                </a:solidFill>
                <a:latin typeface="Courier"/>
              </a:rPr>
              <a:t>true</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buNone/>
            </a:pPr>
            <a:r>
              <a:rPr b="1"/>
              <a:t>Exercice :</a:t>
            </a:r>
          </a:p>
          <a:p>
            <a:pPr lvl="0" indent="-342900" marL="342900">
              <a:buAutoNum type="arabicPeriod"/>
            </a:pPr>
            <a:r>
              <a:rPr/>
              <a:t>Créez un fichier settings.json avec des permissions personnalisées</a:t>
            </a:r>
          </a:p>
          <a:p>
            <a:pPr lvl="0" indent="-342900" marL="342900">
              <a:buAutoNum type="arabicPeriod"/>
            </a:pPr>
            <a:r>
              <a:rPr/>
              <a:t>Autorisez les commandes npm/go que vous utilisez</a:t>
            </a:r>
          </a:p>
          <a:p>
            <a:pPr lvl="0" indent="-342900" marL="342900">
              <a:buAutoNum type="arabicPeriod"/>
            </a:pPr>
            <a:r>
              <a:rPr/>
              <a:t>Bloquez les commandes destructives</a:t>
            </a:r>
          </a:p>
          <a:p>
            <a:pPr lvl="0" indent="-342900" marL="342900">
              <a:buAutoNum type="arabicPeriod"/>
            </a:pPr>
            <a:r>
              <a:rPr/>
              <a:t>Testez que les permissions fonctionnent</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Module 17 : MCP Servers - Maîtrise complète (1h)</a:t>
            </a:r>
          </a:p>
          <a:p>
            <a:pPr lvl="0" indent="0" marL="0">
              <a:buNone/>
            </a:pPr>
            <a:r>
              <a:rPr b="1"/>
              <a:t>Objectif pédagogique</a:t>
            </a:r>
            <a:r>
              <a:rPr/>
              <a:t> : À l’issue de ce module, l’apprenant sera capable d’expliquer l’architecture MCP (stdio vs HTTP), d’installer et configurer des serveurs MCP populaires (PostgreSQL, GitHub, Chrome DevTools), et de créer un serveur MCP personnalisé avec le SDK TypeScript.</a:t>
            </a:r>
          </a:p>
          <a:p>
            <a:pPr lvl="0" indent="0" marL="0">
              <a:spcBef>
                <a:spcPts val="3000"/>
              </a:spcBef>
              <a:buNone/>
            </a:pPr>
            <a:r>
              <a:rPr b="1"/>
              <a:t>17.1 Architecture MCP</a:t>
            </a:r>
          </a:p>
          <a:p>
            <a:pPr lvl="0" indent="0" marL="0">
              <a:buNone/>
            </a:pPr>
            <a:r>
              <a:rPr b="1"/>
              <a:t>Model Context Protocol (MCP) :</a:t>
            </a:r>
          </a:p>
          <a:p>
            <a:pPr lvl="0" indent="0" marL="0">
              <a:buNone/>
            </a:pPr>
            <a:r>
              <a:rPr/>
              <a:t>MCP est un protocole standardisé qui permet d’étendre les capacités de Claude Code.</a:t>
            </a:r>
          </a:p>
          <a:p>
            <a:pPr lvl="0" indent="0">
              <a:buNone/>
            </a:pPr>
            <a:r>
              <a:rPr>
                <a:latin typeface="Courier"/>
              </a:rPr>
              <a:t>┌─────────────────────────────────────────────────┐
│                CLAUDE CODE                       │
│  ┌──────────────────────────────────────────┐   │
│  │           MCP Client                      │   │
│  │  (parle le protocole MCP)                │   │
│  └──────────────────────────────────────────┘   │
│              │           │           │          │
│              ▼           ▼           ▼          │
│  ┌─────────────┐ ┌─────────────┐ ┌─────────────┐│
│  │ MCP Server  │ │ MCP Server  │ │ MCP Server  ││
│  │ PostgreSQL  │ │   GitHub    │ │   Chrome    ││
│  └─────────────┘ └─────────────┘ └─────────────┘│
│         │              │              │         │
└─────────│──────────────│──────────────│─────────┘
          ▼              ▼              ▼
    ┌──────────┐  ┌──────────┐  ┌──────────┐
    │ Database │  │  GitHub  │  │ Browser  │
    │          │  │   API    │  │          │
    └──────────┘  └──────────┘  └──────────┘</a:t>
            </a:r>
          </a:p>
          <a:p>
            <a:pPr lvl="0" indent="0" marL="0">
              <a:buNone/>
            </a:pPr>
            <a:r>
              <a:rPr b="1"/>
              <a:t>Communication stdio vs HTTP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Type</a:t>
                      </a:r>
                    </a:p>
                  </a:txBody>
                  <a:tcPr/>
                </a:tc>
                <a:tc>
                  <a:txBody>
                    <a:bodyPr/>
                    <a:lstStyle/>
                    <a:p>
                      <a:pPr lvl="0" indent="0" marL="0">
                        <a:buNone/>
                      </a:pPr>
                      <a:r>
                        <a:rPr/>
                        <a:t>Usage</a:t>
                      </a:r>
                    </a:p>
                  </a:txBody>
                  <a:tcPr/>
                </a:tc>
                <a:tc>
                  <a:txBody>
                    <a:bodyPr/>
                    <a:lstStyle/>
                    <a:p>
                      <a:pPr lvl="0" indent="0" marL="0">
                        <a:buNone/>
                      </a:pPr>
                      <a:r>
                        <a:rPr/>
                        <a:t>Exemple</a:t>
                      </a:r>
                    </a:p>
                  </a:txBody>
                  <a:tcPr/>
                </a:tc>
              </a:tr>
              <a:tr h="0">
                <a:tc>
                  <a:txBody>
                    <a:bodyPr/>
                    <a:lstStyle/>
                    <a:p>
                      <a:pPr lvl="0" indent="0" marL="0">
                        <a:buNone/>
                      </a:pPr>
                      <a:r>
                        <a:rPr/>
                        <a:t>stdio</a:t>
                      </a:r>
                    </a:p>
                  </a:txBody>
                </a:tc>
                <a:tc>
                  <a:txBody>
                    <a:bodyPr/>
                    <a:lstStyle/>
                    <a:p>
                      <a:pPr lvl="0" indent="0" marL="0">
                        <a:buNone/>
                      </a:pPr>
                      <a:r>
                        <a:rPr/>
                        <a:t>Serveurs locaux</a:t>
                      </a:r>
                    </a:p>
                  </a:txBody>
                </a:tc>
                <a:tc>
                  <a:txBody>
                    <a:bodyPr/>
                    <a:lstStyle/>
                    <a:p>
                      <a:pPr lvl="0" indent="0" marL="0">
                        <a:buNone/>
                      </a:pPr>
                      <a:r>
                        <a:rPr/>
                        <a:t>PostgreSQL local</a:t>
                      </a:r>
                    </a:p>
                  </a:txBody>
                </a:tc>
              </a:tr>
              <a:tr h="0">
                <a:tc>
                  <a:txBody>
                    <a:bodyPr/>
                    <a:lstStyle/>
                    <a:p>
                      <a:pPr lvl="0" indent="0" marL="0">
                        <a:buNone/>
                      </a:pPr>
                      <a:r>
                        <a:rPr/>
                        <a:t>HTTP/SSE</a:t>
                      </a:r>
                    </a:p>
                  </a:txBody>
                </a:tc>
                <a:tc>
                  <a:txBody>
                    <a:bodyPr/>
                    <a:lstStyle/>
                    <a:p>
                      <a:pPr lvl="0" indent="0" marL="0">
                        <a:buNone/>
                      </a:pPr>
                      <a:r>
                        <a:rPr/>
                        <a:t>Serveurs distants</a:t>
                      </a:r>
                    </a:p>
                  </a:txBody>
                </a:tc>
                <a:tc>
                  <a:txBody>
                    <a:bodyPr/>
                    <a:lstStyle/>
                    <a:p>
                      <a:pPr lvl="0" indent="0" marL="0">
                        <a:buNone/>
                      </a:pPr>
                      <a:r>
                        <a:rPr/>
                        <a:t>API SaaS</a:t>
                      </a:r>
                    </a:p>
                  </a:txBody>
                </a:tc>
              </a:tr>
            </a:tbl>
          </a:graphicData>
        </a:graphic>
      </p:graphicFrame>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Serveurs locaux :</a:t>
            </a:r>
            <a:r>
              <a:rPr/>
              <a:t> - S’exécutent sur votre machine - Communication via stdin/stdout - Plus rapides, pas de réseau</a:t>
            </a:r>
          </a:p>
          <a:p>
            <a:pPr lvl="0" indent="0" marL="0">
              <a:buNone/>
            </a:pPr>
            <a:r>
              <a:rPr b="1"/>
              <a:t>Serveurs distants :</a:t>
            </a:r>
            <a:r>
              <a:rPr/>
              <a:t> - Hébergés ailleurs - Communication HTTP/SSE - Nécessitent authentification</a:t>
            </a:r>
          </a:p>
          <a:p>
            <a:pPr lvl="0" indent="0" marL="0">
              <a:spcBef>
                <a:spcPts val="3000"/>
              </a:spcBef>
              <a:buNone/>
            </a:pPr>
            <a:r>
              <a:rPr b="1"/>
              <a:t>17.2 Gestion des serveurs MCP</a:t>
            </a:r>
          </a:p>
          <a:p>
            <a:pPr lvl="0" indent="0" marL="0">
              <a:buNone/>
            </a:pPr>
            <a:r>
              <a:rPr b="1"/>
              <a:t>Ajouter un serveur :</a:t>
            </a:r>
          </a:p>
          <a:p>
            <a:pPr lvl="0" indent="0">
              <a:buNone/>
            </a:pPr>
            <a:r>
              <a:rPr>
                <a:solidFill>
                  <a:srgbClr val="7F9F7F"/>
                </a:solidFill>
                <a:latin typeface="Courier"/>
              </a:rPr>
              <a:t># Serveur npm</a:t>
            </a:r>
            <a:br/>
            <a:r>
              <a:rPr>
                <a:solidFill>
                  <a:srgbClr val="CCCCCC"/>
                </a:solidFill>
                <a:latin typeface="Courier"/>
              </a:rPr>
              <a:t>claude mcp add postgres</a:t>
            </a:r>
            <a:br/>
            <a:br/>
            <a:r>
              <a:rPr>
                <a:solidFill>
                  <a:srgbClr val="7F9F7F"/>
                </a:solidFill>
                <a:latin typeface="Courier"/>
              </a:rPr>
              <a:t># Serveur avec configuration</a:t>
            </a:r>
            <a:br/>
            <a:r>
              <a:rPr>
                <a:solidFill>
                  <a:srgbClr val="CCCCCC"/>
                </a:solidFill>
                <a:latin typeface="Courier"/>
              </a:rPr>
              <a:t>claude mcp add github --env GITHUB_TOKEN=ghp_xxx</a:t>
            </a:r>
          </a:p>
          <a:p>
            <a:pPr lvl="0" indent="0" marL="0">
              <a:buNone/>
            </a:pPr>
            <a:r>
              <a:rPr b="1"/>
              <a:t>Lister les serveurs :</a:t>
            </a:r>
          </a:p>
          <a:p>
            <a:pPr lvl="0" indent="0">
              <a:buNone/>
            </a:pPr>
            <a:r>
              <a:rPr>
                <a:solidFill>
                  <a:srgbClr val="CCCCCC"/>
                </a:solidFill>
                <a:latin typeface="Courier"/>
              </a:rPr>
              <a:t>claude mcp list</a:t>
            </a:r>
            <a:br/>
            <a:br/>
            <a:r>
              <a:rPr>
                <a:solidFill>
                  <a:srgbClr val="7F9F7F"/>
                </a:solidFill>
                <a:latin typeface="Courier"/>
              </a:rPr>
              <a:t># Output:</a:t>
            </a:r>
            <a:br/>
            <a:r>
              <a:rPr>
                <a:solidFill>
                  <a:srgbClr val="7F9F7F"/>
                </a:solidFill>
                <a:latin typeface="Courier"/>
              </a:rPr>
              <a:t># ┌────────────┬─────────┬──────────┐</a:t>
            </a:r>
            <a:br/>
            <a:r>
              <a:rPr>
                <a:solidFill>
                  <a:srgbClr val="7F9F7F"/>
                </a:solidFill>
                <a:latin typeface="Courier"/>
              </a:rPr>
              <a:t># │ Name       │ Status  │ Tools    │</a:t>
            </a:r>
            <a:br/>
            <a:r>
              <a:rPr>
                <a:solidFill>
                  <a:srgbClr val="7F9F7F"/>
                </a:solidFill>
                <a:latin typeface="Courier"/>
              </a:rPr>
              <a:t># ├────────────┼─────────┼──────────┤</a:t>
            </a:r>
            <a:br/>
            <a:r>
              <a:rPr>
                <a:solidFill>
                  <a:srgbClr val="7F9F7F"/>
                </a:solidFill>
                <a:latin typeface="Courier"/>
              </a:rPr>
              <a:t># │ postgres   │ Running │ 5        │</a:t>
            </a:r>
            <a:br/>
            <a:r>
              <a:rPr>
                <a:solidFill>
                  <a:srgbClr val="7F9F7F"/>
                </a:solidFill>
                <a:latin typeface="Courier"/>
              </a:rPr>
              <a:t># │ github     │ Running │ 12       │</a:t>
            </a:r>
            <a:br/>
            <a:r>
              <a:rPr>
                <a:solidFill>
                  <a:srgbClr val="7F9F7F"/>
                </a:solidFill>
                <a:latin typeface="Courier"/>
              </a:rPr>
              <a:t># │ chrome     │ Stopped │ 0        │</a:t>
            </a:r>
            <a:br/>
            <a:r>
              <a:rPr>
                <a:solidFill>
                  <a:srgbClr val="7F9F7F"/>
                </a:solidFill>
                <a:latin typeface="Courier"/>
              </a:rPr>
              <a:t># └────────────┴─────────┴──────────┘</a:t>
            </a:r>
          </a:p>
          <a:p>
            <a:pPr lvl="0" indent="0" marL="0">
              <a:buNone/>
            </a:pPr>
            <a:r>
              <a:rPr b="1"/>
              <a:t>Supprimer un serveur :</a:t>
            </a:r>
          </a:p>
          <a:p>
            <a:pPr lvl="0" indent="0">
              <a:buNone/>
            </a:pPr>
            <a:r>
              <a:rPr>
                <a:solidFill>
                  <a:srgbClr val="CCCCCC"/>
                </a:solidFill>
                <a:latin typeface="Courier"/>
              </a:rPr>
              <a:t>claude mcp remove postgres</a:t>
            </a:r>
          </a:p>
          <a:p>
            <a:pPr lvl="0" indent="0" marL="0">
              <a:buNone/>
            </a:pPr>
            <a:r>
              <a:rPr b="1"/>
              <a:t>Voir le status dans Claude Code :</a:t>
            </a:r>
          </a:p>
          <a:p>
            <a:pPr lvl="0" indent="0">
              <a:buNone/>
            </a:pPr>
            <a:r>
              <a:rPr>
                <a:latin typeface="Courier"/>
              </a:rPr>
              <a:t>&gt; /mcp
MCP Servers:
✓ postgres (5 tools)
✓ github (12 tools)
✗ chrome (not running)
Use /mcp auth to authenticate OAuth servers.</a:t>
            </a:r>
          </a:p>
          <a:p>
            <a:pPr lvl="0" indent="0" marL="0">
              <a:spcBef>
                <a:spcPts val="3000"/>
              </a:spcBef>
              <a:buNone/>
            </a:pPr>
            <a:r>
              <a:rPr b="1"/>
              <a:t>17.3 MCP Servers essentiels</a:t>
            </a:r>
          </a:p>
          <a:p>
            <a:pPr lvl="0" indent="0" marL="0">
              <a:spcBef>
                <a:spcPts val="3000"/>
              </a:spcBef>
              <a:buNone/>
            </a:pPr>
            <a:r>
              <a:rPr b="1"/>
              <a:t>PostgreSQL : Requêtes en langage naturel</a:t>
            </a:r>
          </a:p>
          <a:p>
            <a:pPr lvl="0" indent="0">
              <a:buNone/>
            </a:pPr>
            <a:r>
              <a:rPr>
                <a:solidFill>
                  <a:srgbClr val="CCCCCC"/>
                </a:solidFill>
                <a:latin typeface="Courier"/>
              </a:rPr>
              <a:t>claude mcp add postgres</a:t>
            </a:r>
          </a:p>
          <a:p>
            <a:pPr lvl="0" indent="0" marL="0">
              <a:buNone/>
            </a:pPr>
            <a:r>
              <a:rPr/>
              <a:t>Configuration (.mcp.json)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"servers"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"postgres"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CC9393"/>
                </a:solidFill>
                <a:latin typeface="Courier"/>
              </a:rPr>
              <a:t>"npx"</a:t>
            </a:r>
            <a:r>
              <a:rPr>
                <a:solidFill>
                  <a:srgbClr val="EFEF8F"/>
                </a:solidFill>
                <a:latin typeface="Courier"/>
              </a:rPr>
              <a:t>,</a:t>
            </a:r>
            <a:br/>
            <a:r>
              <a:rPr>
                <a:solidFill>
                  <a:srgbClr val="CCCCCC"/>
                </a:solidFill>
                <a:latin typeface="Courier"/>
              </a:rPr>
              <a:t>      </a:t>
            </a:r>
            <a:r>
              <a:rPr>
                <a:solidFill>
                  <a:srgbClr val="DFDFBF"/>
                </a:solidFill>
                <a:latin typeface="Courier"/>
              </a:rPr>
              <a:t>"args"</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"-y"</a:t>
            </a:r>
            <a:r>
              <a:rPr>
                <a:solidFill>
                  <a:srgbClr val="EFEF8F"/>
                </a:solidFill>
                <a:latin typeface="Courier"/>
              </a:rPr>
              <a:t>,</a:t>
            </a:r>
            <a:r>
              <a:rPr>
                <a:solidFill>
                  <a:srgbClr val="CCCCCC"/>
                </a:solidFill>
                <a:latin typeface="Courier"/>
              </a:rPr>
              <a:t> </a:t>
            </a:r>
            <a:r>
              <a:rPr>
                <a:solidFill>
                  <a:srgbClr val="CC9393"/>
                </a:solidFill>
                <a:latin typeface="Courier"/>
              </a:rPr>
              <a:t>"@modelcontextprotocol/server-postgres"</a:t>
            </a:r>
            <a:r>
              <a:rPr>
                <a:solidFill>
                  <a:srgbClr val="EFEF8F"/>
                </a:solidFill>
                <a:latin typeface="Courier"/>
              </a:rPr>
              <a:t>],</a:t>
            </a:r>
            <a:br/>
            <a:r>
              <a:rPr>
                <a:solidFill>
                  <a:srgbClr val="CCCCCC"/>
                </a:solidFill>
                <a:latin typeface="Courier"/>
              </a:rPr>
              <a:t>      </a:t>
            </a:r>
            <a:r>
              <a:rPr>
                <a:solidFill>
                  <a:srgbClr val="DFDFBF"/>
                </a:solidFill>
                <a:latin typeface="Courier"/>
              </a:rPr>
              <a:t>"env"</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"DATABASE_URL"</a:t>
            </a:r>
            <a:r>
              <a:rPr>
                <a:solidFill>
                  <a:srgbClr val="EFEF8F"/>
                </a:solidFill>
                <a:latin typeface="Courier"/>
              </a:rPr>
              <a:t>:</a:t>
            </a:r>
            <a:r>
              <a:rPr>
                <a:solidFill>
                  <a:srgbClr val="CCCCCC"/>
                </a:solidFill>
                <a:latin typeface="Courier"/>
              </a:rPr>
              <a:t> </a:t>
            </a:r>
            <a:r>
              <a:rPr>
                <a:solidFill>
                  <a:srgbClr val="CC9393"/>
                </a:solidFill>
                <a:latin typeface="Courier"/>
              </a:rPr>
              <a:t>"postgresql://user:pass@localhost:5432/mydb"</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buNone/>
            </a:pPr>
            <a:r>
              <a:rPr b="1"/>
              <a:t>Usage :</a:t>
            </a:r>
          </a:p>
          <a:p>
            <a:pPr lvl="0" indent="0">
              <a:buNone/>
            </a:pPr>
            <a:r>
              <a:rPr>
                <a:latin typeface="Courier"/>
              </a:rPr>
              <a:t>&gt; Montre-moi les utilisateurs qui se sont inscrits cette semaine
Claude utilise postgres_query :
SELECT * FROM users
WHERE created_at &gt;= NOW() - INTERVAL '7 days'
ORDER BY created_at DESC</a:t>
            </a:r>
          </a:p>
          <a:p>
            <a:pPr lvl="0" indent="0" marL="0">
              <a:spcBef>
                <a:spcPts val="3000"/>
              </a:spcBef>
              <a:buNone/>
            </a:pPr>
            <a:r>
              <a:rPr b="1"/>
              <a:t>GitHub : PRs, issues, reviews</a:t>
            </a:r>
          </a:p>
          <a:p>
            <a:pPr lvl="0" indent="0">
              <a:buNone/>
            </a:pPr>
            <a:r>
              <a:rPr>
                <a:solidFill>
                  <a:srgbClr val="CCCCCC"/>
                </a:solidFill>
                <a:latin typeface="Courier"/>
              </a:rPr>
              <a:t>claude mcp add github</a:t>
            </a:r>
          </a:p>
          <a:p>
            <a:pPr lvl="0" indent="0" marL="0">
              <a:buNone/>
            </a:pPr>
            <a:r>
              <a:rPr b="1"/>
              <a:t>Outils disponibles :</a:t>
            </a:r>
            <a:r>
              <a:rPr/>
              <a:t> - </a:t>
            </a:r>
            <a:r>
              <a:rPr>
                <a:latin typeface="Courier"/>
              </a:rPr>
              <a:t>github_create_issue</a:t>
            </a:r>
            <a:r>
              <a:rPr/>
              <a:t> : Créer une issue - </a:t>
            </a:r>
            <a:r>
              <a:rPr>
                <a:latin typeface="Courier"/>
              </a:rPr>
              <a:t>github_create_pr</a:t>
            </a:r>
            <a:r>
              <a:rPr/>
              <a:t> : Créer une PR - </a:t>
            </a:r>
            <a:r>
              <a:rPr>
                <a:latin typeface="Courier"/>
              </a:rPr>
              <a:t>github_list_prs</a:t>
            </a:r>
            <a:r>
              <a:rPr/>
              <a:t> : Lister les PRs - </a:t>
            </a:r>
            <a:r>
              <a:rPr>
                <a:latin typeface="Courier"/>
              </a:rPr>
              <a:t>github_review_pr</a:t>
            </a:r>
            <a:r>
              <a:rPr/>
              <a:t> : Reviewer une PR</a:t>
            </a:r>
          </a:p>
          <a:p>
            <a:pPr lvl="0" indent="0" marL="0">
              <a:buNone/>
            </a:pPr>
            <a:r>
              <a:rPr b="1"/>
              <a:t>Usage :</a:t>
            </a:r>
          </a:p>
          <a:p>
            <a:pPr lvl="0" indent="0">
              <a:buNone/>
            </a:pPr>
            <a:r>
              <a:rPr>
                <a:latin typeface="Courier"/>
              </a:rPr>
              <a:t>&gt; Crée une PR pour merger feature/auth dans main
Claude utilise github_create_pr avec le bon titre et description.</a:t>
            </a:r>
          </a:p>
          <a:p>
            <a:pPr lvl="0" indent="0" marL="0">
              <a:spcBef>
                <a:spcPts val="3000"/>
              </a:spcBef>
              <a:buNone/>
            </a:pPr>
            <a:r>
              <a:rPr b="1"/>
              <a:t>Chrome DevTools : Automatisation navigateur</a:t>
            </a:r>
          </a:p>
          <a:p>
            <a:pPr lvl="0" indent="0">
              <a:buNone/>
            </a:pPr>
            <a:r>
              <a:rPr>
                <a:solidFill>
                  <a:srgbClr val="CCCCCC"/>
                </a:solidFill>
                <a:latin typeface="Courier"/>
              </a:rPr>
              <a:t>claude mcp add chrome-devtools</a:t>
            </a:r>
          </a:p>
          <a:p>
            <a:pPr lvl="0" indent="0" marL="0">
              <a:buNone/>
            </a:pPr>
            <a:r>
              <a:rPr b="1"/>
              <a:t>Outils disponibles :</a:t>
            </a:r>
            <a:r>
              <a:rPr/>
              <a:t> - </a:t>
            </a:r>
            <a:r>
              <a:rPr>
                <a:latin typeface="Courier"/>
              </a:rPr>
              <a:t>navigate</a:t>
            </a:r>
            <a:r>
              <a:rPr/>
              <a:t> : Aller à une URL - </a:t>
            </a:r>
            <a:r>
              <a:rPr>
                <a:latin typeface="Courier"/>
              </a:rPr>
              <a:t>screenshot</a:t>
            </a:r>
            <a:r>
              <a:rPr/>
              <a:t> : Capturer l’écran - </a:t>
            </a:r>
            <a:r>
              <a:rPr>
                <a:latin typeface="Courier"/>
              </a:rPr>
              <a:t>click</a:t>
            </a:r>
            <a:r>
              <a:rPr/>
              <a:t> : Cliquer sur un élément - </a:t>
            </a:r>
            <a:r>
              <a:rPr>
                <a:latin typeface="Courier"/>
              </a:rPr>
              <a:t>fill</a:t>
            </a:r>
            <a:r>
              <a:rPr/>
              <a:t> : Remplir un formulaire - </a:t>
            </a:r>
            <a:r>
              <a:rPr>
                <a:latin typeface="Courier"/>
              </a:rPr>
              <a:t>evaluate</a:t>
            </a:r>
            <a:r>
              <a:rPr/>
              <a:t> : Exécuter du JavaScript</a:t>
            </a:r>
          </a:p>
          <a:p>
            <a:pPr lvl="0" indent="0" marL="0">
              <a:buNone/>
            </a:pPr>
            <a:r>
              <a:rPr b="1"/>
              <a:t>Usage :</a:t>
            </a:r>
          </a:p>
          <a:p>
            <a:pPr lvl="0" indent="0">
              <a:buNone/>
            </a:pPr>
            <a:r>
              <a:rPr>
                <a:latin typeface="Courier"/>
              </a:rPr>
              <a:t>&gt; Va sur localhost:3000 et fais une capture d'écran de la page d'accueil
Claude navigue et capture automatiquement.</a:t>
            </a:r>
          </a:p>
          <a:p>
            <a:pPr lvl="0" indent="0" marL="0">
              <a:spcBef>
                <a:spcPts val="3000"/>
              </a:spcBef>
              <a:buNone/>
            </a:pPr>
            <a:r>
              <a:rPr b="1"/>
              <a:t>Autres serveurs populaires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Serveur</a:t>
                      </a:r>
                    </a:p>
                  </a:txBody>
                  <a:tcPr/>
                </a:tc>
                <a:tc>
                  <a:txBody>
                    <a:bodyPr/>
                    <a:lstStyle/>
                    <a:p>
                      <a:pPr lvl="0" indent="0" marL="0">
                        <a:buNone/>
                      </a:pPr>
                      <a:r>
                        <a:rPr/>
                        <a:t>Usage</a:t>
                      </a:r>
                    </a:p>
                  </a:txBody>
                  <a:tcPr/>
                </a:tc>
              </a:tr>
              <a:tr h="0">
                <a:tc>
                  <a:txBody>
                    <a:bodyPr/>
                    <a:lstStyle/>
                    <a:p>
                      <a:pPr lvl="0" indent="0" marL="0">
                        <a:buNone/>
                      </a:pPr>
                      <a:r>
                        <a:rPr>
                          <a:latin typeface="Courier"/>
                        </a:rPr>
                        <a:t>sqlite</a:t>
                      </a:r>
                    </a:p>
                  </a:txBody>
                </a:tc>
                <a:tc>
                  <a:txBody>
                    <a:bodyPr/>
                    <a:lstStyle/>
                    <a:p>
                      <a:pPr lvl="0" indent="0" marL="0">
                        <a:buNone/>
                      </a:pPr>
                      <a:r>
                        <a:rPr/>
                        <a:t>Bases SQLite locales</a:t>
                      </a:r>
                    </a:p>
                  </a:txBody>
                </a:tc>
              </a:tr>
              <a:tr h="0">
                <a:tc>
                  <a:txBody>
                    <a:bodyPr/>
                    <a:lstStyle/>
                    <a:p>
                      <a:pPr lvl="0" indent="0" marL="0">
                        <a:buNone/>
                      </a:pPr>
                      <a:r>
                        <a:rPr>
                          <a:latin typeface="Courier"/>
                        </a:rPr>
                        <a:t>slack</a:t>
                      </a:r>
                    </a:p>
                  </a:txBody>
                </a:tc>
                <a:tc>
                  <a:txBody>
                    <a:bodyPr/>
                    <a:lstStyle/>
                    <a:p>
                      <a:pPr lvl="0" indent="0" marL="0">
                        <a:buNone/>
                      </a:pPr>
                      <a:r>
                        <a:rPr/>
                        <a:t>Envoyer des messages</a:t>
                      </a:r>
                    </a:p>
                  </a:txBody>
                </a:tc>
              </a:tr>
              <a:tr h="0">
                <a:tc>
                  <a:txBody>
                    <a:bodyPr/>
                    <a:lstStyle/>
                    <a:p>
                      <a:pPr lvl="0" indent="0" marL="0">
                        <a:buNone/>
                      </a:pPr>
                      <a:r>
                        <a:rPr>
                          <a:latin typeface="Courier"/>
                        </a:rPr>
                        <a:t>jira</a:t>
                      </a:r>
                    </a:p>
                  </a:txBody>
                </a:tc>
                <a:tc>
                  <a:txBody>
                    <a:bodyPr/>
                    <a:lstStyle/>
                    <a:p>
                      <a:pPr lvl="0" indent="0" marL="0">
                        <a:buNone/>
                      </a:pPr>
                      <a:r>
                        <a:rPr/>
                        <a:t>Gérer les tickets</a:t>
                      </a:r>
                    </a:p>
                  </a:txBody>
                </a:tc>
              </a:tr>
              <a:tr h="0">
                <a:tc>
                  <a:txBody>
                    <a:bodyPr/>
                    <a:lstStyle/>
                    <a:p>
                      <a:pPr lvl="0" indent="0" marL="0">
                        <a:buNone/>
                      </a:pPr>
                      <a:r>
                        <a:rPr>
                          <a:latin typeface="Courier"/>
                        </a:rPr>
                        <a:t>notion</a:t>
                      </a:r>
                    </a:p>
                  </a:txBody>
                </a:tc>
                <a:tc>
                  <a:txBody>
                    <a:bodyPr/>
                    <a:lstStyle/>
                    <a:p>
                      <a:pPr lvl="0" indent="0" marL="0">
                        <a:buNone/>
                      </a:pPr>
                      <a:r>
                        <a:rPr/>
                        <a:t>Accéder aux pages Notion</a:t>
                      </a:r>
                    </a:p>
                  </a:txBody>
                </a:tc>
              </a:tr>
              <a:tr h="0">
                <a:tc>
                  <a:txBody>
                    <a:bodyPr/>
                    <a:lstStyle/>
                    <a:p>
                      <a:pPr lvl="0" indent="0" marL="0">
                        <a:buNone/>
                      </a:pPr>
                      <a:r>
                        <a:rPr>
                          <a:latin typeface="Courier"/>
                        </a:rPr>
                        <a:t>filesystem</a:t>
                      </a:r>
                    </a:p>
                  </a:txBody>
                </a:tc>
                <a:tc>
                  <a:txBody>
                    <a:bodyPr/>
                    <a:lstStyle/>
                    <a:p>
                      <a:pPr lvl="0" indent="0" marL="0">
                        <a:buNone/>
                      </a:pPr>
                      <a:r>
                        <a:rPr/>
                        <a:t>Accès fichiers étendu</a:t>
                      </a:r>
                    </a:p>
                  </a:txBody>
                </a:tc>
              </a:tr>
            </a:tbl>
          </a:graphicData>
        </a:graphic>
      </p:graphicFrame>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17.4 Créer son propre MCP Server</a:t>
            </a:r>
          </a:p>
          <a:p>
            <a:pPr lvl="0" indent="0" marL="0">
              <a:buNone/>
            </a:pPr>
            <a:r>
              <a:rPr b="1"/>
              <a:t>Structure d’un serveur MCP (Go) :</a:t>
            </a:r>
          </a:p>
          <a:p>
            <a:pPr lvl="0" indent="0">
              <a:buNone/>
            </a:pPr>
            <a:r>
              <a:rPr>
                <a:solidFill>
                  <a:srgbClr val="F0DFAF"/>
                </a:solidFill>
                <a:latin typeface="Courier"/>
              </a:rPr>
              <a:t>package</a:t>
            </a:r>
            <a:r>
              <a:rPr>
                <a:solidFill>
                  <a:srgbClr val="CCCCCC"/>
                </a:solidFill>
                <a:latin typeface="Courier"/>
              </a:rPr>
              <a:t> main</a:t>
            </a:r>
            <a:br/>
            <a:br/>
            <a:r>
              <a:rPr>
                <a:solidFill>
                  <a:srgbClr val="F0DFAF"/>
                </a:solidFill>
                <a:latin typeface="Courier"/>
              </a:rPr>
              <a:t>import</a:t>
            </a:r>
            <a:r>
              <a:rPr>
                <a:solidFill>
                  <a:srgbClr val="CCCCCC"/>
                </a:solidFill>
                <a:latin typeface="Courier"/>
              </a:rPr>
              <a:t> </a:t>
            </a:r>
            <a:r>
              <a:rPr>
                <a:solidFill>
                  <a:srgbClr val="F0EFD0"/>
                </a:solidFill>
                <a:latin typeface="Courier"/>
              </a:rPr>
              <a:t>(</a:t>
            </a:r>
            <a:br/>
            <a:r>
              <a:rPr>
                <a:solidFill>
                  <a:srgbClr val="CCCCCC"/>
                </a:solidFill>
                <a:latin typeface="Courier"/>
              </a:rPr>
              <a:t>    </a:t>
            </a:r>
            <a:r>
              <a:rPr>
                <a:solidFill>
                  <a:srgbClr val="CC9393"/>
                </a:solidFill>
                <a:latin typeface="Courier"/>
              </a:rPr>
              <a:t>"github.com/anthropics/mcp-go"</a:t>
            </a:r>
            <a:br/>
            <a:r>
              <a:rPr>
                <a:solidFill>
                  <a:srgbClr val="F0EFD0"/>
                </a:solidFill>
                <a:latin typeface="Courier"/>
              </a:rPr>
              <a:t>)</a:t>
            </a:r>
            <a:br/>
            <a:br/>
            <a:r>
              <a:rPr>
                <a:solidFill>
                  <a:srgbClr val="F0DFAF"/>
                </a:solidFill>
                <a:latin typeface="Courier"/>
              </a:rPr>
              <a:t>func</a:t>
            </a:r>
            <a:r>
              <a:rPr>
                <a:solidFill>
                  <a:srgbClr val="CCCCCC"/>
                </a:solidFill>
                <a:latin typeface="Courier"/>
              </a:rPr>
              <a:t> main</a:t>
            </a:r>
            <a:r>
              <a:rPr>
                <a:solidFill>
                  <a:srgbClr val="F0EFD0"/>
                </a:solidFill>
                <a:latin typeface="Courier"/>
              </a:rPr>
              <a:t>()</a:t>
            </a:r>
            <a:r>
              <a:rPr>
                <a:solidFill>
                  <a:srgbClr val="CCCCCC"/>
                </a:solidFill>
                <a:latin typeface="Courier"/>
              </a:rPr>
              <a:t> </a:t>
            </a:r>
            <a:r>
              <a:rPr>
                <a:solidFill>
                  <a:srgbClr val="F0EFD0"/>
                </a:solidFill>
                <a:latin typeface="Courier"/>
              </a:rPr>
              <a:t>{</a:t>
            </a:r>
            <a:br/>
            <a:r>
              <a:rPr>
                <a:solidFill>
                  <a:srgbClr val="CCCCCC"/>
                </a:solidFill>
                <a:latin typeface="Courier"/>
              </a:rPr>
              <a:t>    server </a:t>
            </a:r>
            <a:r>
              <a:rPr>
                <a:solidFill>
                  <a:srgbClr val="F0EFD0"/>
                </a:solidFill>
                <a:latin typeface="Courier"/>
              </a:rPr>
              <a:t>:=</a:t>
            </a:r>
            <a:r>
              <a:rPr>
                <a:solidFill>
                  <a:srgbClr val="CCCCCC"/>
                </a:solidFill>
                <a:latin typeface="Courier"/>
              </a:rPr>
              <a:t> mcp</a:t>
            </a:r>
            <a:r>
              <a:rPr>
                <a:solidFill>
                  <a:srgbClr val="F0EFD0"/>
                </a:solidFill>
                <a:latin typeface="Courier"/>
              </a:rPr>
              <a:t>.</a:t>
            </a:r>
            <a:r>
              <a:rPr>
                <a:solidFill>
                  <a:srgbClr val="CCCCCC"/>
                </a:solidFill>
                <a:latin typeface="Courier"/>
              </a:rPr>
              <a:t>NewServer</a:t>
            </a:r>
            <a:r>
              <a:rPr>
                <a:solidFill>
                  <a:srgbClr val="F0EFD0"/>
                </a:solidFill>
                <a:latin typeface="Courier"/>
              </a:rPr>
              <a:t>(</a:t>
            </a:r>
            <a:r>
              <a:rPr>
                <a:solidFill>
                  <a:srgbClr val="CC9393"/>
                </a:solidFill>
                <a:latin typeface="Courier"/>
              </a:rPr>
              <a:t>"my-server"</a:t>
            </a:r>
            <a:r>
              <a:rPr>
                <a:solidFill>
                  <a:srgbClr val="F0EFD0"/>
                </a:solidFill>
                <a:latin typeface="Courier"/>
              </a:rPr>
              <a:t>)</a:t>
            </a:r>
            <a:br/>
            <a:br/>
            <a:r>
              <a:rPr>
                <a:solidFill>
                  <a:srgbClr val="CCCCCC"/>
                </a:solidFill>
                <a:latin typeface="Courier"/>
              </a:rPr>
              <a:t>    </a:t>
            </a:r>
            <a:r>
              <a:rPr>
                <a:solidFill>
                  <a:srgbClr val="7F9F7F"/>
                </a:solidFill>
                <a:latin typeface="Courier"/>
              </a:rPr>
              <a:t>// Enregistrer un outil</a:t>
            </a:r>
            <a:br/>
            <a:r>
              <a:rPr>
                <a:solidFill>
                  <a:srgbClr val="CCCCCC"/>
                </a:solidFill>
                <a:latin typeface="Courier"/>
              </a:rPr>
              <a:t>    server</a:t>
            </a:r>
            <a:r>
              <a:rPr>
                <a:solidFill>
                  <a:srgbClr val="F0EFD0"/>
                </a:solidFill>
                <a:latin typeface="Courier"/>
              </a:rPr>
              <a:t>.</a:t>
            </a:r>
            <a:r>
              <a:rPr>
                <a:solidFill>
                  <a:srgbClr val="CCCCCC"/>
                </a:solidFill>
                <a:latin typeface="Courier"/>
              </a:rPr>
              <a:t>RegisterTool</a:t>
            </a:r>
            <a:r>
              <a:rPr>
                <a:solidFill>
                  <a:srgbClr val="F0EFD0"/>
                </a:solidFill>
                <a:latin typeface="Courier"/>
              </a:rPr>
              <a:t>(</a:t>
            </a:r>
            <a:r>
              <a:rPr>
                <a:solidFill>
                  <a:srgbClr val="CCCCCC"/>
                </a:solidFill>
                <a:latin typeface="Courier"/>
              </a:rPr>
              <a:t>mcp</a:t>
            </a:r>
            <a:r>
              <a:rPr>
                <a:solidFill>
                  <a:srgbClr val="F0EFD0"/>
                </a:solidFill>
                <a:latin typeface="Courier"/>
              </a:rPr>
              <a:t>.</a:t>
            </a:r>
            <a:r>
              <a:rPr>
                <a:solidFill>
                  <a:srgbClr val="CCCCCC"/>
                </a:solidFill>
                <a:latin typeface="Courier"/>
              </a:rPr>
              <a:t>Tool</a:t>
            </a:r>
            <a:r>
              <a:rPr>
                <a:solidFill>
                  <a:srgbClr val="F0EFD0"/>
                </a:solidFill>
                <a:latin typeface="Courier"/>
              </a:rPr>
              <a:t>{</a:t>
            </a:r>
            <a:br/>
            <a:r>
              <a:rPr>
                <a:solidFill>
                  <a:srgbClr val="CCCCCC"/>
                </a:solidFill>
                <a:latin typeface="Courier"/>
              </a:rPr>
              <a:t>        Name</a:t>
            </a:r>
            <a:r>
              <a:rPr>
                <a:solidFill>
                  <a:srgbClr val="F0EFD0"/>
                </a:solidFill>
                <a:latin typeface="Courier"/>
              </a:rPr>
              <a:t>:</a:t>
            </a:r>
            <a:r>
              <a:rPr>
                <a:solidFill>
                  <a:srgbClr val="CCCCCC"/>
                </a:solidFill>
                <a:latin typeface="Courier"/>
              </a:rPr>
              <a:t>        </a:t>
            </a:r>
            <a:r>
              <a:rPr>
                <a:solidFill>
                  <a:srgbClr val="CC9393"/>
                </a:solidFill>
                <a:latin typeface="Courier"/>
              </a:rPr>
              <a:t>"my_tool"</a:t>
            </a:r>
            <a:r>
              <a:rPr>
                <a:solidFill>
                  <a:srgbClr val="F0EFD0"/>
                </a:solidFill>
                <a:latin typeface="Courier"/>
              </a:rPr>
              <a:t>,</a:t>
            </a:r>
            <a:br/>
            <a:r>
              <a:rPr>
                <a:solidFill>
                  <a:srgbClr val="CCCCCC"/>
                </a:solidFill>
                <a:latin typeface="Courier"/>
              </a:rPr>
              <a:t>        Description</a:t>
            </a:r>
            <a:r>
              <a:rPr>
                <a:solidFill>
                  <a:srgbClr val="F0EFD0"/>
                </a:solidFill>
                <a:latin typeface="Courier"/>
              </a:rPr>
              <a:t>:</a:t>
            </a:r>
            <a:r>
              <a:rPr>
                <a:solidFill>
                  <a:srgbClr val="CCCCCC"/>
                </a:solidFill>
                <a:latin typeface="Courier"/>
              </a:rPr>
              <a:t> </a:t>
            </a:r>
            <a:r>
              <a:rPr>
                <a:solidFill>
                  <a:srgbClr val="CC9393"/>
                </a:solidFill>
                <a:latin typeface="Courier"/>
              </a:rPr>
              <a:t>"Description de mon outil"</a:t>
            </a:r>
            <a:r>
              <a:rPr>
                <a:solidFill>
                  <a:srgbClr val="F0EFD0"/>
                </a:solidFill>
                <a:latin typeface="Courier"/>
              </a:rPr>
              <a:t>,</a:t>
            </a:r>
            <a:br/>
            <a:r>
              <a:rPr>
                <a:solidFill>
                  <a:srgbClr val="CCCCCC"/>
                </a:solidFill>
                <a:latin typeface="Courier"/>
              </a:rPr>
              <a:t>        InputSchema</a:t>
            </a:r>
            <a:r>
              <a:rPr>
                <a:solidFill>
                  <a:srgbClr val="F0EFD0"/>
                </a:solidFill>
                <a:latin typeface="Courier"/>
              </a:rPr>
              <a:t>:</a:t>
            </a:r>
            <a:r>
              <a:rPr>
                <a:solidFill>
                  <a:srgbClr val="CCCCCC"/>
                </a:solidFill>
                <a:latin typeface="Courier"/>
              </a:rPr>
              <a:t> </a:t>
            </a:r>
            <a:r>
              <a:rPr>
                <a:solidFill>
                  <a:srgbClr val="F0DFAF"/>
                </a:solidFill>
                <a:latin typeface="Courier"/>
              </a:rPr>
              <a:t>map</a:t>
            </a:r>
            <a:r>
              <a:rPr>
                <a:solidFill>
                  <a:srgbClr val="F0EFD0"/>
                </a:solidFill>
                <a:latin typeface="Courier"/>
              </a:rPr>
              <a:t>[</a:t>
            </a:r>
            <a:r>
              <a:rPr>
                <a:solidFill>
                  <a:srgbClr val="DFDFBF"/>
                </a:solidFill>
                <a:latin typeface="Courier"/>
              </a:rPr>
              <a:t>string</a:t>
            </a:r>
            <a:r>
              <a:rPr>
                <a:solidFill>
                  <a:srgbClr val="F0EFD0"/>
                </a:solidFill>
                <a:latin typeface="Courier"/>
              </a:rPr>
              <a:t>]</a:t>
            </a:r>
            <a:r>
              <a:rPr>
                <a:solidFill>
                  <a:srgbClr val="F0DFAF"/>
                </a:solidFill>
                <a:latin typeface="Courier"/>
              </a:rPr>
              <a:t>interface</a:t>
            </a:r>
            <a:r>
              <a:rPr>
                <a:solidFill>
                  <a:srgbClr val="F0EFD0"/>
                </a:solidFill>
                <a:latin typeface="Courier"/>
              </a:rPr>
              <a:t>{}{</a:t>
            </a:r>
            <a:br/>
            <a:r>
              <a:rPr>
                <a:solidFill>
                  <a:srgbClr val="CCCCCC"/>
                </a:solidFill>
                <a:latin typeface="Courier"/>
              </a:rPr>
              <a:t>            </a:t>
            </a:r>
            <a:r>
              <a:rPr>
                <a:solidFill>
                  <a:srgbClr val="CC9393"/>
                </a:solidFill>
                <a:latin typeface="Courier"/>
              </a:rPr>
              <a:t>"type"</a:t>
            </a:r>
            <a:r>
              <a:rPr>
                <a:solidFill>
                  <a:srgbClr val="F0EFD0"/>
                </a:solidFill>
                <a:latin typeface="Courier"/>
              </a:rPr>
              <a:t>:</a:t>
            </a:r>
            <a:r>
              <a:rPr>
                <a:solidFill>
                  <a:srgbClr val="CCCCCC"/>
                </a:solidFill>
                <a:latin typeface="Courier"/>
              </a:rPr>
              <a:t> </a:t>
            </a:r>
            <a:r>
              <a:rPr>
                <a:solidFill>
                  <a:srgbClr val="CC9393"/>
                </a:solidFill>
                <a:latin typeface="Courier"/>
              </a:rPr>
              <a:t>"object"</a:t>
            </a:r>
            <a:r>
              <a:rPr>
                <a:solidFill>
                  <a:srgbClr val="F0EFD0"/>
                </a:solidFill>
                <a:latin typeface="Courier"/>
              </a:rPr>
              <a:t>,</a:t>
            </a:r>
            <a:br/>
            <a:r>
              <a:rPr>
                <a:solidFill>
                  <a:srgbClr val="CCCCCC"/>
                </a:solidFill>
                <a:latin typeface="Courier"/>
              </a:rPr>
              <a:t>            </a:t>
            </a:r>
            <a:r>
              <a:rPr>
                <a:solidFill>
                  <a:srgbClr val="CC9393"/>
                </a:solidFill>
                <a:latin typeface="Courier"/>
              </a:rPr>
              <a:t>"properties"</a:t>
            </a:r>
            <a:r>
              <a:rPr>
                <a:solidFill>
                  <a:srgbClr val="F0EFD0"/>
                </a:solidFill>
                <a:latin typeface="Courier"/>
              </a:rPr>
              <a:t>:</a:t>
            </a:r>
            <a:r>
              <a:rPr>
                <a:solidFill>
                  <a:srgbClr val="CCCCCC"/>
                </a:solidFill>
                <a:latin typeface="Courier"/>
              </a:rPr>
              <a:t> </a:t>
            </a:r>
            <a:r>
              <a:rPr>
                <a:solidFill>
                  <a:srgbClr val="F0DFAF"/>
                </a:solidFill>
                <a:latin typeface="Courier"/>
              </a:rPr>
              <a:t>map</a:t>
            </a:r>
            <a:r>
              <a:rPr>
                <a:solidFill>
                  <a:srgbClr val="F0EFD0"/>
                </a:solidFill>
                <a:latin typeface="Courier"/>
              </a:rPr>
              <a:t>[</a:t>
            </a:r>
            <a:r>
              <a:rPr>
                <a:solidFill>
                  <a:srgbClr val="DFDFBF"/>
                </a:solidFill>
                <a:latin typeface="Courier"/>
              </a:rPr>
              <a:t>string</a:t>
            </a:r>
            <a:r>
              <a:rPr>
                <a:solidFill>
                  <a:srgbClr val="F0EFD0"/>
                </a:solidFill>
                <a:latin typeface="Courier"/>
              </a:rPr>
              <a:t>]</a:t>
            </a:r>
            <a:r>
              <a:rPr>
                <a:solidFill>
                  <a:srgbClr val="F0DFAF"/>
                </a:solidFill>
                <a:latin typeface="Courier"/>
              </a:rPr>
              <a:t>interface</a:t>
            </a:r>
            <a:r>
              <a:rPr>
                <a:solidFill>
                  <a:srgbClr val="F0EFD0"/>
                </a:solidFill>
                <a:latin typeface="Courier"/>
              </a:rPr>
              <a:t>{}{</a:t>
            </a:r>
            <a:br/>
            <a:r>
              <a:rPr>
                <a:solidFill>
                  <a:srgbClr val="CCCCCC"/>
                </a:solidFill>
                <a:latin typeface="Courier"/>
              </a:rPr>
              <a:t>                </a:t>
            </a:r>
            <a:r>
              <a:rPr>
                <a:solidFill>
                  <a:srgbClr val="CC9393"/>
                </a:solidFill>
                <a:latin typeface="Courier"/>
              </a:rPr>
              <a:t>"query"</a:t>
            </a:r>
            <a:r>
              <a:rPr>
                <a:solidFill>
                  <a:srgbClr val="F0EFD0"/>
                </a:solidFill>
                <a:latin typeface="Courier"/>
              </a:rPr>
              <a:t>:</a:t>
            </a:r>
            <a:r>
              <a:rPr>
                <a:solidFill>
                  <a:srgbClr val="CCCCCC"/>
                </a:solidFill>
                <a:latin typeface="Courier"/>
              </a:rPr>
              <a:t> </a:t>
            </a:r>
            <a:r>
              <a:rPr>
                <a:solidFill>
                  <a:srgbClr val="F0DFAF"/>
                </a:solidFill>
                <a:latin typeface="Courier"/>
              </a:rPr>
              <a:t>map</a:t>
            </a:r>
            <a:r>
              <a:rPr>
                <a:solidFill>
                  <a:srgbClr val="F0EFD0"/>
                </a:solidFill>
                <a:latin typeface="Courier"/>
              </a:rPr>
              <a:t>[</a:t>
            </a:r>
            <a:r>
              <a:rPr>
                <a:solidFill>
                  <a:srgbClr val="DFDFBF"/>
                </a:solidFill>
                <a:latin typeface="Courier"/>
              </a:rPr>
              <a:t>string</a:t>
            </a:r>
            <a:r>
              <a:rPr>
                <a:solidFill>
                  <a:srgbClr val="F0EFD0"/>
                </a:solidFill>
                <a:latin typeface="Courier"/>
              </a:rPr>
              <a:t>]</a:t>
            </a:r>
            <a:r>
              <a:rPr>
                <a:solidFill>
                  <a:srgbClr val="F0DFAF"/>
                </a:solidFill>
                <a:latin typeface="Courier"/>
              </a:rPr>
              <a:t>interface</a:t>
            </a:r>
            <a:r>
              <a:rPr>
                <a:solidFill>
                  <a:srgbClr val="F0EFD0"/>
                </a:solidFill>
                <a:latin typeface="Courier"/>
              </a:rPr>
              <a:t>{}{</a:t>
            </a:r>
            <a:br/>
            <a:r>
              <a:rPr>
                <a:solidFill>
                  <a:srgbClr val="CCCCCC"/>
                </a:solidFill>
                <a:latin typeface="Courier"/>
              </a:rPr>
              <a:t>                    </a:t>
            </a:r>
            <a:r>
              <a:rPr>
                <a:solidFill>
                  <a:srgbClr val="CC9393"/>
                </a:solidFill>
                <a:latin typeface="Courier"/>
              </a:rPr>
              <a:t>"type"</a:t>
            </a:r>
            <a:r>
              <a:rPr>
                <a:solidFill>
                  <a:srgbClr val="F0EFD0"/>
                </a:solidFill>
                <a:latin typeface="Courier"/>
              </a:rPr>
              <a:t>:</a:t>
            </a:r>
            <a:r>
              <a:rPr>
                <a:solidFill>
                  <a:srgbClr val="CCCCCC"/>
                </a:solidFill>
                <a:latin typeface="Courier"/>
              </a:rPr>
              <a:t>        </a:t>
            </a:r>
            <a:r>
              <a:rPr>
                <a:solidFill>
                  <a:srgbClr val="CC9393"/>
                </a:solidFill>
                <a:latin typeface="Courier"/>
              </a:rPr>
              <a:t>"string"</a:t>
            </a:r>
            <a:r>
              <a:rPr>
                <a:solidFill>
                  <a:srgbClr val="F0EFD0"/>
                </a:solidFill>
                <a:latin typeface="Courier"/>
              </a:rPr>
              <a:t>,</a:t>
            </a:r>
            <a:br/>
            <a:r>
              <a:rPr>
                <a:solidFill>
                  <a:srgbClr val="CCCCCC"/>
                </a:solidFill>
                <a:latin typeface="Courier"/>
              </a:rPr>
              <a:t>                    </a:t>
            </a:r>
            <a:r>
              <a:rPr>
                <a:solidFill>
                  <a:srgbClr val="CC9393"/>
                </a:solidFill>
                <a:latin typeface="Courier"/>
              </a:rPr>
              <a:t>"description"</a:t>
            </a:r>
            <a:r>
              <a:rPr>
                <a:solidFill>
                  <a:srgbClr val="F0EFD0"/>
                </a:solidFill>
                <a:latin typeface="Courier"/>
              </a:rPr>
              <a:t>:</a:t>
            </a:r>
            <a:r>
              <a:rPr>
                <a:solidFill>
                  <a:srgbClr val="CCCCCC"/>
                </a:solidFill>
                <a:latin typeface="Courier"/>
              </a:rPr>
              <a:t> </a:t>
            </a:r>
            <a:r>
              <a:rPr>
                <a:solidFill>
                  <a:srgbClr val="CC9393"/>
                </a:solidFill>
                <a:latin typeface="Courier"/>
              </a:rPr>
              <a:t>"La requête"</a:t>
            </a:r>
            <a:r>
              <a:rPr>
                <a:solidFill>
                  <a:srgbClr val="F0EFD0"/>
                </a:solidFill>
                <a:latin typeface="Courier"/>
              </a:rPr>
              <a:t>,</a:t>
            </a:r>
            <a:br/>
            <a:r>
              <a:rPr>
                <a:solidFill>
                  <a:srgbClr val="CCCCCC"/>
                </a:solidFill>
                <a:latin typeface="Courier"/>
              </a:rPr>
              <a:t>                </a:t>
            </a:r>
            <a:r>
              <a:rPr>
                <a:solidFill>
                  <a:srgbClr val="F0EFD0"/>
                </a:solidFill>
                <a:latin typeface="Courier"/>
              </a:rPr>
              <a:t>},</a:t>
            </a:r>
            <a:br/>
            <a:r>
              <a:rPr>
                <a:solidFill>
                  <a:srgbClr val="CCCCCC"/>
                </a:solidFill>
                <a:latin typeface="Courier"/>
              </a:rPr>
              <a:t>            </a:t>
            </a:r>
            <a:r>
              <a:rPr>
                <a:solidFill>
                  <a:srgbClr val="F0EFD0"/>
                </a:solidFill>
                <a:latin typeface="Courier"/>
              </a:rPr>
              <a:t>},</a:t>
            </a:r>
            <a:br/>
            <a:r>
              <a:rPr>
                <a:solidFill>
                  <a:srgbClr val="CCCCCC"/>
                </a:solidFill>
                <a:latin typeface="Courier"/>
              </a:rPr>
              <a:t>            </a:t>
            </a:r>
            <a:r>
              <a:rPr>
                <a:solidFill>
                  <a:srgbClr val="CC9393"/>
                </a:solidFill>
                <a:latin typeface="Courier"/>
              </a:rPr>
              <a:t>"required"</a:t>
            </a:r>
            <a:r>
              <a:rPr>
                <a:solidFill>
                  <a:srgbClr val="F0EFD0"/>
                </a:solidFill>
                <a:latin typeface="Courier"/>
              </a:rPr>
              <a:t>:</a:t>
            </a:r>
            <a:r>
              <a:rPr>
                <a:solidFill>
                  <a:srgbClr val="CCCCCC"/>
                </a:solidFill>
                <a:latin typeface="Courier"/>
              </a:rPr>
              <a:t> </a:t>
            </a:r>
            <a:r>
              <a:rPr>
                <a:solidFill>
                  <a:srgbClr val="F0EFD0"/>
                </a:solidFill>
                <a:latin typeface="Courier"/>
              </a:rPr>
              <a:t>[]</a:t>
            </a:r>
            <a:r>
              <a:rPr>
                <a:solidFill>
                  <a:srgbClr val="DFDFBF"/>
                </a:solidFill>
                <a:latin typeface="Courier"/>
              </a:rPr>
              <a:t>string</a:t>
            </a:r>
            <a:r>
              <a:rPr>
                <a:solidFill>
                  <a:srgbClr val="F0EFD0"/>
                </a:solidFill>
                <a:latin typeface="Courier"/>
              </a:rPr>
              <a:t>{</a:t>
            </a:r>
            <a:r>
              <a:rPr>
                <a:solidFill>
                  <a:srgbClr val="CC9393"/>
                </a:solidFill>
                <a:latin typeface="Courier"/>
              </a:rPr>
              <a:t>"query"</a:t>
            </a:r>
            <a:r>
              <a:rPr>
                <a:solidFill>
                  <a:srgbClr val="F0EFD0"/>
                </a:solidFill>
                <a:latin typeface="Courier"/>
              </a:rPr>
              <a:t>},</a:t>
            </a:r>
            <a:br/>
            <a:r>
              <a:rPr>
                <a:solidFill>
                  <a:srgbClr val="CCCCCC"/>
                </a:solidFill>
                <a:latin typeface="Courier"/>
              </a:rPr>
              <a:t>        </a:t>
            </a:r>
            <a:r>
              <a:rPr>
                <a:solidFill>
                  <a:srgbClr val="F0EFD0"/>
                </a:solidFill>
                <a:latin typeface="Courier"/>
              </a:rPr>
              <a:t>},</a:t>
            </a:r>
            <a:br/>
            <a:r>
              <a:rPr>
                <a:solidFill>
                  <a:srgbClr val="CCCCCC"/>
                </a:solidFill>
                <a:latin typeface="Courier"/>
              </a:rPr>
              <a:t>        Handler</a:t>
            </a:r>
            <a:r>
              <a:rPr>
                <a:solidFill>
                  <a:srgbClr val="F0EFD0"/>
                </a:solidFill>
                <a:latin typeface="Courier"/>
              </a:rPr>
              <a:t>:</a:t>
            </a:r>
            <a:r>
              <a:rPr>
                <a:solidFill>
                  <a:srgbClr val="CCCCCC"/>
                </a:solidFill>
                <a:latin typeface="Courier"/>
              </a:rPr>
              <a:t> </a:t>
            </a:r>
            <a:r>
              <a:rPr>
                <a:solidFill>
                  <a:srgbClr val="F0DFAF"/>
                </a:solidFill>
                <a:latin typeface="Courier"/>
              </a:rPr>
              <a:t>func</a:t>
            </a:r>
            <a:r>
              <a:rPr>
                <a:solidFill>
                  <a:srgbClr val="F0EFD0"/>
                </a:solidFill>
                <a:latin typeface="Courier"/>
              </a:rPr>
              <a:t>(</a:t>
            </a:r>
            <a:r>
              <a:rPr>
                <a:solidFill>
                  <a:srgbClr val="CCCCCC"/>
                </a:solidFill>
                <a:latin typeface="Courier"/>
              </a:rPr>
              <a:t>input </a:t>
            </a:r>
            <a:r>
              <a:rPr>
                <a:solidFill>
                  <a:srgbClr val="F0DFAF"/>
                </a:solidFill>
                <a:latin typeface="Courier"/>
              </a:rPr>
              <a:t>map</a:t>
            </a:r>
            <a:r>
              <a:rPr>
                <a:solidFill>
                  <a:srgbClr val="F0EFD0"/>
                </a:solidFill>
                <a:latin typeface="Courier"/>
              </a:rPr>
              <a:t>[</a:t>
            </a:r>
            <a:r>
              <a:rPr>
                <a:solidFill>
                  <a:srgbClr val="DFDFBF"/>
                </a:solidFill>
                <a:latin typeface="Courier"/>
              </a:rPr>
              <a:t>string</a:t>
            </a:r>
            <a:r>
              <a:rPr>
                <a:solidFill>
                  <a:srgbClr val="F0EFD0"/>
                </a:solidFill>
                <a:latin typeface="Courier"/>
              </a:rPr>
              <a:t>]</a:t>
            </a:r>
            <a:r>
              <a:rPr>
                <a:solidFill>
                  <a:srgbClr val="F0DFAF"/>
                </a:solidFill>
                <a:latin typeface="Courier"/>
              </a:rPr>
              <a:t>interface</a:t>
            </a:r>
            <a:r>
              <a:rPr>
                <a:solidFill>
                  <a:srgbClr val="F0EFD0"/>
                </a:solidFill>
                <a:latin typeface="Courier"/>
              </a:rPr>
              <a:t>{})</a:t>
            </a:r>
            <a:r>
              <a:rPr>
                <a:solidFill>
                  <a:srgbClr val="CCCCCC"/>
                </a:solidFill>
                <a:latin typeface="Courier"/>
              </a:rPr>
              <a:t> </a:t>
            </a:r>
            <a:r>
              <a:rPr>
                <a:solidFill>
                  <a:srgbClr val="F0EFD0"/>
                </a:solidFill>
                <a:latin typeface="Courier"/>
              </a:rPr>
              <a:t>(</a:t>
            </a:r>
            <a:r>
              <a:rPr>
                <a:solidFill>
                  <a:srgbClr val="F0DFAF"/>
                </a:solidFill>
                <a:latin typeface="Courier"/>
              </a:rPr>
              <a:t>interface</a:t>
            </a:r>
            <a:r>
              <a:rPr>
                <a:solidFill>
                  <a:srgbClr val="F0EFD0"/>
                </a:solidFill>
                <a:latin typeface="Courier"/>
              </a:rPr>
              <a:t>{},</a:t>
            </a:r>
            <a:r>
              <a:rPr>
                <a:solidFill>
                  <a:srgbClr val="CCCCCC"/>
                </a:solidFill>
                <a:latin typeface="Courier"/>
              </a:rPr>
              <a:t> </a:t>
            </a:r>
            <a:r>
              <a:rPr>
                <a:solidFill>
                  <a:srgbClr val="DFDFBF"/>
                </a:solidFill>
                <a:latin typeface="Courier"/>
              </a:rPr>
              <a:t>error</a:t>
            </a:r>
            <a:r>
              <a:rPr>
                <a:solidFill>
                  <a:srgbClr val="F0EFD0"/>
                </a:solidFill>
                <a:latin typeface="Courier"/>
              </a:rPr>
              <a:t>)</a:t>
            </a:r>
            <a:r>
              <a:rPr>
                <a:solidFill>
                  <a:srgbClr val="CCCCCC"/>
                </a:solidFill>
                <a:latin typeface="Courier"/>
              </a:rPr>
              <a:t> </a:t>
            </a:r>
            <a:r>
              <a:rPr>
                <a:solidFill>
                  <a:srgbClr val="F0EFD0"/>
                </a:solidFill>
                <a:latin typeface="Courier"/>
              </a:rPr>
              <a:t>{</a:t>
            </a:r>
            <a:br/>
            <a:r>
              <a:rPr>
                <a:solidFill>
                  <a:srgbClr val="CCCCCC"/>
                </a:solidFill>
                <a:latin typeface="Courier"/>
              </a:rPr>
              <a:t>            query </a:t>
            </a:r>
            <a:r>
              <a:rPr>
                <a:solidFill>
                  <a:srgbClr val="F0EFD0"/>
                </a:solidFill>
                <a:latin typeface="Courier"/>
              </a:rPr>
              <a:t>:=</a:t>
            </a:r>
            <a:r>
              <a:rPr>
                <a:solidFill>
                  <a:srgbClr val="CCCCCC"/>
                </a:solidFill>
                <a:latin typeface="Courier"/>
              </a:rPr>
              <a:t> input</a:t>
            </a:r>
            <a:r>
              <a:rPr>
                <a:solidFill>
                  <a:srgbClr val="F0EFD0"/>
                </a:solidFill>
                <a:latin typeface="Courier"/>
              </a:rPr>
              <a:t>[</a:t>
            </a:r>
            <a:r>
              <a:rPr>
                <a:solidFill>
                  <a:srgbClr val="CC9393"/>
                </a:solidFill>
                <a:latin typeface="Courier"/>
              </a:rPr>
              <a:t>"query"</a:t>
            </a:r>
            <a:r>
              <a:rPr>
                <a:solidFill>
                  <a:srgbClr val="F0EFD0"/>
                </a:solidFill>
                <a:latin typeface="Courier"/>
              </a:rPr>
              <a:t>].(</a:t>
            </a:r>
            <a:r>
              <a:rPr>
                <a:solidFill>
                  <a:srgbClr val="DFDFBF"/>
                </a:solidFill>
                <a:latin typeface="Courier"/>
              </a:rPr>
              <a:t>string</a:t>
            </a:r>
            <a:r>
              <a:rPr>
                <a:solidFill>
                  <a:srgbClr val="F0EFD0"/>
                </a:solidFill>
                <a:latin typeface="Courier"/>
              </a:rPr>
              <a:t>)</a:t>
            </a:r>
            <a:br/>
            <a:r>
              <a:rPr>
                <a:solidFill>
                  <a:srgbClr val="CCCCCC"/>
                </a:solidFill>
                <a:latin typeface="Courier"/>
              </a:rPr>
              <a:t>            </a:t>
            </a:r>
            <a:r>
              <a:rPr>
                <a:solidFill>
                  <a:srgbClr val="7F9F7F"/>
                </a:solidFill>
                <a:latin typeface="Courier"/>
              </a:rPr>
              <a:t>// Traiter la requête</a:t>
            </a:r>
            <a:br/>
            <a:r>
              <a:rPr>
                <a:solidFill>
                  <a:srgbClr val="CCCCCC"/>
                </a:solidFill>
                <a:latin typeface="Courier"/>
              </a:rPr>
              <a:t>            </a:t>
            </a:r>
            <a:r>
              <a:rPr>
                <a:solidFill>
                  <a:srgbClr val="F0DFAF"/>
                </a:solidFill>
                <a:latin typeface="Courier"/>
              </a:rPr>
              <a:t>return</a:t>
            </a:r>
            <a:r>
              <a:rPr>
                <a:solidFill>
                  <a:srgbClr val="CCCCCC"/>
                </a:solidFill>
                <a:latin typeface="Courier"/>
              </a:rPr>
              <a:t> </a:t>
            </a:r>
            <a:r>
              <a:rPr>
                <a:solidFill>
                  <a:srgbClr val="F0DFAF"/>
                </a:solidFill>
                <a:latin typeface="Courier"/>
              </a:rPr>
              <a:t>map</a:t>
            </a:r>
            <a:r>
              <a:rPr>
                <a:solidFill>
                  <a:srgbClr val="F0EFD0"/>
                </a:solidFill>
                <a:latin typeface="Courier"/>
              </a:rPr>
              <a:t>[</a:t>
            </a:r>
            <a:r>
              <a:rPr>
                <a:solidFill>
                  <a:srgbClr val="DFDFBF"/>
                </a:solidFill>
                <a:latin typeface="Courier"/>
              </a:rPr>
              <a:t>string</a:t>
            </a:r>
            <a:r>
              <a:rPr>
                <a:solidFill>
                  <a:srgbClr val="F0EFD0"/>
                </a:solidFill>
                <a:latin typeface="Courier"/>
              </a:rPr>
              <a:t>]</a:t>
            </a:r>
            <a:r>
              <a:rPr>
                <a:solidFill>
                  <a:srgbClr val="F0DFAF"/>
                </a:solidFill>
                <a:latin typeface="Courier"/>
              </a:rPr>
              <a:t>interface</a:t>
            </a:r>
            <a:r>
              <a:rPr>
                <a:solidFill>
                  <a:srgbClr val="F0EFD0"/>
                </a:solidFill>
                <a:latin typeface="Courier"/>
              </a:rPr>
              <a:t>{}{</a:t>
            </a:r>
            <a:br/>
            <a:r>
              <a:rPr>
                <a:solidFill>
                  <a:srgbClr val="CCCCCC"/>
                </a:solidFill>
                <a:latin typeface="Courier"/>
              </a:rPr>
              <a:t>                </a:t>
            </a:r>
            <a:r>
              <a:rPr>
                <a:solidFill>
                  <a:srgbClr val="CC9393"/>
                </a:solidFill>
                <a:latin typeface="Courier"/>
              </a:rPr>
              <a:t>"result"</a:t>
            </a:r>
            <a:r>
              <a:rPr>
                <a:solidFill>
                  <a:srgbClr val="F0EFD0"/>
                </a:solidFill>
                <a:latin typeface="Courier"/>
              </a:rPr>
              <a:t>:</a:t>
            </a:r>
            <a:r>
              <a:rPr>
                <a:solidFill>
                  <a:srgbClr val="CCCCCC"/>
                </a:solidFill>
                <a:latin typeface="Courier"/>
              </a:rPr>
              <a:t> </a:t>
            </a:r>
            <a:r>
              <a:rPr>
                <a:solidFill>
                  <a:srgbClr val="CC9393"/>
                </a:solidFill>
                <a:latin typeface="Courier"/>
              </a:rPr>
              <a:t>"Résultat pour: "</a:t>
            </a:r>
            <a:r>
              <a:rPr>
                <a:solidFill>
                  <a:srgbClr val="CCCCCC"/>
                </a:solidFill>
                <a:latin typeface="Courier"/>
              </a:rPr>
              <a:t> </a:t>
            </a:r>
            <a:r>
              <a:rPr>
                <a:solidFill>
                  <a:srgbClr val="F0EFD0"/>
                </a:solidFill>
                <a:latin typeface="Courier"/>
              </a:rPr>
              <a:t>+</a:t>
            </a:r>
            <a:r>
              <a:rPr>
                <a:solidFill>
                  <a:srgbClr val="CCCCCC"/>
                </a:solidFill>
                <a:latin typeface="Courier"/>
              </a:rPr>
              <a:t> query</a:t>
            </a:r>
            <a:r>
              <a:rPr>
                <a:solidFill>
                  <a:srgbClr val="F0EFD0"/>
                </a:solidFill>
                <a:latin typeface="Courier"/>
              </a:rPr>
              <a:t>,</a:t>
            </a:r>
            <a:br/>
            <a:r>
              <a:rPr>
                <a:solidFill>
                  <a:srgbClr val="CCCCCC"/>
                </a:solidFill>
                <a:latin typeface="Courier"/>
              </a:rPr>
              <a:t>            </a:t>
            </a:r>
            <a:r>
              <a:rPr>
                <a:solidFill>
                  <a:srgbClr val="F0EFD0"/>
                </a:solidFill>
                <a:latin typeface="Courier"/>
              </a:rPr>
              <a:t>},</a:t>
            </a:r>
            <a:r>
              <a:rPr>
                <a:solidFill>
                  <a:srgbClr val="CCCCCC"/>
                </a:solidFill>
                <a:latin typeface="Courier"/>
              </a:rPr>
              <a:t> </a:t>
            </a:r>
            <a:r>
              <a:rPr>
                <a:solidFill>
                  <a:srgbClr val="EFEF8F"/>
                </a:solidFill>
                <a:latin typeface="Courier"/>
              </a:rPr>
              <a:t>nil</a:t>
            </a:r>
            <a:br/>
            <a:r>
              <a:rPr>
                <a:solidFill>
                  <a:srgbClr val="CCCCCC"/>
                </a:solidFill>
                <a:latin typeface="Courier"/>
              </a:rPr>
              <a:t>        </a:t>
            </a:r>
            <a:r>
              <a:rPr>
                <a:solidFill>
                  <a:srgbClr val="F0EFD0"/>
                </a:solidFill>
                <a:latin typeface="Courier"/>
              </a:rPr>
              <a:t>},</a:t>
            </a:r>
            <a:br/>
            <a:r>
              <a:rPr>
                <a:solidFill>
                  <a:srgbClr val="CCCCCC"/>
                </a:solidFill>
                <a:latin typeface="Courier"/>
              </a:rPr>
              <a:t>    </a:t>
            </a:r>
            <a:r>
              <a:rPr>
                <a:solidFill>
                  <a:srgbClr val="F0EFD0"/>
                </a:solidFill>
                <a:latin typeface="Courier"/>
              </a:rPr>
              <a:t>})</a:t>
            </a:r>
            <a:br/>
            <a:br/>
            <a:r>
              <a:rPr>
                <a:solidFill>
                  <a:srgbClr val="CCCCCC"/>
                </a:solidFill>
                <a:latin typeface="Courier"/>
              </a:rPr>
              <a:t>    </a:t>
            </a:r>
            <a:r>
              <a:rPr>
                <a:solidFill>
                  <a:srgbClr val="7F9F7F"/>
                </a:solidFill>
                <a:latin typeface="Courier"/>
              </a:rPr>
              <a:t>// Démarrer le serveur</a:t>
            </a:r>
            <a:br/>
            <a:r>
              <a:rPr>
                <a:solidFill>
                  <a:srgbClr val="CCCCCC"/>
                </a:solidFill>
                <a:latin typeface="Courier"/>
              </a:rPr>
              <a:t>    server</a:t>
            </a:r>
            <a:r>
              <a:rPr>
                <a:solidFill>
                  <a:srgbClr val="F0EFD0"/>
                </a:solidFill>
                <a:latin typeface="Courier"/>
              </a:rPr>
              <a:t>.</a:t>
            </a:r>
            <a:r>
              <a:rPr>
                <a:solidFill>
                  <a:srgbClr val="CCCCCC"/>
                </a:solidFill>
                <a:latin typeface="Courier"/>
              </a:rPr>
              <a:t>Run</a:t>
            </a:r>
            <a:r>
              <a:rPr>
                <a:solidFill>
                  <a:srgbClr val="F0EFD0"/>
                </a:solidFill>
                <a:latin typeface="Courier"/>
              </a:rPr>
              <a:t>()</a:t>
            </a:r>
            <a:br/>
            <a:r>
              <a:rPr>
                <a:solidFill>
                  <a:srgbClr val="F0EFD0"/>
                </a:solidFill>
                <a:latin typeface="Courier"/>
              </a:rPr>
              <a:t>}</a:t>
            </a:r>
          </a:p>
          <a:p>
            <a:pPr lvl="0" indent="0" marL="0">
              <a:buNone/>
            </a:pPr>
            <a:r>
              <a:rPr b="1"/>
              <a:t>Fichier manifest (mcp.json)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"name"</a:t>
            </a:r>
            <a:r>
              <a:rPr>
                <a:solidFill>
                  <a:srgbClr val="EFEF8F"/>
                </a:solidFill>
                <a:latin typeface="Courier"/>
              </a:rPr>
              <a:t>:</a:t>
            </a:r>
            <a:r>
              <a:rPr>
                <a:solidFill>
                  <a:srgbClr val="CCCCCC"/>
                </a:solidFill>
                <a:latin typeface="Courier"/>
              </a:rPr>
              <a:t> </a:t>
            </a:r>
            <a:r>
              <a:rPr>
                <a:solidFill>
                  <a:srgbClr val="CC9393"/>
                </a:solidFill>
                <a:latin typeface="Courier"/>
              </a:rPr>
              <a:t>"my-server"</a:t>
            </a:r>
            <a:r>
              <a:rPr>
                <a:solidFill>
                  <a:srgbClr val="EFEF8F"/>
                </a:solidFill>
                <a:latin typeface="Courier"/>
              </a:rPr>
              <a:t>,</a:t>
            </a:r>
            <a:br/>
            <a:r>
              <a:rPr>
                <a:solidFill>
                  <a:srgbClr val="CCCCCC"/>
                </a:solidFill>
                <a:latin typeface="Courier"/>
              </a:rPr>
              <a:t>  </a:t>
            </a:r>
            <a:r>
              <a:rPr>
                <a:solidFill>
                  <a:srgbClr val="DFDFBF"/>
                </a:solidFill>
                <a:latin typeface="Courier"/>
              </a:rPr>
              <a:t>"version"</a:t>
            </a:r>
            <a:r>
              <a:rPr>
                <a:solidFill>
                  <a:srgbClr val="EFEF8F"/>
                </a:solidFill>
                <a:latin typeface="Courier"/>
              </a:rPr>
              <a:t>:</a:t>
            </a:r>
            <a:r>
              <a:rPr>
                <a:solidFill>
                  <a:srgbClr val="CCCCCC"/>
                </a:solidFill>
                <a:latin typeface="Courier"/>
              </a:rPr>
              <a:t> </a:t>
            </a:r>
            <a:r>
              <a:rPr>
                <a:solidFill>
                  <a:srgbClr val="CC9393"/>
                </a:solidFill>
                <a:latin typeface="Courier"/>
              </a:rPr>
              <a:t>"1.0.0"</a:t>
            </a:r>
            <a:r>
              <a:rPr>
                <a:solidFill>
                  <a:srgbClr val="EFEF8F"/>
                </a:solidFill>
                <a:latin typeface="Courier"/>
              </a:rPr>
              <a:t>,</a:t>
            </a:r>
            <a:br/>
            <a:r>
              <a:rPr>
                <a:solidFill>
                  <a:srgbClr val="CCCCCC"/>
                </a:solidFill>
                <a:latin typeface="Courier"/>
              </a:rPr>
              <a:t>  </a:t>
            </a:r>
            <a:r>
              <a:rPr>
                <a:solidFill>
                  <a:srgbClr val="DFDFBF"/>
                </a:solidFill>
                <a:latin typeface="Courier"/>
              </a:rPr>
              <a:t>"description"</a:t>
            </a:r>
            <a:r>
              <a:rPr>
                <a:solidFill>
                  <a:srgbClr val="EFEF8F"/>
                </a:solidFill>
                <a:latin typeface="Courier"/>
              </a:rPr>
              <a:t>:</a:t>
            </a:r>
            <a:r>
              <a:rPr>
                <a:solidFill>
                  <a:srgbClr val="CCCCCC"/>
                </a:solidFill>
                <a:latin typeface="Courier"/>
              </a:rPr>
              <a:t> </a:t>
            </a:r>
            <a:r>
              <a:rPr>
                <a:solidFill>
                  <a:srgbClr val="CC9393"/>
                </a:solidFill>
                <a:latin typeface="Courier"/>
              </a:rPr>
              <a:t>"Mon serveur MCP personnalisé"</a:t>
            </a:r>
            <a:r>
              <a:rPr>
                <a:solidFill>
                  <a:srgbClr val="EFEF8F"/>
                </a:solidFill>
                <a:latin typeface="Courier"/>
              </a:rPr>
              <a:t>,</a:t>
            </a:r>
            <a:br/>
            <a:r>
              <a:rPr>
                <a:solidFill>
                  <a:srgbClr val="CCCCCC"/>
                </a:solidFill>
                <a:latin typeface="Courier"/>
              </a:rPr>
              <a:t>  </a:t>
            </a:r>
            <a:r>
              <a:rPr>
                <a:solidFill>
                  <a:srgbClr val="DFDFBF"/>
                </a:solidFill>
                <a:latin typeface="Courier"/>
              </a:rPr>
              <a:t>"transport"</a:t>
            </a:r>
            <a:r>
              <a:rPr>
                <a:solidFill>
                  <a:srgbClr val="EFEF8F"/>
                </a:solidFill>
                <a:latin typeface="Courier"/>
              </a:rPr>
              <a:t>:</a:t>
            </a:r>
            <a:r>
              <a:rPr>
                <a:solidFill>
                  <a:srgbClr val="CCCCCC"/>
                </a:solidFill>
                <a:latin typeface="Courier"/>
              </a:rPr>
              <a:t> </a:t>
            </a:r>
            <a:r>
              <a:rPr>
                <a:solidFill>
                  <a:srgbClr val="CC9393"/>
                </a:solidFill>
                <a:latin typeface="Courier"/>
              </a:rPr>
              <a:t>"stdio"</a:t>
            </a:r>
            <a:r>
              <a:rPr>
                <a:solidFill>
                  <a:srgbClr val="EFEF8F"/>
                </a:solidFill>
                <a:latin typeface="Courier"/>
              </a:rPr>
              <a:t>,</a:t>
            </a:r>
            <a:br/>
            <a:r>
              <a:rPr>
                <a:solidFill>
                  <a:srgbClr val="CCCCCC"/>
                </a:solidFill>
                <a:latin typeface="Courier"/>
              </a:rPr>
              <a:t>  </a:t>
            </a:r>
            <a:r>
              <a:rPr>
                <a:solidFill>
                  <a:srgbClr val="DFDFBF"/>
                </a:solidFill>
                <a:latin typeface="Courier"/>
              </a:rPr>
              <a:t>"tools"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"name"</a:t>
            </a:r>
            <a:r>
              <a:rPr>
                <a:solidFill>
                  <a:srgbClr val="EFEF8F"/>
                </a:solidFill>
                <a:latin typeface="Courier"/>
              </a:rPr>
              <a:t>:</a:t>
            </a:r>
            <a:r>
              <a:rPr>
                <a:solidFill>
                  <a:srgbClr val="CCCCCC"/>
                </a:solidFill>
                <a:latin typeface="Courier"/>
              </a:rPr>
              <a:t> </a:t>
            </a:r>
            <a:r>
              <a:rPr>
                <a:solidFill>
                  <a:srgbClr val="CC9393"/>
                </a:solidFill>
                <a:latin typeface="Courier"/>
              </a:rPr>
              <a:t>"my_tool"</a:t>
            </a:r>
            <a:r>
              <a:rPr>
                <a:solidFill>
                  <a:srgbClr val="EFEF8F"/>
                </a:solidFill>
                <a:latin typeface="Courier"/>
              </a:rPr>
              <a:t>,</a:t>
            </a:r>
            <a:br/>
            <a:r>
              <a:rPr>
                <a:solidFill>
                  <a:srgbClr val="CCCCCC"/>
                </a:solidFill>
                <a:latin typeface="Courier"/>
              </a:rPr>
              <a:t>      </a:t>
            </a:r>
            <a:r>
              <a:rPr>
                <a:solidFill>
                  <a:srgbClr val="DFDFBF"/>
                </a:solidFill>
                <a:latin typeface="Courier"/>
              </a:rPr>
              <a:t>"description"</a:t>
            </a:r>
            <a:r>
              <a:rPr>
                <a:solidFill>
                  <a:srgbClr val="EFEF8F"/>
                </a:solidFill>
                <a:latin typeface="Courier"/>
              </a:rPr>
              <a:t>:</a:t>
            </a:r>
            <a:r>
              <a:rPr>
                <a:solidFill>
                  <a:srgbClr val="CCCCCC"/>
                </a:solidFill>
                <a:latin typeface="Courier"/>
              </a:rPr>
              <a:t> </a:t>
            </a:r>
            <a:r>
              <a:rPr>
                <a:solidFill>
                  <a:srgbClr val="CC9393"/>
                </a:solidFill>
                <a:latin typeface="Courier"/>
              </a:rPr>
              <a:t>"Description de mon outil"</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buNone/>
            </a:pPr>
            <a:r>
              <a:rPr b="1"/>
              <a:t>Debugging :</a:t>
            </a:r>
          </a:p>
          <a:p>
            <a:pPr lvl="0" indent="0">
              <a:buNone/>
            </a:pPr>
            <a:r>
              <a:rPr>
                <a:solidFill>
                  <a:srgbClr val="7F9F7F"/>
                </a:solidFill>
                <a:latin typeface="Courier"/>
              </a:rPr>
              <a:t># Tester le serveur manuellement</a:t>
            </a:r>
            <a:br/>
            <a:r>
              <a:rPr>
                <a:solidFill>
                  <a:srgbClr val="CCCCCC"/>
                </a:solidFill>
                <a:latin typeface="Courier"/>
              </a:rPr>
              <a:t>echo </a:t>
            </a:r>
            <a:r>
              <a:rPr>
                <a:solidFill>
                  <a:srgbClr val="CC9393"/>
                </a:solidFill>
                <a:latin typeface="Courier"/>
              </a:rPr>
              <a:t>'{"method":"tools/list"}'</a:t>
            </a:r>
            <a:r>
              <a:rPr>
                <a:solidFill>
                  <a:srgbClr val="CCCCCC"/>
                </a:solidFill>
                <a:latin typeface="Courier"/>
              </a:rPr>
              <a:t> </a:t>
            </a:r>
            <a:r>
              <a:rPr>
                <a:solidFill>
                  <a:srgbClr val="F0DFAF"/>
                </a:solidFill>
                <a:latin typeface="Courier"/>
              </a:rPr>
              <a:t>|</a:t>
            </a:r>
            <a:r>
              <a:rPr>
                <a:solidFill>
                  <a:srgbClr val="CCCCCC"/>
                </a:solidFill>
                <a:latin typeface="Courier"/>
              </a:rPr>
              <a:t> ./my-mcp-server</a:t>
            </a:r>
            <a:br/>
            <a:br/>
            <a:r>
              <a:rPr>
                <a:solidFill>
                  <a:srgbClr val="7F9F7F"/>
                </a:solidFill>
                <a:latin typeface="Courier"/>
              </a:rPr>
              <a:t># Logs</a:t>
            </a:r>
            <a:br/>
            <a:r>
              <a:rPr>
                <a:solidFill>
                  <a:srgbClr val="CCCCCC"/>
                </a:solidFill>
                <a:latin typeface="Courier"/>
              </a:rPr>
              <a:t>claude mcp logs my-server</a:t>
            </a:r>
          </a:p>
          <a:p>
            <a:pPr lvl="0" indent="0" marL="0">
              <a:buNone/>
            </a:pPr>
            <a:r>
              <a:rPr b="1"/>
              <a:t>Exercice :</a:t>
            </a:r>
          </a:p>
          <a:p>
            <a:pPr lvl="0" indent="-342900" marL="342900">
              <a:buAutoNum type="arabicPeriod"/>
            </a:pPr>
            <a:r>
              <a:rPr/>
              <a:t>Installez le serveur PostgreSQL MCP</a:t>
            </a:r>
          </a:p>
          <a:p>
            <a:pPr lvl="0" indent="-342900" marL="342900">
              <a:buAutoNum type="arabicPeriod"/>
            </a:pPr>
            <a:r>
              <a:rPr/>
              <a:t>Connectez-le à une base de données de test</a:t>
            </a:r>
          </a:p>
          <a:p>
            <a:pPr lvl="0" indent="-342900" marL="342900">
              <a:buAutoNum type="arabicPeriod"/>
            </a:pPr>
            <a:r>
              <a:rPr/>
              <a:t>Posez des questions en langage naturel sur les données</a:t>
            </a:r>
          </a:p>
          <a:p>
            <a:pPr lvl="0" indent="-342900" marL="342900">
              <a:buAutoNum type="arabicPeriod"/>
            </a:pPr>
            <a:r>
              <a:rPr/>
              <a:t>Testez le serveur GitHub si vous avez un token</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Module 18 : Skills et Subagents personnalisés (1h)</a:t>
            </a:r>
          </a:p>
          <a:p>
            <a:pPr lvl="0" indent="0" marL="0">
              <a:buNone/>
            </a:pPr>
            <a:r>
              <a:rPr b="1"/>
              <a:t>Objectif pédagogique</a:t>
            </a:r>
            <a:r>
              <a:rPr/>
              <a:t> : À l’issue de ce module, l’apprenant sera capable de créer des skills personnalisées avec frontmatter YAML, d’utiliser les variables ($ARGUMENTS, $PROJECT_DIR), de créer des subagents personnalisés, et de packager des plugins combinant skills, hooks et MCP servers.</a:t>
            </a:r>
          </a:p>
          <a:p>
            <a:pPr lvl="0" indent="0" marL="0">
              <a:spcBef>
                <a:spcPts val="3000"/>
              </a:spcBef>
              <a:buNone/>
            </a:pPr>
            <a:r>
              <a:rPr b="1"/>
              <a:t>18.1 Créer une Skill</a:t>
            </a:r>
          </a:p>
          <a:p>
            <a:pPr lvl="0" indent="0" marL="0">
              <a:buNone/>
            </a:pPr>
            <a:r>
              <a:rPr b="1"/>
              <a:t>Emplacement des skills :</a:t>
            </a:r>
          </a:p>
          <a:p>
            <a:pPr lvl="0" indent="0">
              <a:buNone/>
            </a:pPr>
            <a:r>
              <a:rPr>
                <a:latin typeface="Courier"/>
              </a:rPr>
              <a:t>.claude/
└── skills/
    ├── code-review.md
    ├── standup.md
    └── deploy.md</a:t>
            </a:r>
          </a:p>
          <a:p>
            <a:pPr lvl="0" indent="0" marL="0">
              <a:buNone/>
            </a:pPr>
            <a:r>
              <a:rPr b="1"/>
              <a:t>Structure d’une skill :</a:t>
            </a:r>
          </a:p>
          <a:p>
            <a:pPr lvl="0" indent="0">
              <a:buNone/>
            </a:pPr>
            <a:r>
              <a:rPr>
                <a:solidFill>
                  <a:srgbClr val="7F9F7F"/>
                </a:solidFill>
                <a:latin typeface="Courier"/>
              </a:rPr>
              <a:t>---</a:t>
            </a:r>
            <a:br/>
            <a:r>
              <a:rPr b="1">
                <a:solidFill>
                  <a:srgbClr val="7F9F7F"/>
                </a:solidFill>
                <a:latin typeface="Courier"/>
              </a:rPr>
              <a:t>name:</a:t>
            </a:r>
            <a:r>
              <a:rPr>
                <a:solidFill>
                  <a:srgbClr val="7F9F7F"/>
                </a:solidFill>
                <a:latin typeface="Courier"/>
              </a:rPr>
              <a:t> code-review</a:t>
            </a:r>
            <a:br/>
            <a:r>
              <a:rPr b="1">
                <a:solidFill>
                  <a:srgbClr val="7F9F7F"/>
                </a:solidFill>
                <a:latin typeface="Courier"/>
              </a:rPr>
              <a:t>description:</a:t>
            </a:r>
            <a:r>
              <a:rPr>
                <a:solidFill>
                  <a:srgbClr val="7F9F7F"/>
                </a:solidFill>
                <a:latin typeface="Courier"/>
              </a:rPr>
              <a:t> Effectue une revue de code approfondie</a:t>
            </a:r>
            <a:br/>
            <a:r>
              <a:rPr b="1">
                <a:solidFill>
                  <a:srgbClr val="7F9F7F"/>
                </a:solidFill>
                <a:latin typeface="Courier"/>
              </a:rPr>
              <a:t>triggers:</a:t>
            </a:r>
            <a:br/>
            <a:r>
              <a:rPr>
                <a:solidFill>
                  <a:srgbClr val="7F9F7F"/>
                </a:solidFill>
                <a:latin typeface="Courier"/>
              </a:rPr>
              <a:t>  - /code-review</a:t>
            </a:r>
            <a:br/>
            <a:r>
              <a:rPr>
                <a:solidFill>
                  <a:srgbClr val="7F9F7F"/>
                </a:solidFill>
                <a:latin typeface="Courier"/>
              </a:rPr>
              <a:t>  - /review</a:t>
            </a:r>
            <a:br/>
            <a:r>
              <a:rPr>
                <a:solidFill>
                  <a:srgbClr val="7F9F7F"/>
                </a:solidFill>
                <a:latin typeface="Courier"/>
              </a:rPr>
              <a:t>---</a:t>
            </a:r>
            <a:br/>
            <a:br/>
            <a:r>
              <a:rPr>
                <a:solidFill>
                  <a:srgbClr val="EFEF8F"/>
                </a:solidFill>
                <a:latin typeface="Courier"/>
              </a:rPr>
              <a:t># Instructions pour la revue de code</a:t>
            </a:r>
            <a:br/>
            <a:br/>
            <a:r>
              <a:rPr>
                <a:solidFill>
                  <a:srgbClr val="CCCCCC"/>
                </a:solidFill>
                <a:latin typeface="Courier"/>
              </a:rPr>
              <a:t>Tu es un reviewer de code expérimenté. Analyse le code fourni selon ces critères :</a:t>
            </a:r>
            <a:br/>
            <a:br/>
            <a:r>
              <a:rPr>
                <a:solidFill>
                  <a:srgbClr val="EFEF8F"/>
                </a:solidFill>
                <a:latin typeface="Courier"/>
              </a:rPr>
              <a:t>## Critères d'analyse</a:t>
            </a:r>
            <a:br/>
            <a:br/>
            <a:r>
              <a:rPr>
                <a:solidFill>
                  <a:srgbClr val="CC9393"/>
                </a:solidFill>
                <a:latin typeface="Courier"/>
              </a:rPr>
              <a:t>1. </a:t>
            </a:r>
            <a:r>
              <a:rPr>
                <a:solidFill>
                  <a:srgbClr val="CCCCCC"/>
                </a:solidFill>
                <a:latin typeface="Courier"/>
              </a:rPr>
              <a:t>**Lisibilité**</a:t>
            </a:r>
            <a:br/>
            <a:r>
              <a:rPr>
                <a:solidFill>
                  <a:srgbClr val="CC9393"/>
                </a:solidFill>
                <a:latin typeface="Courier"/>
              </a:rPr>
              <a:t>   - </a:t>
            </a:r>
            <a:r>
              <a:rPr>
                <a:solidFill>
                  <a:srgbClr val="CCCCCC"/>
                </a:solidFill>
                <a:latin typeface="Courier"/>
              </a:rPr>
              <a:t>Nommage des variables et fonctions</a:t>
            </a:r>
            <a:br/>
            <a:r>
              <a:rPr>
                <a:solidFill>
                  <a:srgbClr val="CC9393"/>
                </a:solidFill>
                <a:latin typeface="Courier"/>
              </a:rPr>
              <a:t>   - </a:t>
            </a:r>
            <a:r>
              <a:rPr>
                <a:solidFill>
                  <a:srgbClr val="CCCCCC"/>
                </a:solidFill>
                <a:latin typeface="Courier"/>
              </a:rPr>
              <a:t>Structure et organisation</a:t>
            </a:r>
            <a:br/>
            <a:r>
              <a:rPr>
                <a:solidFill>
                  <a:srgbClr val="CC9393"/>
                </a:solidFill>
                <a:latin typeface="Courier"/>
              </a:rPr>
              <a:t>   - </a:t>
            </a:r>
            <a:r>
              <a:rPr>
                <a:solidFill>
                  <a:srgbClr val="CCCCCC"/>
                </a:solidFill>
                <a:latin typeface="Courier"/>
              </a:rPr>
              <a:t>Commentaires pertinents</a:t>
            </a:r>
            <a:br/>
            <a:br/>
            <a:r>
              <a:rPr>
                <a:solidFill>
                  <a:srgbClr val="CC9393"/>
                </a:solidFill>
                <a:latin typeface="Courier"/>
              </a:rPr>
              <a:t>2. </a:t>
            </a:r>
            <a:r>
              <a:rPr>
                <a:solidFill>
                  <a:srgbClr val="CCCCCC"/>
                </a:solidFill>
                <a:latin typeface="Courier"/>
              </a:rPr>
              <a:t>**Maintenabilité**</a:t>
            </a:r>
            <a:br/>
            <a:r>
              <a:rPr>
                <a:solidFill>
                  <a:srgbClr val="CC9393"/>
                </a:solidFill>
                <a:latin typeface="Courier"/>
              </a:rPr>
              <a:t>   - </a:t>
            </a:r>
            <a:r>
              <a:rPr>
                <a:solidFill>
                  <a:srgbClr val="CCCCCC"/>
                </a:solidFill>
                <a:latin typeface="Courier"/>
              </a:rPr>
              <a:t>Principe DRY</a:t>
            </a:r>
            <a:br/>
            <a:r>
              <a:rPr>
                <a:solidFill>
                  <a:srgbClr val="CC9393"/>
                </a:solidFill>
                <a:latin typeface="Courier"/>
              </a:rPr>
              <a:t>   - </a:t>
            </a:r>
            <a:r>
              <a:rPr>
                <a:solidFill>
                  <a:srgbClr val="CCCCCC"/>
                </a:solidFill>
                <a:latin typeface="Courier"/>
              </a:rPr>
              <a:t>Single Responsibility</a:t>
            </a:r>
            <a:br/>
            <a:r>
              <a:rPr>
                <a:solidFill>
                  <a:srgbClr val="CC9393"/>
                </a:solidFill>
                <a:latin typeface="Courier"/>
              </a:rPr>
              <a:t>   - </a:t>
            </a:r>
            <a:r>
              <a:rPr>
                <a:solidFill>
                  <a:srgbClr val="CCCCCC"/>
                </a:solidFill>
                <a:latin typeface="Courier"/>
              </a:rPr>
              <a:t>Complexité cyclomatique</a:t>
            </a:r>
            <a:br/>
            <a:br/>
            <a:r>
              <a:rPr>
                <a:solidFill>
                  <a:srgbClr val="CC9393"/>
                </a:solidFill>
                <a:latin typeface="Courier"/>
              </a:rPr>
              <a:t>3. </a:t>
            </a:r>
            <a:r>
              <a:rPr>
                <a:solidFill>
                  <a:srgbClr val="CCCCCC"/>
                </a:solidFill>
                <a:latin typeface="Courier"/>
              </a:rPr>
              <a:t>**Performance**</a:t>
            </a:r>
            <a:br/>
            <a:r>
              <a:rPr>
                <a:solidFill>
                  <a:srgbClr val="CC9393"/>
                </a:solidFill>
                <a:latin typeface="Courier"/>
              </a:rPr>
              <a:t>   - </a:t>
            </a:r>
            <a:r>
              <a:rPr>
                <a:solidFill>
                  <a:srgbClr val="CCCCCC"/>
                </a:solidFill>
                <a:latin typeface="Courier"/>
              </a:rPr>
              <a:t>Algorithmes appropriés</a:t>
            </a:r>
            <a:br/>
            <a:r>
              <a:rPr>
                <a:solidFill>
                  <a:srgbClr val="CC9393"/>
                </a:solidFill>
                <a:latin typeface="Courier"/>
              </a:rPr>
              <a:t>   - </a:t>
            </a:r>
            <a:r>
              <a:rPr>
                <a:solidFill>
                  <a:srgbClr val="CCCCCC"/>
                </a:solidFill>
                <a:latin typeface="Courier"/>
              </a:rPr>
              <a:t>Gestion mémoire</a:t>
            </a:r>
            <a:br/>
            <a:r>
              <a:rPr>
                <a:solidFill>
                  <a:srgbClr val="CC9393"/>
                </a:solidFill>
                <a:latin typeface="Courier"/>
              </a:rPr>
              <a:t>   - </a:t>
            </a:r>
            <a:r>
              <a:rPr>
                <a:solidFill>
                  <a:srgbClr val="CCCCCC"/>
                </a:solidFill>
                <a:latin typeface="Courier"/>
              </a:rPr>
              <a:t>Requêtes optimisées</a:t>
            </a:r>
            <a:br/>
            <a:br/>
            <a:r>
              <a:rPr>
                <a:solidFill>
                  <a:srgbClr val="CC9393"/>
                </a:solidFill>
                <a:latin typeface="Courier"/>
              </a:rPr>
              <a:t>4. </a:t>
            </a:r>
            <a:r>
              <a:rPr>
                <a:solidFill>
                  <a:srgbClr val="CCCCCC"/>
                </a:solidFill>
                <a:latin typeface="Courier"/>
              </a:rPr>
              <a:t>**Sécurité**</a:t>
            </a:r>
            <a:br/>
            <a:r>
              <a:rPr>
                <a:solidFill>
                  <a:srgbClr val="CC9393"/>
                </a:solidFill>
                <a:latin typeface="Courier"/>
              </a:rPr>
              <a:t>   - </a:t>
            </a:r>
            <a:r>
              <a:rPr>
                <a:solidFill>
                  <a:srgbClr val="CCCCCC"/>
                </a:solidFill>
                <a:latin typeface="Courier"/>
              </a:rPr>
              <a:t>Validation des inputs</a:t>
            </a:r>
            <a:br/>
            <a:r>
              <a:rPr>
                <a:solidFill>
                  <a:srgbClr val="CC9393"/>
                </a:solidFill>
                <a:latin typeface="Courier"/>
              </a:rPr>
              <a:t>   - </a:t>
            </a:r>
            <a:r>
              <a:rPr>
                <a:solidFill>
                  <a:srgbClr val="CCCCCC"/>
                </a:solidFill>
                <a:latin typeface="Courier"/>
              </a:rPr>
              <a:t>Gestion des erreurs</a:t>
            </a:r>
            <a:br/>
            <a:r>
              <a:rPr>
                <a:solidFill>
                  <a:srgbClr val="CC9393"/>
                </a:solidFill>
                <a:latin typeface="Courier"/>
              </a:rPr>
              <a:t>   - </a:t>
            </a:r>
            <a:r>
              <a:rPr>
                <a:solidFill>
                  <a:srgbClr val="CCCCCC"/>
                </a:solidFill>
                <a:latin typeface="Courier"/>
              </a:rPr>
              <a:t>Pas de secrets hardcodés</a:t>
            </a:r>
            <a:br/>
            <a:br/>
            <a:r>
              <a:rPr>
                <a:solidFill>
                  <a:srgbClr val="EFEF8F"/>
                </a:solidFill>
                <a:latin typeface="Courier"/>
              </a:rPr>
              <a:t>## Format de sortie</a:t>
            </a:r>
            <a:br/>
            <a:br/>
            <a:r>
              <a:rPr>
                <a:solidFill>
                  <a:srgbClr val="CCCCCC"/>
                </a:solidFill>
                <a:latin typeface="Courier"/>
              </a:rPr>
              <a:t>Pour chaque fichier analysé, fournis :</a:t>
            </a:r>
            <a:br/>
            <a:r>
              <a:rPr>
                <a:solidFill>
                  <a:srgbClr val="CC9393"/>
                </a:solidFill>
                <a:latin typeface="Courier"/>
              </a:rPr>
              <a:t>- </a:t>
            </a:r>
            <a:r>
              <a:rPr>
                <a:solidFill>
                  <a:srgbClr val="CCCCCC"/>
                </a:solidFill>
                <a:latin typeface="Courier"/>
              </a:rPr>
              <a:t>Score global /10</a:t>
            </a:r>
            <a:br/>
            <a:r>
              <a:rPr>
                <a:solidFill>
                  <a:srgbClr val="CC9393"/>
                </a:solidFill>
                <a:latin typeface="Courier"/>
              </a:rPr>
              <a:t>- </a:t>
            </a:r>
            <a:r>
              <a:rPr>
                <a:solidFill>
                  <a:srgbClr val="CCCCCC"/>
                </a:solidFill>
                <a:latin typeface="Courier"/>
              </a:rPr>
              <a:t>Points positifs</a:t>
            </a:r>
            <a:br/>
            <a:r>
              <a:rPr>
                <a:solidFill>
                  <a:srgbClr val="CC9393"/>
                </a:solidFill>
                <a:latin typeface="Courier"/>
              </a:rPr>
              <a:t>- </a:t>
            </a:r>
            <a:r>
              <a:rPr>
                <a:solidFill>
                  <a:srgbClr val="CCCCCC"/>
                </a:solidFill>
                <a:latin typeface="Courier"/>
              </a:rPr>
              <a:t>Points à améliorer (avec suggestions de code)</a:t>
            </a:r>
            <a:br/>
            <a:r>
              <a:rPr>
                <a:solidFill>
                  <a:srgbClr val="CC9393"/>
                </a:solidFill>
                <a:latin typeface="Courier"/>
              </a:rPr>
              <a:t>- </a:t>
            </a:r>
            <a:r>
              <a:rPr>
                <a:solidFill>
                  <a:srgbClr val="CCCCCC"/>
                </a:solidFill>
                <a:latin typeface="Courier"/>
              </a:rPr>
              <a:t>Priorité des corrections (critique/important/mineur)</a:t>
            </a:r>
            <a:br/>
            <a:br/>
            <a:r>
              <a:rPr>
                <a:solidFill>
                  <a:srgbClr val="EFEF8F"/>
                </a:solidFill>
                <a:latin typeface="Courier"/>
              </a:rPr>
              <a:t>## Fichiers à analyser</a:t>
            </a:r>
            <a:br/>
            <a:br/>
            <a:r>
              <a:rPr>
                <a:solidFill>
                  <a:srgbClr val="CCCCCC"/>
                </a:solidFill>
                <a:latin typeface="Courier"/>
              </a:rPr>
              <a:t>$ARGUMENTS</a:t>
            </a:r>
          </a:p>
          <a:p>
            <a:pPr lvl="0" indent="0" marL="0">
              <a:buNone/>
            </a:pPr>
            <a:r>
              <a:rPr b="1"/>
              <a:t>Variables disponibles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Variable</a:t>
                      </a:r>
                    </a:p>
                  </a:txBody>
                  <a:tcPr/>
                </a:tc>
                <a:tc>
                  <a:txBody>
                    <a:bodyPr/>
                    <a:lstStyle/>
                    <a:p>
                      <a:pPr lvl="0" indent="0" marL="0">
                        <a:buNone/>
                      </a:pPr>
                      <a:r>
                        <a:rPr/>
                        <a:t>Description</a:t>
                      </a:r>
                    </a:p>
                  </a:txBody>
                  <a:tcPr/>
                </a:tc>
              </a:tr>
              <a:tr h="0">
                <a:tc>
                  <a:txBody>
                    <a:bodyPr/>
                    <a:lstStyle/>
                    <a:p>
                      <a:pPr lvl="0" indent="0" marL="0">
                        <a:buNone/>
                      </a:pPr>
                      <a:r>
                        <a:rPr>
                          <a:latin typeface="Courier"/>
                        </a:rPr>
                        <a:t>$ARGUMENTS</a:t>
                      </a:r>
                    </a:p>
                  </a:txBody>
                </a:tc>
                <a:tc>
                  <a:txBody>
                    <a:bodyPr/>
                    <a:lstStyle/>
                    <a:p>
                      <a:pPr lvl="0" indent="0" marL="0">
                        <a:buNone/>
                      </a:pPr>
                      <a:r>
                        <a:rPr/>
                        <a:t>Ce qui suit la commande</a:t>
                      </a:r>
                    </a:p>
                  </a:txBody>
                </a:tc>
              </a:tr>
              <a:tr h="0">
                <a:tc>
                  <a:txBody>
                    <a:bodyPr/>
                    <a:lstStyle/>
                    <a:p>
                      <a:pPr lvl="0" indent="0" marL="0">
                        <a:buNone/>
                      </a:pPr>
                      <a:r>
                        <a:rPr>
                          <a:latin typeface="Courier"/>
                        </a:rPr>
                        <a:t>$PROJECT_DIR</a:t>
                      </a:r>
                    </a:p>
                  </a:txBody>
                </a:tc>
                <a:tc>
                  <a:txBody>
                    <a:bodyPr/>
                    <a:lstStyle/>
                    <a:p>
                      <a:pPr lvl="0" indent="0" marL="0">
                        <a:buNone/>
                      </a:pPr>
                      <a:r>
                        <a:rPr/>
                        <a:t>Dossier du projet</a:t>
                      </a:r>
                    </a:p>
                  </a:txBody>
                </a:tc>
              </a:tr>
              <a:tr h="0">
                <a:tc>
                  <a:txBody>
                    <a:bodyPr/>
                    <a:lstStyle/>
                    <a:p>
                      <a:pPr lvl="0" indent="0" marL="0">
                        <a:buNone/>
                      </a:pPr>
                      <a:r>
                        <a:rPr>
                          <a:latin typeface="Courier"/>
                        </a:rPr>
                        <a:t>$CURRENT_FILE</a:t>
                      </a:r>
                    </a:p>
                  </a:txBody>
                </a:tc>
                <a:tc>
                  <a:txBody>
                    <a:bodyPr/>
                    <a:lstStyle/>
                    <a:p>
                      <a:pPr lvl="0" indent="0" marL="0">
                        <a:buNone/>
                      </a:pPr>
                      <a:r>
                        <a:rPr/>
                        <a:t>Fichier actuel (si dans IDE)</a:t>
                      </a:r>
                    </a:p>
                  </a:txBody>
                </a:tc>
              </a:tr>
            </a:tbl>
          </a:graphicData>
        </a:graphic>
      </p:graphicFrame>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18.2 Skills avancées</a:t>
            </a:r>
          </a:p>
          <a:p>
            <a:pPr lvl="0" indent="0" marL="0">
              <a:buNone/>
            </a:pPr>
            <a:r>
              <a:rPr b="1"/>
              <a:t>Frontmatter complet :</a:t>
            </a:r>
          </a:p>
          <a:p>
            <a:pPr lvl="0" indent="0">
              <a:buNone/>
            </a:pPr>
            <a:r>
              <a:rPr b="1">
                <a:solidFill>
                  <a:srgbClr val="FFCFAF"/>
                </a:solidFill>
                <a:latin typeface="Courier"/>
              </a:rPr>
              <a:t>---</a:t>
            </a:r>
            <a:br/>
            <a:r>
              <a:rPr>
                <a:solidFill>
                  <a:srgbClr val="EFEF8F"/>
                </a:solidFill>
                <a:latin typeface="Courier"/>
              </a:rPr>
              <a:t>name</a:t>
            </a:r>
            <a:r>
              <a:rPr>
                <a:solidFill>
                  <a:srgbClr val="F0DFAF"/>
                </a:solidFill>
                <a:latin typeface="Courier"/>
              </a:rPr>
              <a:t>:</a:t>
            </a:r>
            <a:r>
              <a:rPr>
                <a:solidFill>
                  <a:srgbClr val="CCCCCC"/>
                </a:solidFill>
                <a:latin typeface="Courier"/>
              </a:rPr>
              <a:t> deploy</a:t>
            </a:r>
            <a:br/>
            <a:r>
              <a:rPr>
                <a:solidFill>
                  <a:srgbClr val="EFEF8F"/>
                </a:solidFill>
                <a:latin typeface="Courier"/>
              </a:rPr>
              <a:t>description</a:t>
            </a:r>
            <a:r>
              <a:rPr>
                <a:solidFill>
                  <a:srgbClr val="F0DFAF"/>
                </a:solidFill>
                <a:latin typeface="Courier"/>
              </a:rPr>
              <a:t>:</a:t>
            </a:r>
            <a:r>
              <a:rPr>
                <a:solidFill>
                  <a:srgbClr val="CCCCCC"/>
                </a:solidFill>
                <a:latin typeface="Courier"/>
              </a:rPr>
              <a:t> Déploie l'application sur Azure</a:t>
            </a:r>
            <a:br/>
            <a:r>
              <a:rPr>
                <a:solidFill>
                  <a:srgbClr val="EFEF8F"/>
                </a:solidFill>
                <a:latin typeface="Courier"/>
              </a:rPr>
              <a:t>triggers</a:t>
            </a:r>
            <a:r>
              <a:rPr>
                <a:solidFill>
                  <a:srgbClr val="F0DFAF"/>
                </a:solidFill>
                <a:latin typeface="Courier"/>
              </a:rPr>
              <a:t>:</a:t>
            </a:r>
            <a:br/>
            <a:r>
              <a:rPr>
                <a:solidFill>
                  <a:srgbClr val="CCCCCC"/>
                </a:solidFill>
                <a:latin typeface="Courier"/>
              </a:rPr>
              <a:t>  </a:t>
            </a:r>
            <a:r>
              <a:rPr>
                <a:solidFill>
                  <a:srgbClr val="F0DFAF"/>
                </a:solidFill>
                <a:latin typeface="Courier"/>
              </a:rPr>
              <a:t>-</a:t>
            </a:r>
            <a:r>
              <a:rPr>
                <a:solidFill>
                  <a:srgbClr val="CCCCCC"/>
                </a:solidFill>
                <a:latin typeface="Courier"/>
              </a:rPr>
              <a:t> /deploy</a:t>
            </a:r>
            <a:br/>
            <a:r>
              <a:rPr>
                <a:solidFill>
                  <a:srgbClr val="CCCCCC"/>
                </a:solidFill>
                <a:latin typeface="Courier"/>
              </a:rPr>
              <a:t>  </a:t>
            </a:r>
            <a:r>
              <a:rPr>
                <a:solidFill>
                  <a:srgbClr val="F0DFAF"/>
                </a:solidFill>
                <a:latin typeface="Courier"/>
              </a:rPr>
              <a:t>-</a:t>
            </a:r>
            <a:r>
              <a:rPr>
                <a:solidFill>
                  <a:srgbClr val="CCCCCC"/>
                </a:solidFill>
                <a:latin typeface="Courier"/>
              </a:rPr>
              <a:t> /ship</a:t>
            </a:r>
            <a:br/>
            <a:r>
              <a:rPr>
                <a:solidFill>
                  <a:srgbClr val="EFEF8F"/>
                </a:solidFill>
                <a:latin typeface="Courier"/>
              </a:rPr>
              <a:t>model</a:t>
            </a:r>
            <a:r>
              <a:rPr>
                <a:solidFill>
                  <a:srgbClr val="F0DFAF"/>
                </a:solidFill>
                <a:latin typeface="Courier"/>
              </a:rPr>
              <a:t>:</a:t>
            </a:r>
            <a:r>
              <a:rPr>
                <a:solidFill>
                  <a:srgbClr val="CCCCCC"/>
                </a:solidFill>
                <a:latin typeface="Courier"/>
              </a:rPr>
              <a:t> sonnet</a:t>
            </a:r>
            <a:r>
              <a:rPr>
                <a:solidFill>
                  <a:srgbClr val="7F9F7F"/>
                </a:solidFill>
                <a:latin typeface="Courier"/>
              </a:rPr>
              <a:t>           # Modèle à utiliser</a:t>
            </a:r>
            <a:br/>
            <a:r>
              <a:rPr>
                <a:solidFill>
                  <a:srgbClr val="EFEF8F"/>
                </a:solidFill>
                <a:latin typeface="Courier"/>
              </a:rPr>
              <a:t>timeout</a:t>
            </a:r>
            <a:r>
              <a:rPr>
                <a:solidFill>
                  <a:srgbClr val="F0DFAF"/>
                </a:solidFill>
                <a:latin typeface="Courier"/>
              </a:rPr>
              <a:t>:</a:t>
            </a:r>
            <a:r>
              <a:rPr>
                <a:solidFill>
                  <a:srgbClr val="CCCCCC"/>
                </a:solidFill>
                <a:latin typeface="Courier"/>
              </a:rPr>
              <a:t> </a:t>
            </a:r>
            <a:r>
              <a:rPr>
                <a:solidFill>
                  <a:srgbClr val="DCDCCC"/>
                </a:solidFill>
                <a:latin typeface="Courier"/>
              </a:rPr>
              <a:t>300</a:t>
            </a:r>
            <a:r>
              <a:rPr>
                <a:solidFill>
                  <a:srgbClr val="7F9F7F"/>
                </a:solidFill>
                <a:latin typeface="Courier"/>
              </a:rPr>
              <a:t>            # Timeout en secondes</a:t>
            </a:r>
            <a:br/>
            <a:r>
              <a:rPr>
                <a:solidFill>
                  <a:srgbClr val="EFEF8F"/>
                </a:solidFill>
                <a:latin typeface="Courier"/>
              </a:rPr>
              <a:t>once</a:t>
            </a:r>
            <a:r>
              <a:rPr>
                <a:solidFill>
                  <a:srgbClr val="F0DFAF"/>
                </a:solidFill>
                <a:latin typeface="Courier"/>
              </a:rPr>
              <a:t>:</a:t>
            </a:r>
            <a:r>
              <a:rPr>
                <a:solidFill>
                  <a:srgbClr val="CCCCCC"/>
                </a:solidFill>
                <a:latin typeface="Courier"/>
              </a:rPr>
              <a:t> </a:t>
            </a:r>
            <a:r>
              <a:rPr>
                <a:solidFill>
                  <a:srgbClr val="DCA3A3"/>
                </a:solidFill>
                <a:latin typeface="Courier"/>
              </a:rPr>
              <a:t>true</a:t>
            </a:r>
            <a:r>
              <a:rPr>
                <a:solidFill>
                  <a:srgbClr val="7F9F7F"/>
                </a:solidFill>
                <a:latin typeface="Courier"/>
              </a:rPr>
              <a:t>              # Exécuter une seule fois par session</a:t>
            </a:r>
            <a:br/>
            <a:r>
              <a:rPr>
                <a:solidFill>
                  <a:srgbClr val="EFEF8F"/>
                </a:solidFill>
                <a:latin typeface="Courier"/>
              </a:rPr>
              <a:t>tools</a:t>
            </a:r>
            <a:r>
              <a:rPr>
                <a:solidFill>
                  <a:srgbClr val="F0DFAF"/>
                </a:solidFill>
                <a:latin typeface="Courier"/>
              </a:rPr>
              <a:t>:</a:t>
            </a:r>
            <a:br/>
            <a:r>
              <a:rPr>
                <a:solidFill>
                  <a:srgbClr val="CCCCCC"/>
                </a:solidFill>
                <a:latin typeface="Courier"/>
              </a:rPr>
              <a:t>  </a:t>
            </a:r>
            <a:r>
              <a:rPr>
                <a:solidFill>
                  <a:srgbClr val="EFEF8F"/>
                </a:solidFill>
                <a:latin typeface="Courier"/>
              </a:rPr>
              <a:t>allow</a:t>
            </a:r>
            <a:r>
              <a:rPr>
                <a:solidFill>
                  <a:srgbClr val="F0DFAF"/>
                </a:solidFill>
                <a:latin typeface="Courier"/>
              </a:rPr>
              <a:t>:</a:t>
            </a:r>
            <a:br/>
            <a:r>
              <a:rPr>
                <a:solidFill>
                  <a:srgbClr val="CCCCCC"/>
                </a:solidFill>
                <a:latin typeface="Courier"/>
              </a:rPr>
              <a:t>    </a:t>
            </a:r>
            <a:r>
              <a:rPr>
                <a:solidFill>
                  <a:srgbClr val="F0DFAF"/>
                </a:solidFill>
                <a:latin typeface="Courier"/>
              </a:rPr>
              <a:t>-</a:t>
            </a:r>
            <a:r>
              <a:rPr>
                <a:solidFill>
                  <a:srgbClr val="CCCCCC"/>
                </a:solidFill>
                <a:latin typeface="Courier"/>
              </a:rPr>
              <a:t> Bash(az *)</a:t>
            </a:r>
            <a:br/>
            <a:r>
              <a:rPr>
                <a:solidFill>
                  <a:srgbClr val="CCCCCC"/>
                </a:solidFill>
                <a:latin typeface="Courier"/>
              </a:rPr>
              <a:t>    </a:t>
            </a:r>
            <a:r>
              <a:rPr>
                <a:solidFill>
                  <a:srgbClr val="F0DFAF"/>
                </a:solidFill>
                <a:latin typeface="Courier"/>
              </a:rPr>
              <a:t>-</a:t>
            </a:r>
            <a:r>
              <a:rPr>
                <a:solidFill>
                  <a:srgbClr val="CCCCCC"/>
                </a:solidFill>
                <a:latin typeface="Courier"/>
              </a:rPr>
              <a:t> Bash(docker *)</a:t>
            </a:r>
            <a:br/>
            <a:r>
              <a:rPr>
                <a:solidFill>
                  <a:srgbClr val="CCCCCC"/>
                </a:solidFill>
                <a:latin typeface="Courier"/>
              </a:rPr>
              <a:t>  </a:t>
            </a:r>
            <a:r>
              <a:rPr>
                <a:solidFill>
                  <a:srgbClr val="EFEF8F"/>
                </a:solidFill>
                <a:latin typeface="Courier"/>
              </a:rPr>
              <a:t>deny</a:t>
            </a:r>
            <a:r>
              <a:rPr>
                <a:solidFill>
                  <a:srgbClr val="F0DFAF"/>
                </a:solidFill>
                <a:latin typeface="Courier"/>
              </a:rPr>
              <a:t>:</a:t>
            </a:r>
            <a:br/>
            <a:r>
              <a:rPr>
                <a:solidFill>
                  <a:srgbClr val="CCCCCC"/>
                </a:solidFill>
                <a:latin typeface="Courier"/>
              </a:rPr>
              <a:t>    </a:t>
            </a:r>
            <a:r>
              <a:rPr>
                <a:solidFill>
                  <a:srgbClr val="F0DFAF"/>
                </a:solidFill>
                <a:latin typeface="Courier"/>
              </a:rPr>
              <a:t>-</a:t>
            </a:r>
            <a:r>
              <a:rPr>
                <a:solidFill>
                  <a:srgbClr val="CCCCCC"/>
                </a:solidFill>
                <a:latin typeface="Courier"/>
              </a:rPr>
              <a:t> Edit(*)</a:t>
            </a:r>
            <a:r>
              <a:rPr>
                <a:solidFill>
                  <a:srgbClr val="7F9F7F"/>
                </a:solidFill>
                <a:latin typeface="Courier"/>
              </a:rPr>
              <a:t>           # Pas de modification de fichiers</a:t>
            </a:r>
            <a:br/>
            <a:r>
              <a:rPr b="1">
                <a:solidFill>
                  <a:srgbClr val="FFCFAF"/>
                </a:solidFill>
                <a:latin typeface="Courier"/>
              </a:rPr>
              <a:t>---</a:t>
            </a:r>
          </a:p>
          <a:p>
            <a:pPr lvl="0" indent="0" marL="0">
              <a:buNone/>
            </a:pPr>
            <a:r>
              <a:rPr b="1"/>
              <a:t>Skill multi-étapes :</a:t>
            </a:r>
          </a:p>
          <a:p>
            <a:pPr lvl="0" indent="0">
              <a:buNone/>
            </a:pPr>
            <a:r>
              <a:rPr>
                <a:solidFill>
                  <a:srgbClr val="7F9F7F"/>
                </a:solidFill>
                <a:latin typeface="Courier"/>
              </a:rPr>
              <a:t>---</a:t>
            </a:r>
            <a:br/>
            <a:r>
              <a:rPr b="1">
                <a:solidFill>
                  <a:srgbClr val="7F9F7F"/>
                </a:solidFill>
                <a:latin typeface="Courier"/>
              </a:rPr>
              <a:t>name:</a:t>
            </a:r>
            <a:r>
              <a:rPr>
                <a:solidFill>
                  <a:srgbClr val="7F9F7F"/>
                </a:solidFill>
                <a:latin typeface="Courier"/>
              </a:rPr>
              <a:t> release</a:t>
            </a:r>
            <a:br/>
            <a:r>
              <a:rPr b="1">
                <a:solidFill>
                  <a:srgbClr val="7F9F7F"/>
                </a:solidFill>
                <a:latin typeface="Courier"/>
              </a:rPr>
              <a:t>description:</a:t>
            </a:r>
            <a:r>
              <a:rPr>
                <a:solidFill>
                  <a:srgbClr val="7F9F7F"/>
                </a:solidFill>
                <a:latin typeface="Courier"/>
              </a:rPr>
              <a:t> Prépare et publie une release</a:t>
            </a:r>
            <a:br/>
            <a:r>
              <a:rPr b="1">
                <a:solidFill>
                  <a:srgbClr val="7F9F7F"/>
                </a:solidFill>
                <a:latin typeface="Courier"/>
              </a:rPr>
              <a:t>triggers:</a:t>
            </a:r>
            <a:br/>
            <a:r>
              <a:rPr>
                <a:solidFill>
                  <a:srgbClr val="7F9F7F"/>
                </a:solidFill>
                <a:latin typeface="Courier"/>
              </a:rPr>
              <a:t>  - /release</a:t>
            </a:r>
            <a:br/>
            <a:r>
              <a:rPr>
                <a:solidFill>
                  <a:srgbClr val="7F9F7F"/>
                </a:solidFill>
                <a:latin typeface="Courier"/>
              </a:rPr>
              <a:t>---</a:t>
            </a:r>
            <a:br/>
            <a:br/>
            <a:r>
              <a:rPr>
                <a:solidFill>
                  <a:srgbClr val="EFEF8F"/>
                </a:solidFill>
                <a:latin typeface="Courier"/>
              </a:rPr>
              <a:t># Processus de release</a:t>
            </a:r>
            <a:br/>
            <a:br/>
            <a:r>
              <a:rPr>
                <a:solidFill>
                  <a:srgbClr val="CCCCCC"/>
                </a:solidFill>
                <a:latin typeface="Courier"/>
              </a:rPr>
              <a:t>Exécute ces étapes dans l'ordre :</a:t>
            </a:r>
            <a:br/>
            <a:br/>
            <a:r>
              <a:rPr>
                <a:solidFill>
                  <a:srgbClr val="EFEF8F"/>
                </a:solidFill>
                <a:latin typeface="Courier"/>
              </a:rPr>
              <a:t>## Étape 1 : Vérification</a:t>
            </a:r>
            <a:br/>
            <a:r>
              <a:rPr>
                <a:solidFill>
                  <a:srgbClr val="CC9393"/>
                </a:solidFill>
                <a:latin typeface="Courier"/>
              </a:rPr>
              <a:t>- </a:t>
            </a:r>
            <a:r>
              <a:rPr>
                <a:solidFill>
                  <a:srgbClr val="CCCCCC"/>
                </a:solidFill>
                <a:latin typeface="Courier"/>
              </a:rPr>
              <a:t>[ ] Tous les tests passent</a:t>
            </a:r>
            <a:br/>
            <a:r>
              <a:rPr>
                <a:solidFill>
                  <a:srgbClr val="CC9393"/>
                </a:solidFill>
                <a:latin typeface="Courier"/>
              </a:rPr>
              <a:t>- </a:t>
            </a:r>
            <a:r>
              <a:rPr>
                <a:solidFill>
                  <a:srgbClr val="CCCCCC"/>
                </a:solidFill>
                <a:latin typeface="Courier"/>
              </a:rPr>
              <a:t>[ ] Pas de changements non commités</a:t>
            </a:r>
            <a:br/>
            <a:r>
              <a:rPr>
                <a:solidFill>
                  <a:srgbClr val="CC9393"/>
                </a:solidFill>
                <a:latin typeface="Courier"/>
              </a:rPr>
              <a:t>- </a:t>
            </a:r>
            <a:r>
              <a:rPr>
                <a:solidFill>
                  <a:srgbClr val="CCCCCC"/>
                </a:solidFill>
                <a:latin typeface="Courier"/>
              </a:rPr>
              <a:t>[ ] Sur la branche main</a:t>
            </a:r>
            <a:br/>
            <a:br/>
            <a:r>
              <a:rPr>
                <a:solidFill>
                  <a:srgbClr val="EFEF8F"/>
                </a:solidFill>
                <a:latin typeface="Courier"/>
              </a:rPr>
              <a:t>## Étape 2 : Changelog</a:t>
            </a:r>
            <a:br/>
            <a:r>
              <a:rPr>
                <a:solidFill>
                  <a:srgbClr val="CC9393"/>
                </a:solidFill>
                <a:latin typeface="Courier"/>
              </a:rPr>
              <a:t>- </a:t>
            </a:r>
            <a:r>
              <a:rPr>
                <a:solidFill>
                  <a:srgbClr val="CCCCCC"/>
                </a:solidFill>
                <a:latin typeface="Courier"/>
              </a:rPr>
              <a:t>Génère le changelog depuis la dernière release</a:t>
            </a:r>
            <a:br/>
            <a:r>
              <a:rPr>
                <a:solidFill>
                  <a:srgbClr val="CC9393"/>
                </a:solidFill>
                <a:latin typeface="Courier"/>
              </a:rPr>
              <a:t>- </a:t>
            </a:r>
            <a:r>
              <a:rPr>
                <a:solidFill>
                  <a:srgbClr val="CCCCCC"/>
                </a:solidFill>
                <a:latin typeface="Courier"/>
              </a:rPr>
              <a:t>Demande confirmation à l'utilisateur</a:t>
            </a:r>
            <a:br/>
            <a:br/>
            <a:r>
              <a:rPr>
                <a:solidFill>
                  <a:srgbClr val="EFEF8F"/>
                </a:solidFill>
                <a:latin typeface="Courier"/>
              </a:rPr>
              <a:t>## Étape 3 : Version bump</a:t>
            </a:r>
            <a:br/>
            <a:r>
              <a:rPr>
                <a:solidFill>
                  <a:srgbClr val="CC9393"/>
                </a:solidFill>
                <a:latin typeface="Courier"/>
              </a:rPr>
              <a:t>- </a:t>
            </a:r>
            <a:r>
              <a:rPr>
                <a:solidFill>
                  <a:srgbClr val="CCCCCC"/>
                </a:solidFill>
                <a:latin typeface="Courier"/>
              </a:rPr>
              <a:t>Incrémente la version selon semver</a:t>
            </a:r>
            <a:br/>
            <a:r>
              <a:rPr>
                <a:solidFill>
                  <a:srgbClr val="CC9393"/>
                </a:solidFill>
                <a:latin typeface="Courier"/>
              </a:rPr>
              <a:t>- </a:t>
            </a:r>
            <a:r>
              <a:rPr>
                <a:solidFill>
                  <a:srgbClr val="CCCCCC"/>
                </a:solidFill>
                <a:latin typeface="Courier"/>
              </a:rPr>
              <a:t>Met à jour package.json / go.mod</a:t>
            </a:r>
            <a:br/>
            <a:br/>
            <a:r>
              <a:rPr>
                <a:solidFill>
                  <a:srgbClr val="EFEF8F"/>
                </a:solidFill>
                <a:latin typeface="Courier"/>
              </a:rPr>
              <a:t>## Étape 4 : Tag et push</a:t>
            </a:r>
            <a:br/>
            <a:r>
              <a:rPr>
                <a:solidFill>
                  <a:srgbClr val="CC9393"/>
                </a:solidFill>
                <a:latin typeface="Courier"/>
              </a:rPr>
              <a:t>- </a:t>
            </a:r>
            <a:r>
              <a:rPr>
                <a:solidFill>
                  <a:srgbClr val="CCCCCC"/>
                </a:solidFill>
                <a:latin typeface="Courier"/>
              </a:rPr>
              <a:t>Crée le tag git</a:t>
            </a:r>
            <a:br/>
            <a:r>
              <a:rPr>
                <a:solidFill>
                  <a:srgbClr val="CC9393"/>
                </a:solidFill>
                <a:latin typeface="Courier"/>
              </a:rPr>
              <a:t>- </a:t>
            </a:r>
            <a:r>
              <a:rPr>
                <a:solidFill>
                  <a:srgbClr val="CCCCCC"/>
                </a:solidFill>
                <a:latin typeface="Courier"/>
              </a:rPr>
              <a:t>Push avec les tags</a:t>
            </a:r>
            <a:br/>
            <a:br/>
            <a:r>
              <a:rPr>
                <a:solidFill>
                  <a:srgbClr val="EFEF8F"/>
                </a:solidFill>
                <a:latin typeface="Courier"/>
              </a:rPr>
              <a:t>## Étape 5 : Build et publish</a:t>
            </a:r>
            <a:br/>
            <a:r>
              <a:rPr>
                <a:solidFill>
                  <a:srgbClr val="CC9393"/>
                </a:solidFill>
                <a:latin typeface="Courier"/>
              </a:rPr>
              <a:t>- </a:t>
            </a:r>
            <a:r>
              <a:rPr>
                <a:solidFill>
                  <a:srgbClr val="CCCCCC"/>
                </a:solidFill>
                <a:latin typeface="Courier"/>
              </a:rPr>
              <a:t>Build les artefacts</a:t>
            </a:r>
            <a:br/>
            <a:r>
              <a:rPr>
                <a:solidFill>
                  <a:srgbClr val="CC9393"/>
                </a:solidFill>
                <a:latin typeface="Courier"/>
              </a:rPr>
              <a:t>- </a:t>
            </a:r>
            <a:r>
              <a:rPr>
                <a:solidFill>
                  <a:srgbClr val="CCCCCC"/>
                </a:solidFill>
                <a:latin typeface="Courier"/>
              </a:rPr>
              <a:t>Publie sur le registry</a:t>
            </a:r>
            <a:br/>
            <a:br/>
            <a:r>
              <a:rPr>
                <a:solidFill>
                  <a:srgbClr val="CCCCCC"/>
                </a:solidFill>
                <a:latin typeface="Courier"/>
              </a:rPr>
              <a:t>Demande confirmation avant chaque étape critique.</a:t>
            </a:r>
          </a:p>
          <a:p>
            <a:pPr lvl="0" indent="0" marL="0">
              <a:buNone/>
            </a:pPr>
            <a:r>
              <a:rPr b="1"/>
              <a:t>Injection de contexte dynamique :</a:t>
            </a:r>
          </a:p>
          <a:p>
            <a:pPr lvl="0" indent="0">
              <a:buNone/>
            </a:pPr>
            <a:r>
              <a:rPr>
                <a:solidFill>
                  <a:srgbClr val="7F9F7F"/>
                </a:solidFill>
                <a:latin typeface="Courier"/>
              </a:rPr>
              <a:t>---</a:t>
            </a:r>
            <a:br/>
            <a:r>
              <a:rPr b="1">
                <a:solidFill>
                  <a:srgbClr val="7F9F7F"/>
                </a:solidFill>
                <a:latin typeface="Courier"/>
              </a:rPr>
              <a:t>name:</a:t>
            </a:r>
            <a:r>
              <a:rPr>
                <a:solidFill>
                  <a:srgbClr val="7F9F7F"/>
                </a:solidFill>
                <a:latin typeface="Courier"/>
              </a:rPr>
              <a:t> standup</a:t>
            </a:r>
            <a:br/>
            <a:r>
              <a:rPr b="1">
                <a:solidFill>
                  <a:srgbClr val="7F9F7F"/>
                </a:solidFill>
                <a:latin typeface="Courier"/>
              </a:rPr>
              <a:t>description:</a:t>
            </a:r>
            <a:r>
              <a:rPr>
                <a:solidFill>
                  <a:srgbClr val="7F9F7F"/>
                </a:solidFill>
                <a:latin typeface="Courier"/>
              </a:rPr>
              <a:t> Génère un rapport de standup</a:t>
            </a:r>
            <a:br/>
            <a:r>
              <a:rPr b="1">
                <a:solidFill>
                  <a:srgbClr val="7F9F7F"/>
                </a:solidFill>
                <a:latin typeface="Courier"/>
              </a:rPr>
              <a:t>triggers:</a:t>
            </a:r>
            <a:br/>
            <a:r>
              <a:rPr>
                <a:solidFill>
                  <a:srgbClr val="7F9F7F"/>
                </a:solidFill>
                <a:latin typeface="Courier"/>
              </a:rPr>
              <a:t>  - /standup</a:t>
            </a:r>
            <a:br/>
            <a:r>
              <a:rPr>
                <a:solidFill>
                  <a:srgbClr val="7F9F7F"/>
                </a:solidFill>
                <a:latin typeface="Courier"/>
              </a:rPr>
              <a:t>---</a:t>
            </a:r>
            <a:br/>
            <a:br/>
            <a:r>
              <a:rPr>
                <a:solidFill>
                  <a:srgbClr val="EFEF8F"/>
                </a:solidFill>
                <a:latin typeface="Courier"/>
              </a:rPr>
              <a:t># Rapport de standup</a:t>
            </a:r>
            <a:br/>
            <a:br/>
            <a:r>
              <a:rPr>
                <a:solidFill>
                  <a:srgbClr val="CCCCCC"/>
                </a:solidFill>
                <a:latin typeface="Courier"/>
              </a:rPr>
              <a:t>Génère un rapport basé sur :</a:t>
            </a:r>
            <a:br/>
            <a:br/>
            <a:r>
              <a:rPr>
                <a:solidFill>
                  <a:srgbClr val="EFEF8F"/>
                </a:solidFill>
                <a:latin typeface="Courier"/>
              </a:rPr>
              <a:t>## Changements récents</a:t>
            </a:r>
          </a:p>
          <a:p>
            <a:pPr lvl="0" indent="0" marL="0">
              <a:buNone/>
            </a:pPr>
            <a:r>
              <a:rPr/>
              <a:t>$(git log --oneline --since="yesterday" --author="$</a:t>
            </a:r>
            <a:r>
              <a:rPr/>
              <a:t>(git config user.email)“)</a:t>
            </a:r>
          </a:p>
          <a:p>
            <a:pPr lvl="0" indent="0">
              <a:buNone/>
            </a:pPr>
            <a:r>
              <a:rPr>
                <a:latin typeface="Courier"/>
              </a:rPr>
              <a:t>
## Fichiers modifiés</a:t>
            </a:r>
          </a:p>
          <a:p>
            <a:pPr lvl="0" indent="0" marL="0">
              <a:buNone/>
            </a:pPr>
            <a:r>
              <a:rPr/>
              <a:t>$(git diff –stat HEAD~5)</a:t>
            </a:r>
          </a:p>
          <a:p>
            <a:pPr lvl="0" indent="0">
              <a:buNone/>
            </a:pPr>
            <a:r>
              <a:rPr>
                <a:latin typeface="Courier"/>
              </a:rPr>
              <a:t>
## Format
- Ce que j'ai fait hier
- Ce que je fais aujourd'hui
- Blockers éventuels</a:t>
            </a:r>
          </a:p>
          <a:p>
            <a:pPr lvl="0" indent="0" marL="0">
              <a:spcBef>
                <a:spcPts val="3000"/>
              </a:spcBef>
              <a:buNone/>
            </a:pPr>
            <a:r>
              <a:rPr b="1"/>
              <a:t>18.3 Créer un Subagent personnalisé</a:t>
            </a:r>
          </a:p>
          <a:p>
            <a:pPr lvl="0" indent="0" marL="0">
              <a:buNone/>
            </a:pPr>
            <a:r>
              <a:rPr b="1"/>
              <a:t>Emplacement des subagents :</a:t>
            </a:r>
          </a:p>
          <a:p>
            <a:pPr lvl="0" indent="0">
              <a:buNone/>
            </a:pPr>
            <a:r>
              <a:rPr>
                <a:latin typeface="Courier"/>
              </a:rPr>
              <a:t>.claude/
└── agents/
    ├── security-auditor.md
    └── migration-helper.md</a:t>
            </a:r>
          </a:p>
          <a:p>
            <a:pPr lvl="0" indent="0" marL="0">
              <a:buNone/>
            </a:pPr>
            <a:r>
              <a:rPr b="1"/>
              <a:t>Structure d’un subagent :</a:t>
            </a:r>
          </a:p>
          <a:p>
            <a:pPr lvl="0" indent="0">
              <a:buNone/>
            </a:pPr>
            <a:r>
              <a:rPr>
                <a:solidFill>
                  <a:srgbClr val="7F9F7F"/>
                </a:solidFill>
                <a:latin typeface="Courier"/>
              </a:rPr>
              <a:t>---</a:t>
            </a:r>
            <a:br/>
            <a:r>
              <a:rPr b="1">
                <a:solidFill>
                  <a:srgbClr val="7F9F7F"/>
                </a:solidFill>
                <a:latin typeface="Courier"/>
              </a:rPr>
              <a:t>name:</a:t>
            </a:r>
            <a:r>
              <a:rPr>
                <a:solidFill>
                  <a:srgbClr val="7F9F7F"/>
                </a:solidFill>
                <a:latin typeface="Courier"/>
              </a:rPr>
              <a:t> security-auditor</a:t>
            </a:r>
            <a:br/>
            <a:r>
              <a:rPr b="1">
                <a:solidFill>
                  <a:srgbClr val="7F9F7F"/>
                </a:solidFill>
                <a:latin typeface="Courier"/>
              </a:rPr>
              <a:t>description:</a:t>
            </a:r>
            <a:r>
              <a:rPr>
                <a:solidFill>
                  <a:srgbClr val="7F9F7F"/>
                </a:solidFill>
                <a:latin typeface="Courier"/>
              </a:rPr>
              <a:t> Agent spécialisé en audit de sécurité</a:t>
            </a:r>
            <a:br/>
            <a:r>
              <a:rPr b="1">
                <a:solidFill>
                  <a:srgbClr val="7F9F7F"/>
                </a:solidFill>
                <a:latin typeface="Courier"/>
              </a:rPr>
              <a:t>model:</a:t>
            </a:r>
            <a:r>
              <a:rPr>
                <a:solidFill>
                  <a:srgbClr val="7F9F7F"/>
                </a:solidFill>
                <a:latin typeface="Courier"/>
              </a:rPr>
              <a:t> opus              # Utilise Opus pour le raisonnement</a:t>
            </a:r>
            <a:br/>
            <a:r>
              <a:rPr b="1">
                <a:solidFill>
                  <a:srgbClr val="7F9F7F"/>
                </a:solidFill>
                <a:latin typeface="Courier"/>
              </a:rPr>
              <a:t>tools:</a:t>
            </a:r>
            <a:br/>
            <a:r>
              <a:rPr>
                <a:solidFill>
                  <a:srgbClr val="7F9F7F"/>
                </a:solidFill>
                <a:latin typeface="Courier"/>
              </a:rPr>
              <a:t>  - Read</a:t>
            </a:r>
            <a:br/>
            <a:r>
              <a:rPr>
                <a:solidFill>
                  <a:srgbClr val="7F9F7F"/>
                </a:solidFill>
                <a:latin typeface="Courier"/>
              </a:rPr>
              <a:t>  - Grep</a:t>
            </a:r>
            <a:br/>
            <a:r>
              <a:rPr>
                <a:solidFill>
                  <a:srgbClr val="7F9F7F"/>
                </a:solidFill>
                <a:latin typeface="Courier"/>
              </a:rPr>
              <a:t>  - Glob</a:t>
            </a:r>
            <a:br/>
            <a:r>
              <a:rPr>
                <a:solidFill>
                  <a:srgbClr val="7F9F7F"/>
                </a:solidFill>
                <a:latin typeface="Courier"/>
              </a:rPr>
              <a:t>  - WebSearch</a:t>
            </a:r>
            <a:br/>
            <a:r>
              <a:rPr>
                <a:solidFill>
                  <a:srgbClr val="7F9F7F"/>
                </a:solidFill>
                <a:latin typeface="Courier"/>
              </a:rPr>
              <a:t>---</a:t>
            </a:r>
            <a:br/>
            <a:br/>
            <a:r>
              <a:rPr>
                <a:solidFill>
                  <a:srgbClr val="EFEF8F"/>
                </a:solidFill>
                <a:latin typeface="Courier"/>
              </a:rPr>
              <a:t># Security Auditor Agent</a:t>
            </a:r>
            <a:br/>
            <a:br/>
            <a:r>
              <a:rPr>
                <a:solidFill>
                  <a:srgbClr val="CCCCCC"/>
                </a:solidFill>
                <a:latin typeface="Courier"/>
              </a:rPr>
              <a:t>Tu es un expert en sécurité applicative. Ton rôle est d'auditer le code pour identifier les vulnérabilités.</a:t>
            </a:r>
            <a:br/>
            <a:br/>
            <a:r>
              <a:rPr>
                <a:solidFill>
                  <a:srgbClr val="EFEF8F"/>
                </a:solidFill>
                <a:latin typeface="Courier"/>
              </a:rPr>
              <a:t>## Ton processus</a:t>
            </a:r>
            <a:br/>
            <a:br/>
            <a:r>
              <a:rPr>
                <a:solidFill>
                  <a:srgbClr val="CC9393"/>
                </a:solidFill>
                <a:latin typeface="Courier"/>
              </a:rPr>
              <a:t>1. </a:t>
            </a:r>
            <a:r>
              <a:rPr>
                <a:solidFill>
                  <a:srgbClr val="CCCCCC"/>
                </a:solidFill>
                <a:latin typeface="Courier"/>
              </a:rPr>
              <a:t>**Scan initial**</a:t>
            </a:r>
            <a:br/>
            <a:r>
              <a:rPr>
                <a:solidFill>
                  <a:srgbClr val="CC9393"/>
                </a:solidFill>
                <a:latin typeface="Courier"/>
              </a:rPr>
              <a:t>   - </a:t>
            </a:r>
            <a:r>
              <a:rPr>
                <a:solidFill>
                  <a:srgbClr val="CCCCCC"/>
                </a:solidFill>
                <a:latin typeface="Courier"/>
              </a:rPr>
              <a:t>Cherche les patterns dangereux (eval, exec, SQL concat)</a:t>
            </a:r>
            <a:br/>
            <a:r>
              <a:rPr>
                <a:solidFill>
                  <a:srgbClr val="CC9393"/>
                </a:solidFill>
                <a:latin typeface="Courier"/>
              </a:rPr>
              <a:t>   - </a:t>
            </a:r>
            <a:r>
              <a:rPr>
                <a:solidFill>
                  <a:srgbClr val="CCCCCC"/>
                </a:solidFill>
                <a:latin typeface="Courier"/>
              </a:rPr>
              <a:t>Identifie les inputs non validés</a:t>
            </a:r>
            <a:br/>
            <a:r>
              <a:rPr>
                <a:solidFill>
                  <a:srgbClr val="CC9393"/>
                </a:solidFill>
                <a:latin typeface="Courier"/>
              </a:rPr>
              <a:t>   - </a:t>
            </a:r>
            <a:r>
              <a:rPr>
                <a:solidFill>
                  <a:srgbClr val="CCCCCC"/>
                </a:solidFill>
                <a:latin typeface="Courier"/>
              </a:rPr>
              <a:t>Repère les secrets potentiels</a:t>
            </a:r>
            <a:br/>
            <a:br/>
            <a:r>
              <a:rPr>
                <a:solidFill>
                  <a:srgbClr val="CC9393"/>
                </a:solidFill>
                <a:latin typeface="Courier"/>
              </a:rPr>
              <a:t>2. </a:t>
            </a:r>
            <a:r>
              <a:rPr>
                <a:solidFill>
                  <a:srgbClr val="CCCCCC"/>
                </a:solidFill>
                <a:latin typeface="Courier"/>
              </a:rPr>
              <a:t>**Analyse approfondie**</a:t>
            </a:r>
            <a:br/>
            <a:r>
              <a:rPr>
                <a:solidFill>
                  <a:srgbClr val="CC9393"/>
                </a:solidFill>
                <a:latin typeface="Courier"/>
              </a:rPr>
              <a:t>   - </a:t>
            </a:r>
            <a:r>
              <a:rPr>
                <a:solidFill>
                  <a:srgbClr val="CCCCCC"/>
                </a:solidFill>
                <a:latin typeface="Courier"/>
              </a:rPr>
              <a:t>Trace le flux des données utilisateur</a:t>
            </a:r>
            <a:br/>
            <a:r>
              <a:rPr>
                <a:solidFill>
                  <a:srgbClr val="CC9393"/>
                </a:solidFill>
                <a:latin typeface="Courier"/>
              </a:rPr>
              <a:t>   - </a:t>
            </a:r>
            <a:r>
              <a:rPr>
                <a:solidFill>
                  <a:srgbClr val="CCCCCC"/>
                </a:solidFill>
                <a:latin typeface="Courier"/>
              </a:rPr>
              <a:t>Vérifie les autorisations</a:t>
            </a:r>
            <a:br/>
            <a:r>
              <a:rPr>
                <a:solidFill>
                  <a:srgbClr val="CC9393"/>
                </a:solidFill>
                <a:latin typeface="Courier"/>
              </a:rPr>
              <a:t>   - </a:t>
            </a:r>
            <a:r>
              <a:rPr>
                <a:solidFill>
                  <a:srgbClr val="CCCCCC"/>
                </a:solidFill>
                <a:latin typeface="Courier"/>
              </a:rPr>
              <a:t>Analyse la gestion des sessions</a:t>
            </a:r>
            <a:br/>
            <a:br/>
            <a:r>
              <a:rPr>
                <a:solidFill>
                  <a:srgbClr val="CC9393"/>
                </a:solidFill>
                <a:latin typeface="Courier"/>
              </a:rPr>
              <a:t>3. </a:t>
            </a:r>
            <a:r>
              <a:rPr>
                <a:solidFill>
                  <a:srgbClr val="CCCCCC"/>
                </a:solidFill>
                <a:latin typeface="Courier"/>
              </a:rPr>
              <a:t>**Rapport**</a:t>
            </a:r>
            <a:br/>
            <a:r>
              <a:rPr>
                <a:solidFill>
                  <a:srgbClr val="CC9393"/>
                </a:solidFill>
                <a:latin typeface="Courier"/>
              </a:rPr>
              <a:t>   - </a:t>
            </a:r>
            <a:r>
              <a:rPr>
                <a:solidFill>
                  <a:srgbClr val="CCCCCC"/>
                </a:solidFill>
                <a:latin typeface="Courier"/>
              </a:rPr>
              <a:t>Liste les vulnérabilités trouvées</a:t>
            </a:r>
            <a:br/>
            <a:r>
              <a:rPr>
                <a:solidFill>
                  <a:srgbClr val="CC9393"/>
                </a:solidFill>
                <a:latin typeface="Courier"/>
              </a:rPr>
              <a:t>   - </a:t>
            </a:r>
            <a:r>
              <a:rPr>
                <a:solidFill>
                  <a:srgbClr val="CCCCCC"/>
                </a:solidFill>
                <a:latin typeface="Courier"/>
              </a:rPr>
              <a:t>Classe par sévérité (critique/haute/moyenne/basse)</a:t>
            </a:r>
            <a:br/>
            <a:r>
              <a:rPr>
                <a:solidFill>
                  <a:srgbClr val="CC9393"/>
                </a:solidFill>
                <a:latin typeface="Courier"/>
              </a:rPr>
              <a:t>   - </a:t>
            </a:r>
            <a:r>
              <a:rPr>
                <a:solidFill>
                  <a:srgbClr val="CCCCCC"/>
                </a:solidFill>
                <a:latin typeface="Courier"/>
              </a:rPr>
              <a:t>Propose des corrections</a:t>
            </a:r>
            <a:br/>
            <a:br/>
            <a:r>
              <a:rPr>
                <a:solidFill>
                  <a:srgbClr val="EFEF8F"/>
                </a:solidFill>
                <a:latin typeface="Courier"/>
              </a:rPr>
              <a:t>## Vulnérabilités à chercher</a:t>
            </a:r>
            <a:br/>
            <a:br/>
            <a:r>
              <a:rPr>
                <a:solidFill>
                  <a:srgbClr val="CC9393"/>
                </a:solidFill>
                <a:latin typeface="Courier"/>
              </a:rPr>
              <a:t>- </a:t>
            </a:r>
            <a:r>
              <a:rPr>
                <a:solidFill>
                  <a:srgbClr val="CCCCCC"/>
                </a:solidFill>
                <a:latin typeface="Courier"/>
              </a:rPr>
              <a:t>Injection SQL</a:t>
            </a:r>
            <a:br/>
            <a:r>
              <a:rPr>
                <a:solidFill>
                  <a:srgbClr val="CC9393"/>
                </a:solidFill>
                <a:latin typeface="Courier"/>
              </a:rPr>
              <a:t>- </a:t>
            </a:r>
            <a:r>
              <a:rPr>
                <a:solidFill>
                  <a:srgbClr val="CCCCCC"/>
                </a:solidFill>
                <a:latin typeface="Courier"/>
              </a:rPr>
              <a:t>XSS (Cross-Site Scripting)</a:t>
            </a:r>
            <a:br/>
            <a:r>
              <a:rPr>
                <a:solidFill>
                  <a:srgbClr val="CC9393"/>
                </a:solidFill>
                <a:latin typeface="Courier"/>
              </a:rPr>
              <a:t>- </a:t>
            </a:r>
            <a:r>
              <a:rPr>
                <a:solidFill>
                  <a:srgbClr val="CCCCCC"/>
                </a:solidFill>
                <a:latin typeface="Courier"/>
              </a:rPr>
              <a:t>CSRF (Cross-Site Request Forgery)</a:t>
            </a:r>
            <a:br/>
            <a:r>
              <a:rPr>
                <a:solidFill>
                  <a:srgbClr val="CC9393"/>
                </a:solidFill>
                <a:latin typeface="Courier"/>
              </a:rPr>
              <a:t>- </a:t>
            </a:r>
            <a:r>
              <a:rPr>
                <a:solidFill>
                  <a:srgbClr val="CCCCCC"/>
                </a:solidFill>
                <a:latin typeface="Courier"/>
              </a:rPr>
              <a:t>Injection de commandes</a:t>
            </a:r>
            <a:br/>
            <a:r>
              <a:rPr>
                <a:solidFill>
                  <a:srgbClr val="CC9393"/>
                </a:solidFill>
                <a:latin typeface="Courier"/>
              </a:rPr>
              <a:t>- </a:t>
            </a:r>
            <a:r>
              <a:rPr>
                <a:solidFill>
                  <a:srgbClr val="CCCCCC"/>
                </a:solidFill>
                <a:latin typeface="Courier"/>
              </a:rPr>
              <a:t>Path traversal</a:t>
            </a:r>
            <a:br/>
            <a:r>
              <a:rPr>
                <a:solidFill>
                  <a:srgbClr val="CC9393"/>
                </a:solidFill>
                <a:latin typeface="Courier"/>
              </a:rPr>
              <a:t>- </a:t>
            </a:r>
            <a:r>
              <a:rPr>
                <a:solidFill>
                  <a:srgbClr val="CCCCCC"/>
                </a:solidFill>
                <a:latin typeface="Courier"/>
              </a:rPr>
              <a:t>Désérialisation non sécurisée</a:t>
            </a:r>
            <a:br/>
            <a:r>
              <a:rPr>
                <a:solidFill>
                  <a:srgbClr val="CC9393"/>
                </a:solidFill>
                <a:latin typeface="Courier"/>
              </a:rPr>
              <a:t>- </a:t>
            </a:r>
            <a:r>
              <a:rPr>
                <a:solidFill>
                  <a:srgbClr val="CCCCCC"/>
                </a:solidFill>
                <a:latin typeface="Courier"/>
              </a:rPr>
              <a:t>Secrets hardcodés</a:t>
            </a:r>
            <a:br/>
            <a:br/>
            <a:r>
              <a:rPr>
                <a:solidFill>
                  <a:srgbClr val="EFEF8F"/>
                </a:solidFill>
                <a:latin typeface="Courier"/>
              </a:rPr>
              <a:t>## Output</a:t>
            </a:r>
            <a:br/>
            <a:br/>
            <a:r>
              <a:rPr>
                <a:solidFill>
                  <a:srgbClr val="CCCCCC"/>
                </a:solidFill>
                <a:latin typeface="Courier"/>
              </a:rPr>
              <a:t>Retourne un rapport structuré avec :</a:t>
            </a:r>
            <a:br/>
            <a:r>
              <a:rPr>
                <a:solidFill>
                  <a:srgbClr val="CC9393"/>
                </a:solidFill>
                <a:latin typeface="Courier"/>
              </a:rPr>
              <a:t>- </a:t>
            </a:r>
            <a:r>
              <a:rPr>
                <a:solidFill>
                  <a:srgbClr val="CCCCCC"/>
                </a:solidFill>
                <a:latin typeface="Courier"/>
              </a:rPr>
              <a:t>Résumé exécutif</a:t>
            </a:r>
            <a:br/>
            <a:r>
              <a:rPr>
                <a:solidFill>
                  <a:srgbClr val="CC9393"/>
                </a:solidFill>
                <a:latin typeface="Courier"/>
              </a:rPr>
              <a:t>- </a:t>
            </a:r>
            <a:r>
              <a:rPr>
                <a:solidFill>
                  <a:srgbClr val="CCCCCC"/>
                </a:solidFill>
                <a:latin typeface="Courier"/>
              </a:rPr>
              <a:t>Liste détaillée des vulnérabilités</a:t>
            </a:r>
            <a:br/>
            <a:r>
              <a:rPr>
                <a:solidFill>
                  <a:srgbClr val="CC9393"/>
                </a:solidFill>
                <a:latin typeface="Courier"/>
              </a:rPr>
              <a:t>- </a:t>
            </a:r>
            <a:r>
              <a:rPr>
                <a:solidFill>
                  <a:srgbClr val="CCCCCC"/>
                </a:solidFill>
                <a:latin typeface="Courier"/>
              </a:rPr>
              <a:t>Recommandations priorisées</a:t>
            </a:r>
          </a:p>
          <a:p>
            <a:pPr lvl="0" indent="0" marL="0">
              <a:buNone/>
            </a:pPr>
            <a:r>
              <a:rPr b="1"/>
              <a:t>Appeler un subagent personnalisé :</a:t>
            </a:r>
          </a:p>
          <a:p>
            <a:pPr lvl="0" indent="0">
              <a:buNone/>
            </a:pPr>
            <a:r>
              <a:rPr>
                <a:latin typeface="Courier"/>
              </a:rPr>
              <a:t>&gt; Utilise l'agent security-auditor pour analyser src/api/
Claude lance le subagent et retourne le rapport.</a:t>
            </a:r>
          </a:p>
          <a:p>
            <a:pPr lvl="0" indent="0" marL="0">
              <a:spcBef>
                <a:spcPts val="3000"/>
              </a:spcBef>
              <a:buNone/>
            </a:pPr>
            <a:r>
              <a:rPr b="1"/>
              <a:t>18.4 Partager en équipe</a:t>
            </a:r>
          </a:p>
          <a:p>
            <a:pPr lvl="0" indent="0" marL="0">
              <a:buNone/>
            </a:pPr>
            <a:r>
              <a:rPr b="1"/>
              <a:t>Structure de plugin partageable :</a:t>
            </a:r>
          </a:p>
          <a:p>
            <a:pPr lvl="0" indent="0">
              <a:buNone/>
            </a:pPr>
            <a:r>
              <a:rPr>
                <a:latin typeface="Courier"/>
              </a:rPr>
              <a:t>my-team-plugin/
├── plugin.json          # Manifest du plugin
├── skills/
│   ├── code-review.md
│   └── standup.md
├── agents/
│   └── security-auditor.md
├── hooks/
│   └── pre-commit.sh
└── README.md</a:t>
            </a:r>
          </a:p>
          <a:p>
            <a:pPr lvl="0" indent="0" marL="0">
              <a:buNone/>
            </a:pPr>
            <a:r>
              <a:rPr b="1"/>
              <a:t>Fichier plugin.json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"name"</a:t>
            </a:r>
            <a:r>
              <a:rPr>
                <a:solidFill>
                  <a:srgbClr val="EFEF8F"/>
                </a:solidFill>
                <a:latin typeface="Courier"/>
              </a:rPr>
              <a:t>:</a:t>
            </a:r>
            <a:r>
              <a:rPr>
                <a:solidFill>
                  <a:srgbClr val="CCCCCC"/>
                </a:solidFill>
                <a:latin typeface="Courier"/>
              </a:rPr>
              <a:t> </a:t>
            </a:r>
            <a:r>
              <a:rPr>
                <a:solidFill>
                  <a:srgbClr val="CC9393"/>
                </a:solidFill>
                <a:latin typeface="Courier"/>
              </a:rPr>
              <a:t>"my-team-plugin"</a:t>
            </a:r>
            <a:r>
              <a:rPr>
                <a:solidFill>
                  <a:srgbClr val="EFEF8F"/>
                </a:solidFill>
                <a:latin typeface="Courier"/>
              </a:rPr>
              <a:t>,</a:t>
            </a:r>
            <a:br/>
            <a:r>
              <a:rPr>
                <a:solidFill>
                  <a:srgbClr val="CCCCCC"/>
                </a:solidFill>
                <a:latin typeface="Courier"/>
              </a:rPr>
              <a:t>  </a:t>
            </a:r>
            <a:r>
              <a:rPr>
                <a:solidFill>
                  <a:srgbClr val="DFDFBF"/>
                </a:solidFill>
                <a:latin typeface="Courier"/>
              </a:rPr>
              <a:t>"version"</a:t>
            </a:r>
            <a:r>
              <a:rPr>
                <a:solidFill>
                  <a:srgbClr val="EFEF8F"/>
                </a:solidFill>
                <a:latin typeface="Courier"/>
              </a:rPr>
              <a:t>:</a:t>
            </a:r>
            <a:r>
              <a:rPr>
                <a:solidFill>
                  <a:srgbClr val="CCCCCC"/>
                </a:solidFill>
                <a:latin typeface="Courier"/>
              </a:rPr>
              <a:t> </a:t>
            </a:r>
            <a:r>
              <a:rPr>
                <a:solidFill>
                  <a:srgbClr val="CC9393"/>
                </a:solidFill>
                <a:latin typeface="Courier"/>
              </a:rPr>
              <a:t>"1.0.0"</a:t>
            </a:r>
            <a:r>
              <a:rPr>
                <a:solidFill>
                  <a:srgbClr val="EFEF8F"/>
                </a:solidFill>
                <a:latin typeface="Courier"/>
              </a:rPr>
              <a:t>,</a:t>
            </a:r>
            <a:br/>
            <a:r>
              <a:rPr>
                <a:solidFill>
                  <a:srgbClr val="CCCCCC"/>
                </a:solidFill>
                <a:latin typeface="Courier"/>
              </a:rPr>
              <a:t>  </a:t>
            </a:r>
            <a:r>
              <a:rPr>
                <a:solidFill>
                  <a:srgbClr val="DFDFBF"/>
                </a:solidFill>
                <a:latin typeface="Courier"/>
              </a:rPr>
              <a:t>"description"</a:t>
            </a:r>
            <a:r>
              <a:rPr>
                <a:solidFill>
                  <a:srgbClr val="EFEF8F"/>
                </a:solidFill>
                <a:latin typeface="Courier"/>
              </a:rPr>
              <a:t>:</a:t>
            </a:r>
            <a:r>
              <a:rPr>
                <a:solidFill>
                  <a:srgbClr val="CCCCCC"/>
                </a:solidFill>
                <a:latin typeface="Courier"/>
              </a:rPr>
              <a:t> </a:t>
            </a:r>
            <a:r>
              <a:rPr>
                <a:solidFill>
                  <a:srgbClr val="CC9393"/>
                </a:solidFill>
                <a:latin typeface="Courier"/>
              </a:rPr>
              <a:t>"Plugin pour l'équipe X"</a:t>
            </a:r>
            <a:r>
              <a:rPr>
                <a:solidFill>
                  <a:srgbClr val="EFEF8F"/>
                </a:solidFill>
                <a:latin typeface="Courier"/>
              </a:rPr>
              <a:t>,</a:t>
            </a:r>
            <a:br/>
            <a:r>
              <a:rPr>
                <a:solidFill>
                  <a:srgbClr val="CCCCCC"/>
                </a:solidFill>
                <a:latin typeface="Courier"/>
              </a:rPr>
              <a:t>  </a:t>
            </a:r>
            <a:r>
              <a:rPr>
                <a:solidFill>
                  <a:srgbClr val="DFDFBF"/>
                </a:solidFill>
                <a:latin typeface="Courier"/>
              </a:rPr>
              <a:t>"author"</a:t>
            </a:r>
            <a:r>
              <a:rPr>
                <a:solidFill>
                  <a:srgbClr val="EFEF8F"/>
                </a:solidFill>
                <a:latin typeface="Courier"/>
              </a:rPr>
              <a:t>:</a:t>
            </a:r>
            <a:r>
              <a:rPr>
                <a:solidFill>
                  <a:srgbClr val="CCCCCC"/>
                </a:solidFill>
                <a:latin typeface="Courier"/>
              </a:rPr>
              <a:t> </a:t>
            </a:r>
            <a:r>
              <a:rPr>
                <a:solidFill>
                  <a:srgbClr val="CC9393"/>
                </a:solidFill>
                <a:latin typeface="Courier"/>
              </a:rPr>
              <a:t>"Team X"</a:t>
            </a:r>
            <a:r>
              <a:rPr>
                <a:solidFill>
                  <a:srgbClr val="EFEF8F"/>
                </a:solidFill>
                <a:latin typeface="Courier"/>
              </a:rPr>
              <a:t>,</a:t>
            </a:r>
            <a:br/>
            <a:r>
              <a:rPr>
                <a:solidFill>
                  <a:srgbClr val="CCCCCC"/>
                </a:solidFill>
                <a:latin typeface="Courier"/>
              </a:rPr>
              <a:t>  </a:t>
            </a:r>
            <a:r>
              <a:rPr>
                <a:solidFill>
                  <a:srgbClr val="DFDFBF"/>
                </a:solidFill>
                <a:latin typeface="Courier"/>
              </a:rPr>
              <a:t>"skills"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CC9393"/>
                </a:solidFill>
                <a:latin typeface="Courier"/>
              </a:rPr>
              <a:t>"skills/code-review.md"</a:t>
            </a:r>
            <a:r>
              <a:rPr>
                <a:solidFill>
                  <a:srgbClr val="EFEF8F"/>
                </a:solidFill>
                <a:latin typeface="Courier"/>
              </a:rPr>
              <a:t>,</a:t>
            </a:r>
            <a:br/>
            <a:r>
              <a:rPr>
                <a:solidFill>
                  <a:srgbClr val="CCCCCC"/>
                </a:solidFill>
                <a:latin typeface="Courier"/>
              </a:rPr>
              <a:t>    </a:t>
            </a:r>
            <a:r>
              <a:rPr>
                <a:solidFill>
                  <a:srgbClr val="CC9393"/>
                </a:solidFill>
                <a:latin typeface="Courier"/>
              </a:rPr>
              <a:t>"skills/standup.md"</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"agents"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CC9393"/>
                </a:solidFill>
                <a:latin typeface="Courier"/>
              </a:rPr>
              <a:t>"agents/security-auditor.md"</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"hooks"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"PostToolUse"</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"matcher"</a:t>
            </a:r>
            <a:r>
              <a:rPr>
                <a:solidFill>
                  <a:srgbClr val="EFEF8F"/>
                </a:solidFill>
                <a:latin typeface="Courier"/>
              </a:rPr>
              <a:t>:</a:t>
            </a:r>
            <a:r>
              <a:rPr>
                <a:solidFill>
                  <a:srgbClr val="CCCCCC"/>
                </a:solidFill>
                <a:latin typeface="Courier"/>
              </a:rPr>
              <a:t> </a:t>
            </a:r>
            <a:r>
              <a:rPr>
                <a:solidFill>
                  <a:srgbClr val="CC9393"/>
                </a:solidFill>
                <a:latin typeface="Courier"/>
              </a:rPr>
              <a:t>"Edit"</a:t>
            </a:r>
            <a:r>
              <a:rPr>
                <a:solidFill>
                  <a:srgbClr val="EFEF8F"/>
                </a:solidFill>
                <a:latin typeface="Courier"/>
              </a:rPr>
              <a:t>,</a:t>
            </a:r>
            <a:b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"./hooks/pre-commit.sh"</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buNone/>
            </a:pPr>
            <a:r>
              <a:rPr b="1"/>
              <a:t>Installation d’un plugin équipe :</a:t>
            </a:r>
          </a:p>
          <a:p>
            <a:pPr lvl="0" indent="0">
              <a:buNone/>
            </a:pPr>
            <a:r>
              <a:rPr>
                <a:solidFill>
                  <a:srgbClr val="7F9F7F"/>
                </a:solidFill>
                <a:latin typeface="Courier"/>
              </a:rPr>
              <a:t># Depuis un repo git</a:t>
            </a:r>
            <a:br/>
            <a:r>
              <a:rPr>
                <a:solidFill>
                  <a:srgbClr val="CCCCCC"/>
                </a:solidFill>
                <a:latin typeface="Courier"/>
              </a:rPr>
              <a:t>claude plugins install git@github.com:team/our-plugin.git</a:t>
            </a:r>
            <a:br/>
            <a:br/>
            <a:r>
              <a:rPr>
                <a:solidFill>
                  <a:srgbClr val="7F9F7F"/>
                </a:solidFill>
                <a:latin typeface="Courier"/>
              </a:rPr>
              <a:t># Depuis un dossier local</a:t>
            </a:r>
            <a:br/>
            <a:r>
              <a:rPr>
                <a:solidFill>
                  <a:srgbClr val="CCCCCC"/>
                </a:solidFill>
                <a:latin typeface="Courier"/>
              </a:rPr>
              <a:t>claude plugins install ./path/to/plugin</a:t>
            </a:r>
          </a:p>
          <a:p>
            <a:pPr lvl="0" indent="0" marL="0">
              <a:buNone/>
            </a:pPr>
            <a:r>
              <a:rPr b="1"/>
              <a:t>Exercice :</a:t>
            </a:r>
          </a:p>
          <a:p>
            <a:pPr lvl="0" indent="-342900" marL="342900">
              <a:buAutoNum type="arabicPeriod"/>
            </a:pPr>
            <a:r>
              <a:rPr/>
              <a:t>Créez une skill </a:t>
            </a:r>
            <a:r>
              <a:rPr>
                <a:latin typeface="Courier"/>
              </a:rPr>
              <a:t>/standup</a:t>
            </a:r>
            <a:r>
              <a:rPr/>
              <a:t> pour votre workflow</a:t>
            </a:r>
          </a:p>
          <a:p>
            <a:pPr lvl="0" indent="-342900" marL="342900">
              <a:buAutoNum type="arabicPeriod"/>
            </a:pPr>
            <a:r>
              <a:rPr/>
              <a:t>Créez une skill </a:t>
            </a:r>
            <a:r>
              <a:rPr>
                <a:latin typeface="Courier"/>
              </a:rPr>
              <a:t>/code-review</a:t>
            </a:r>
            <a:r>
              <a:rPr/>
              <a:t> avec vos critères</a:t>
            </a:r>
          </a:p>
          <a:p>
            <a:pPr lvl="0" indent="-342900" marL="342900">
              <a:buAutoNum type="arabicPeriod"/>
            </a:pPr>
            <a:r>
              <a:rPr/>
              <a:t>Testez les skills dans une session Claude Code</a:t>
            </a:r>
          </a:p>
          <a:p>
            <a:pPr lvl="0" indent="-342900" marL="342900">
              <a:buAutoNum type="arabicPeriod"/>
            </a:pPr>
            <a:r>
              <a:rPr/>
              <a:t>Bonus : créez un subagent spécialisé pour votre domaine</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Module 19 : Hooks - Automatisation événementielle (1h15)</a:t>
            </a:r>
          </a:p>
          <a:p>
            <a:pPr lvl="0" indent="0" marL="0">
              <a:buNone/>
            </a:pPr>
            <a:r>
              <a:rPr b="1"/>
              <a:t>Objectif pédagogique</a:t>
            </a:r>
            <a:r>
              <a:rPr/>
              <a:t> : À l’issue de ce module, l’apprenant sera capable d’expliquer le système de hooks de Claude Code, de configurer des hooks pour différents événements (PreToolUse, PostToolUse, SessionStart), et d’implémenter des automatisations comme le formatage automatique ou les notifications.</a:t>
            </a:r>
          </a:p>
          <a:p>
            <a:pPr lvl="0" indent="0" marL="0">
              <a:spcBef>
                <a:spcPts val="3000"/>
              </a:spcBef>
              <a:buNone/>
            </a:pPr>
            <a:r>
              <a:rPr b="1"/>
              <a:t>19.1 Comprendre les Hooks</a:t>
            </a:r>
          </a:p>
          <a:p>
            <a:pPr lvl="0" indent="0" marL="0">
              <a:buNone/>
            </a:pPr>
            <a:r>
              <a:rPr/>
              <a:t>Les Hooks permettent d’exécuter des actions automatiquement en réponse à des événements Claude Code.</a:t>
            </a:r>
          </a:p>
          <a:p>
            <a:pPr lvl="0" indent="0" marL="0">
              <a:buNone/>
            </a:pPr>
            <a:r>
              <a:rPr b="1"/>
              <a:t>Analogie :</a:t>
            </a:r>
            <a:r>
              <a:rPr/>
              <a:t> - Git hooks (pre-commit, post-merge) - Webhooks (événements → actions) - Event listeners (on click, on change)</a:t>
            </a:r>
          </a:p>
          <a:p>
            <a:pPr lvl="0" indent="0" marL="0">
              <a:buNone/>
            </a:pPr>
            <a:r>
              <a:rPr b="1"/>
              <a:t>Types de hooks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Type</a:t>
                      </a:r>
                    </a:p>
                  </a:txBody>
                  <a:tcPr/>
                </a:tc>
                <a:tc>
                  <a:txBody>
                    <a:bodyPr/>
                    <a:lstStyle/>
                    <a:p>
                      <a:pPr lvl="0" indent="0" marL="0">
                        <a:buNone/>
                      </a:pPr>
                      <a:r>
                        <a:rPr/>
                        <a:t>Description</a:t>
                      </a:r>
                    </a:p>
                  </a:txBody>
                  <a:tcPr/>
                </a:tc>
                <a:tc>
                  <a:txBody>
                    <a:bodyPr/>
                    <a:lstStyle/>
                    <a:p>
                      <a:pPr lvl="0" indent="0" marL="0">
                        <a:buNone/>
                      </a:pPr>
                      <a:r>
                        <a:rPr/>
                        <a:t>Exemple</a:t>
                      </a:r>
                    </a:p>
                  </a:txBody>
                  <a:tcPr/>
                </a:tc>
              </a:tr>
              <a:tr h="0">
                <a:tc>
                  <a:txBody>
                    <a:bodyPr/>
                    <a:lstStyle/>
                    <a:p>
                      <a:pPr lvl="0" indent="0" marL="0">
                        <a:buNone/>
                      </a:pPr>
                      <a:r>
                        <a:rPr/>
                        <a:t>command</a:t>
                      </a:r>
                    </a:p>
                  </a:txBody>
                </a:tc>
                <a:tc>
                  <a:txBody>
                    <a:bodyPr/>
                    <a:lstStyle/>
                    <a:p>
                      <a:pPr lvl="0" indent="0" marL="0">
                        <a:buNone/>
                      </a:pPr>
                      <a:r>
                        <a:rPr/>
                        <a:t>Script shell</a:t>
                      </a:r>
                    </a:p>
                  </a:txBody>
                </a:tc>
                <a:tc>
                  <a:txBody>
                    <a:bodyPr/>
                    <a:lstStyle/>
                    <a:p>
                      <a:pPr lvl="0" indent="0" marL="0">
                        <a:buNone/>
                      </a:pPr>
                      <a:r>
                        <a:rPr/>
                        <a:t>Lancer un linter</a:t>
                      </a:r>
                    </a:p>
                  </a:txBody>
                </a:tc>
              </a:tr>
              <a:tr h="0">
                <a:tc>
                  <a:txBody>
                    <a:bodyPr/>
                    <a:lstStyle/>
                    <a:p>
                      <a:pPr lvl="0" indent="0" marL="0">
                        <a:buNone/>
                      </a:pPr>
                      <a:r>
                        <a:rPr/>
                        <a:t>prompt</a:t>
                      </a:r>
                    </a:p>
                  </a:txBody>
                </a:tc>
                <a:tc>
                  <a:txBody>
                    <a:bodyPr/>
                    <a:lstStyle/>
                    <a:p>
                      <a:pPr lvl="0" indent="0" marL="0">
                        <a:buNone/>
                      </a:pPr>
                      <a:r>
                        <a:rPr/>
                        <a:t>Évaluation LLM</a:t>
                      </a:r>
                    </a:p>
                  </a:txBody>
                </a:tc>
                <a:tc>
                  <a:txBody>
                    <a:bodyPr/>
                    <a:lstStyle/>
                    <a:p>
                      <a:pPr lvl="0" indent="0" marL="0">
                        <a:buNone/>
                      </a:pPr>
                      <a:r>
                        <a:rPr/>
                        <a:t>Vérifier avec un autre prompt</a:t>
                      </a:r>
                    </a:p>
                  </a:txBody>
                </a:tc>
              </a:tr>
              <a:tr h="0">
                <a:tc>
                  <a:txBody>
                    <a:bodyPr/>
                    <a:lstStyle/>
                    <a:p>
                      <a:pPr lvl="0" indent="0" marL="0">
                        <a:buNone/>
                      </a:pPr>
                      <a:r>
                        <a:rPr/>
                        <a:t>agent</a:t>
                      </a:r>
                    </a:p>
                  </a:txBody>
                </a:tc>
                <a:tc>
                  <a:txBody>
                    <a:bodyPr/>
                    <a:lstStyle/>
                    <a:p>
                      <a:pPr lvl="0" indent="0" marL="0">
                        <a:buNone/>
                      </a:pPr>
                      <a:r>
                        <a:rPr/>
                        <a:t>Sous-agent</a:t>
                      </a:r>
                    </a:p>
                  </a:txBody>
                </a:tc>
                <a:tc>
                  <a:txBody>
                    <a:bodyPr/>
                    <a:lstStyle/>
                    <a:p>
                      <a:pPr lvl="0" indent="0" marL="0">
                        <a:buNone/>
                      </a:pPr>
                      <a:r>
                        <a:rPr/>
                        <a:t>Analyse automatique</a:t>
                      </a:r>
                    </a:p>
                  </a:txBody>
                </a:tc>
              </a:tr>
            </a:tbl>
          </a:graphicData>
        </a:graphic>
      </p:graphicFrame>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19.2 Événements disponibles</a:t>
            </a:r>
          </a:p>
          <a:p>
            <a:pPr lvl="0" indent="0" marL="0">
              <a:buNone/>
            </a:pPr>
            <a:r>
              <a:rPr b="1"/>
              <a:t>Cycle de vie de session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Événement</a:t>
                      </a:r>
                    </a:p>
                  </a:txBody>
                  <a:tcPr/>
                </a:tc>
                <a:tc>
                  <a:txBody>
                    <a:bodyPr/>
                    <a:lstStyle/>
                    <a:p>
                      <a:pPr lvl="0" indent="0" marL="0">
                        <a:buNone/>
                      </a:pPr>
                      <a:r>
                        <a:rPr/>
                        <a:t>Quand</a:t>
                      </a:r>
                    </a:p>
                  </a:txBody>
                  <a:tcPr/>
                </a:tc>
                <a:tc>
                  <a:txBody>
                    <a:bodyPr/>
                    <a:lstStyle/>
                    <a:p>
                      <a:pPr lvl="0" indent="0" marL="0">
                        <a:buNone/>
                      </a:pPr>
                      <a:r>
                        <a:rPr/>
                        <a:t>Usage typique</a:t>
                      </a:r>
                    </a:p>
                  </a:txBody>
                  <a:tcPr/>
                </a:tc>
              </a:tr>
              <a:tr h="0">
                <a:tc>
                  <a:txBody>
                    <a:bodyPr/>
                    <a:lstStyle/>
                    <a:p>
                      <a:pPr lvl="0" indent="0" marL="0">
                        <a:buNone/>
                      </a:pPr>
                      <a:r>
                        <a:rPr>
                          <a:latin typeface="Courier"/>
                        </a:rPr>
                        <a:t>SessionStart</a:t>
                      </a:r>
                    </a:p>
                  </a:txBody>
                </a:tc>
                <a:tc>
                  <a:txBody>
                    <a:bodyPr/>
                    <a:lstStyle/>
                    <a:p>
                      <a:pPr lvl="0" indent="0" marL="0">
                        <a:buNone/>
                      </a:pPr>
                      <a:r>
                        <a:rPr/>
                        <a:t>Début de session</a:t>
                      </a:r>
                    </a:p>
                  </a:txBody>
                </a:tc>
                <a:tc>
                  <a:txBody>
                    <a:bodyPr/>
                    <a:lstStyle/>
                    <a:p>
                      <a:pPr lvl="0" indent="0" marL="0">
                        <a:buNone/>
                      </a:pPr>
                      <a:r>
                        <a:rPr/>
                        <a:t>Charger du contexte</a:t>
                      </a:r>
                    </a:p>
                  </a:txBody>
                </a:tc>
              </a:tr>
              <a:tr h="0">
                <a:tc>
                  <a:txBody>
                    <a:bodyPr/>
                    <a:lstStyle/>
                    <a:p>
                      <a:pPr lvl="0" indent="0" marL="0">
                        <a:buNone/>
                      </a:pPr>
                      <a:r>
                        <a:rPr>
                          <a:latin typeface="Courier"/>
                        </a:rPr>
                        <a:t>SessionEnd</a:t>
                      </a:r>
                    </a:p>
                  </a:txBody>
                </a:tc>
                <a:tc>
                  <a:txBody>
                    <a:bodyPr/>
                    <a:lstStyle/>
                    <a:p>
                      <a:pPr lvl="0" indent="0" marL="0">
                        <a:buNone/>
                      </a:pPr>
                      <a:r>
                        <a:rPr/>
                        <a:t>Fin de session</a:t>
                      </a:r>
                    </a:p>
                  </a:txBody>
                </a:tc>
                <a:tc>
                  <a:txBody>
                    <a:bodyPr/>
                    <a:lstStyle/>
                    <a:p>
                      <a:pPr lvl="0" indent="0" marL="0">
                        <a:buNone/>
                      </a:pPr>
                      <a:r>
                        <a:rPr/>
                        <a:t>Sauvegarder des notes</a:t>
                      </a:r>
                    </a:p>
                  </a:txBody>
                </a:tc>
              </a:tr>
              <a:tr h="0">
                <a:tc>
                  <a:txBody>
                    <a:bodyPr/>
                    <a:lstStyle/>
                    <a:p>
                      <a:pPr lvl="0" indent="0" marL="0">
                        <a:buNone/>
                      </a:pPr>
                      <a:r>
                        <a:rPr>
                          <a:latin typeface="Courier"/>
                        </a:rPr>
                        <a:t>Stop</a:t>
                      </a:r>
                    </a:p>
                  </a:txBody>
                </a:tc>
                <a:tc>
                  <a:txBody>
                    <a:bodyPr/>
                    <a:lstStyle/>
                    <a:p>
                      <a:pPr lvl="0" indent="0" marL="0">
                        <a:buNone/>
                      </a:pPr>
                      <a:r>
                        <a:rPr/>
                        <a:t>Fin de réponse</a:t>
                      </a:r>
                    </a:p>
                  </a:txBody>
                </a:tc>
                <a:tc>
                  <a:txBody>
                    <a:bodyPr/>
                    <a:lstStyle/>
                    <a:p>
                      <a:pPr lvl="0" indent="0" marL="0">
                        <a:buNone/>
                      </a:pPr>
                      <a:r>
                        <a:rPr/>
                        <a:t>Notification</a:t>
                      </a:r>
                    </a:p>
                  </a:txBody>
                </a:tc>
              </a:tr>
            </a:tbl>
          </a:graphicData>
        </a:graphic>
      </p:graphicFrame>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Interaction utilisateur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079500"/>
                <a:gridCol w="2324100"/>
              </a:tblGrid>
              <a:tr h="0">
                <a:tc>
                  <a:txBody>
                    <a:bodyPr/>
                    <a:lstStyle/>
                    <a:p>
                      <a:pPr lvl="0" indent="0" marL="0">
                        <a:buNone/>
                      </a:pPr>
                      <a:r>
                        <a:rPr/>
                        <a:t>Événement</a:t>
                      </a:r>
                    </a:p>
                  </a:txBody>
                  <a:tcPr/>
                </a:tc>
                <a:tc>
                  <a:txBody>
                    <a:bodyPr/>
                    <a:lstStyle/>
                    <a:p>
                      <a:pPr lvl="0" indent="0" marL="0">
                        <a:buNone/>
                      </a:pPr>
                      <a:r>
                        <a:rPr/>
                        <a:t>Quand</a:t>
                      </a:r>
                    </a:p>
                  </a:txBody>
                  <a:tcPr/>
                </a:tc>
                <a:tc>
                  <a:txBody>
                    <a:bodyPr/>
                    <a:lstStyle/>
                    <a:p>
                      <a:pPr lvl="0" indent="0" marL="0">
                        <a:buNone/>
                      </a:pPr>
                      <a:r>
                        <a:rPr/>
                        <a:t>Usage typique</a:t>
                      </a:r>
                    </a:p>
                  </a:txBody>
                  <a:tcPr/>
                </a:tc>
              </a:tr>
              <a:tr h="0">
                <a:tc>
                  <a:txBody>
                    <a:bodyPr/>
                    <a:lstStyle/>
                    <a:p>
                      <a:pPr lvl="0" indent="0" marL="0">
                        <a:buNone/>
                      </a:pPr>
                      <a:r>
                        <a:rPr>
                          <a:latin typeface="Courier"/>
                        </a:rPr>
                        <a:t>UserPromptSubmit</a:t>
                      </a:r>
                    </a:p>
                  </a:txBody>
                </a:tc>
                <a:tc>
                  <a:txBody>
                    <a:bodyPr/>
                    <a:lstStyle/>
                    <a:p>
                      <a:pPr lvl="0" indent="0" marL="0">
                        <a:buNone/>
                      </a:pPr>
                      <a:r>
                        <a:rPr/>
                        <a:t>Avant traitement du prompt</a:t>
                      </a:r>
                    </a:p>
                  </a:txBody>
                </a:tc>
                <a:tc>
                  <a:txBody>
                    <a:bodyPr/>
                    <a:lstStyle/>
                    <a:p>
                      <a:pPr lvl="0" indent="0" marL="0">
                        <a:buNone/>
                      </a:pPr>
                      <a:r>
                        <a:rPr/>
                        <a:t>Validation, enrichissement</a:t>
                      </a:r>
                    </a:p>
                  </a:txBody>
                </a:tc>
              </a:tr>
              <a:tr h="0">
                <a:tc>
                  <a:txBody>
                    <a:bodyPr/>
                    <a:lstStyle/>
                    <a:p>
                      <a:pPr lvl="0" indent="0" marL="0">
                        <a:buNone/>
                      </a:pPr>
                      <a:r>
                        <a:rPr>
                          <a:latin typeface="Courier"/>
                        </a:rPr>
                        <a:t>PermissionRequest</a:t>
                      </a:r>
                    </a:p>
                  </a:txBody>
                </a:tc>
                <a:tc>
                  <a:txBody>
                    <a:bodyPr/>
                    <a:lstStyle/>
                    <a:p>
                      <a:pPr lvl="0" indent="0" marL="0">
                        <a:buNone/>
                      </a:pPr>
                      <a:r>
                        <a:rPr/>
                        <a:t>Demande de permission</a:t>
                      </a:r>
                    </a:p>
                  </a:txBody>
                </a:tc>
                <a:tc>
                  <a:txBody>
                    <a:bodyPr/>
                    <a:lstStyle/>
                    <a:p>
                      <a:pPr lvl="0" indent="0" marL="0">
                        <a:buNone/>
                      </a:pPr>
                      <a:r>
                        <a:rPr/>
                        <a:t>Logging, auto-décision</a:t>
                      </a:r>
                    </a:p>
                  </a:txBody>
                </a:tc>
              </a:tr>
            </a:tbl>
          </a:graphicData>
        </a:graphic>
      </p:graphicFrame>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Outils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Événement</a:t>
                      </a:r>
                    </a:p>
                  </a:txBody>
                  <a:tcPr/>
                </a:tc>
                <a:tc>
                  <a:txBody>
                    <a:bodyPr/>
                    <a:lstStyle/>
                    <a:p>
                      <a:pPr lvl="0" indent="0" marL="0">
                        <a:buNone/>
                      </a:pPr>
                      <a:r>
                        <a:rPr/>
                        <a:t>Quand</a:t>
                      </a:r>
                    </a:p>
                  </a:txBody>
                  <a:tcPr/>
                </a:tc>
                <a:tc>
                  <a:txBody>
                    <a:bodyPr/>
                    <a:lstStyle/>
                    <a:p>
                      <a:pPr lvl="0" indent="0" marL="0">
                        <a:buNone/>
                      </a:pPr>
                      <a:r>
                        <a:rPr/>
                        <a:t>Usage typique</a:t>
                      </a:r>
                    </a:p>
                  </a:txBody>
                  <a:tcPr/>
                </a:tc>
              </a:tr>
              <a:tr h="0">
                <a:tc>
                  <a:txBody>
                    <a:bodyPr/>
                    <a:lstStyle/>
                    <a:p>
                      <a:pPr lvl="0" indent="0" marL="0">
                        <a:buNone/>
                      </a:pPr>
                      <a:r>
                        <a:rPr>
                          <a:latin typeface="Courier"/>
                        </a:rPr>
                        <a:t>PreToolUse</a:t>
                      </a:r>
                    </a:p>
                  </a:txBody>
                </a:tc>
                <a:tc>
                  <a:txBody>
                    <a:bodyPr/>
                    <a:lstStyle/>
                    <a:p>
                      <a:pPr lvl="0" indent="0" marL="0">
                        <a:buNone/>
                      </a:pPr>
                      <a:r>
                        <a:rPr/>
                        <a:t>Avant un outil</a:t>
                      </a:r>
                    </a:p>
                  </a:txBody>
                </a:tc>
                <a:tc>
                  <a:txBody>
                    <a:bodyPr/>
                    <a:lstStyle/>
                    <a:p>
                      <a:pPr lvl="0" indent="0" marL="0">
                        <a:buNone/>
                      </a:pPr>
                      <a:r>
                        <a:rPr/>
                        <a:t>Validation, blocage</a:t>
                      </a:r>
                    </a:p>
                  </a:txBody>
                </a:tc>
              </a:tr>
              <a:tr h="0">
                <a:tc>
                  <a:txBody>
                    <a:bodyPr/>
                    <a:lstStyle/>
                    <a:p>
                      <a:pPr lvl="0" indent="0" marL="0">
                        <a:buNone/>
                      </a:pPr>
                      <a:r>
                        <a:rPr>
                          <a:latin typeface="Courier"/>
                        </a:rPr>
                        <a:t>PostToolUse</a:t>
                      </a:r>
                    </a:p>
                  </a:txBody>
                </a:tc>
                <a:tc>
                  <a:txBody>
                    <a:bodyPr/>
                    <a:lstStyle/>
                    <a:p>
                      <a:pPr lvl="0" indent="0" marL="0">
                        <a:buNone/>
                      </a:pPr>
                      <a:r>
                        <a:rPr/>
                        <a:t>Après un outil</a:t>
                      </a:r>
                    </a:p>
                  </a:txBody>
                </a:tc>
                <a:tc>
                  <a:txBody>
                    <a:bodyPr/>
                    <a:lstStyle/>
                    <a:p>
                      <a:pPr lvl="0" indent="0" marL="0">
                        <a:buNone/>
                      </a:pPr>
                      <a:r>
                        <a:rPr/>
                        <a:t>Formatage, notification</a:t>
                      </a:r>
                    </a:p>
                  </a:txBody>
                </a:tc>
              </a:tr>
            </a:tbl>
          </a:graphicData>
        </a:graphic>
      </p:graphicFrame>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buNone/>
            </a:pPr>
            <a:r>
              <a:rPr b="1"/>
              <a:t>Subagents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buNone/>
                      </a:pPr>
                      <a:r>
                        <a:rPr/>
                        <a:t>Événement</a:t>
                      </a:r>
                    </a:p>
                  </a:txBody>
                  <a:tcPr/>
                </a:tc>
                <a:tc>
                  <a:txBody>
                    <a:bodyPr/>
                    <a:lstStyle/>
                    <a:p>
                      <a:pPr lvl="0" indent="0" marL="0">
                        <a:buNone/>
                      </a:pPr>
                      <a:r>
                        <a:rPr/>
                        <a:t>Quand</a:t>
                      </a:r>
                    </a:p>
                  </a:txBody>
                  <a:tcPr/>
                </a:tc>
                <a:tc>
                  <a:txBody>
                    <a:bodyPr/>
                    <a:lstStyle/>
                    <a:p>
                      <a:pPr lvl="0" indent="0" marL="0">
                        <a:buNone/>
                      </a:pPr>
                      <a:r>
                        <a:rPr/>
                        <a:t>Usage typique</a:t>
                      </a:r>
                    </a:p>
                  </a:txBody>
                  <a:tcPr/>
                </a:tc>
              </a:tr>
              <a:tr h="0">
                <a:tc>
                  <a:txBody>
                    <a:bodyPr/>
                    <a:lstStyle/>
                    <a:p>
                      <a:pPr lvl="0" indent="0" marL="0">
                        <a:buNone/>
                      </a:pPr>
                      <a:r>
                        <a:rPr>
                          <a:latin typeface="Courier"/>
                        </a:rPr>
                        <a:t>SubagentStart</a:t>
                      </a:r>
                    </a:p>
                  </a:txBody>
                </a:tc>
                <a:tc>
                  <a:txBody>
                    <a:bodyPr/>
                    <a:lstStyle/>
                    <a:p>
                      <a:pPr lvl="0" indent="0" marL="0">
                        <a:buNone/>
                      </a:pPr>
                      <a:r>
                        <a:rPr/>
                        <a:t>Lancement subagent</a:t>
                      </a:r>
                    </a:p>
                  </a:txBody>
                </a:tc>
                <a:tc>
                  <a:txBody>
                    <a:bodyPr/>
                    <a:lstStyle/>
                    <a:p>
                      <a:pPr lvl="0" indent="0" marL="0">
                        <a:buNone/>
                      </a:pPr>
                      <a:r>
                        <a:rPr/>
                        <a:t>Logging</a:t>
                      </a:r>
                    </a:p>
                  </a:txBody>
                </a:tc>
              </a:tr>
              <a:tr h="0">
                <a:tc>
                  <a:txBody>
                    <a:bodyPr/>
                    <a:lstStyle/>
                    <a:p>
                      <a:pPr lvl="0" indent="0" marL="0">
                        <a:buNone/>
                      </a:pPr>
                      <a:r>
                        <a:rPr>
                          <a:latin typeface="Courier"/>
                        </a:rPr>
                        <a:t>SubagentStop</a:t>
                      </a:r>
                    </a:p>
                  </a:txBody>
                </a:tc>
                <a:tc>
                  <a:txBody>
                    <a:bodyPr/>
                    <a:lstStyle/>
                    <a:p>
                      <a:pPr lvl="0" indent="0" marL="0">
                        <a:buNone/>
                      </a:pPr>
                      <a:r>
                        <a:rPr/>
                        <a:t>Fin subagent</a:t>
                      </a:r>
                    </a:p>
                  </a:txBody>
                </a:tc>
                <a:tc>
                  <a:txBody>
                    <a:bodyPr/>
                    <a:lstStyle/>
                    <a:p>
                      <a:pPr lvl="0" indent="0" marL="0">
                        <a:buNone/>
                      </a:pPr>
                      <a:r>
                        <a:rPr/>
                        <a:t>Analyse résultat</a:t>
                      </a:r>
                    </a:p>
                  </a:txBody>
                </a:tc>
              </a:tr>
            </a:tbl>
          </a:graphicData>
        </a:graphic>
      </p:graphicFrame>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19.3 Créer des Hooks</a:t>
            </a:r>
          </a:p>
          <a:p>
            <a:pPr lvl="0" indent="0" marL="0">
              <a:buNone/>
            </a:pPr>
            <a:r>
              <a:rPr b="1"/>
              <a:t>Configuration dans settings.json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"hooks"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"PostToolUse"</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"matcher"</a:t>
            </a:r>
            <a:r>
              <a:rPr>
                <a:solidFill>
                  <a:srgbClr val="EFEF8F"/>
                </a:solidFill>
                <a:latin typeface="Courier"/>
              </a:rPr>
              <a:t>:</a:t>
            </a:r>
            <a:r>
              <a:rPr>
                <a:solidFill>
                  <a:srgbClr val="CCCCCC"/>
                </a:solidFill>
                <a:latin typeface="Courier"/>
              </a:rPr>
              <a:t> </a:t>
            </a:r>
            <a:r>
              <a:rPr>
                <a:solidFill>
                  <a:srgbClr val="CC9393"/>
                </a:solidFill>
                <a:latin typeface="Courier"/>
              </a:rPr>
              <a:t>"Edit"</a:t>
            </a:r>
            <a:r>
              <a:rPr>
                <a:solidFill>
                  <a:srgbClr val="EFEF8F"/>
                </a:solidFill>
                <a:latin typeface="Courier"/>
              </a:rPr>
              <a:t>,</a:t>
            </a:r>
            <a:b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"npm"</a:t>
            </a:r>
            <a:r>
              <a:rPr>
                <a:solidFill>
                  <a:srgbClr val="EFEF8F"/>
                </a:solidFill>
                <a:latin typeface="Courier"/>
              </a:rPr>
              <a:t>,</a:t>
            </a:r>
            <a:r>
              <a:rPr>
                <a:solidFill>
                  <a:srgbClr val="CCCCCC"/>
                </a:solidFill>
                <a:latin typeface="Courier"/>
              </a:rPr>
              <a:t> </a:t>
            </a:r>
            <a:r>
              <a:rPr>
                <a:solidFill>
                  <a:srgbClr val="CC9393"/>
                </a:solidFill>
                <a:latin typeface="Courier"/>
              </a:rPr>
              <a:t>"run"</a:t>
            </a:r>
            <a:r>
              <a:rPr>
                <a:solidFill>
                  <a:srgbClr val="EFEF8F"/>
                </a:solidFill>
                <a:latin typeface="Courier"/>
              </a:rPr>
              <a:t>,</a:t>
            </a:r>
            <a:r>
              <a:rPr>
                <a:solidFill>
                  <a:srgbClr val="CCCCCC"/>
                </a:solidFill>
                <a:latin typeface="Courier"/>
              </a:rPr>
              <a:t> </a:t>
            </a:r>
            <a:r>
              <a:rPr>
                <a:solidFill>
                  <a:srgbClr val="CC9393"/>
                </a:solidFill>
                <a:latin typeface="Courier"/>
              </a:rPr>
              <a:t>"format"</a:t>
            </a:r>
            <a:r>
              <a:rPr>
                <a:solidFill>
                  <a:srgbClr val="EFEF8F"/>
                </a:solidFill>
                <a:latin typeface="Courier"/>
              </a:rPr>
              <a:t>,</a:t>
            </a:r>
            <a:r>
              <a:rPr>
                <a:solidFill>
                  <a:srgbClr val="CCCCCC"/>
                </a:solidFill>
                <a:latin typeface="Courier"/>
              </a:rPr>
              <a:t> </a:t>
            </a:r>
            <a:r>
              <a:rPr>
                <a:solidFill>
                  <a:srgbClr val="CC9393"/>
                </a:solidFill>
                <a:latin typeface="Courier"/>
              </a:rPr>
              <a:t>"--"</a:t>
            </a:r>
            <a:r>
              <a:rPr>
                <a:solidFill>
                  <a:srgbClr val="EFEF8F"/>
                </a:solidFill>
                <a:latin typeface="Courier"/>
              </a:rPr>
              <a:t>,</a:t>
            </a:r>
            <a:r>
              <a:rPr>
                <a:solidFill>
                  <a:srgbClr val="CCCCCC"/>
                </a:solidFill>
                <a:latin typeface="Courier"/>
              </a:rPr>
              <a:t> </a:t>
            </a:r>
            <a:r>
              <a:rPr>
                <a:solidFill>
                  <a:srgbClr val="CC9393"/>
                </a:solidFill>
                <a:latin typeface="Courier"/>
              </a:rPr>
              <a:t>"$FILE"</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"PreToolUse"</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"matcher"</a:t>
            </a:r>
            <a:r>
              <a:rPr>
                <a:solidFill>
                  <a:srgbClr val="EFEF8F"/>
                </a:solidFill>
                <a:latin typeface="Courier"/>
              </a:rPr>
              <a:t>:</a:t>
            </a:r>
            <a:r>
              <a:rPr>
                <a:solidFill>
                  <a:srgbClr val="CCCCCC"/>
                </a:solidFill>
                <a:latin typeface="Courier"/>
              </a:rPr>
              <a:t> </a:t>
            </a:r>
            <a:r>
              <a:rPr>
                <a:solidFill>
                  <a:srgbClr val="CC9393"/>
                </a:solidFill>
                <a:latin typeface="Courier"/>
              </a:rPr>
              <a:t>"Bash(git push *)"</a:t>
            </a:r>
            <a:r>
              <a:rPr>
                <a:solidFill>
                  <a:srgbClr val="EFEF8F"/>
                </a:solidFill>
                <a:latin typeface="Courier"/>
              </a:rPr>
              <a:t>,</a:t>
            </a:r>
            <a:b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"./scripts/pre-push-check.sh"</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buNone/>
            </a:pPr>
            <a:r>
              <a:rPr b="1"/>
              <a:t>Hook command (script shell)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"hooks"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"PostToolUse"</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"matcher"</a:t>
            </a:r>
            <a:r>
              <a:rPr>
                <a:solidFill>
                  <a:srgbClr val="EFEF8F"/>
                </a:solidFill>
                <a:latin typeface="Courier"/>
              </a:rPr>
              <a:t>:</a:t>
            </a:r>
            <a:r>
              <a:rPr>
                <a:solidFill>
                  <a:srgbClr val="CCCCCC"/>
                </a:solidFill>
                <a:latin typeface="Courier"/>
              </a:rPr>
              <a:t> </a:t>
            </a:r>
            <a:r>
              <a:rPr>
                <a:solidFill>
                  <a:srgbClr val="CC9393"/>
                </a:solidFill>
                <a:latin typeface="Courier"/>
              </a:rPr>
              <a:t>"Edit(*.go)"</a:t>
            </a:r>
            <a:r>
              <a:rPr>
                <a:solidFill>
                  <a:srgbClr val="EFEF8F"/>
                </a:solidFill>
                <a:latin typeface="Courier"/>
              </a:rPr>
              <a:t>,</a:t>
            </a:r>
            <a:b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"gofmt"</a:t>
            </a:r>
            <a:r>
              <a:rPr>
                <a:solidFill>
                  <a:srgbClr val="EFEF8F"/>
                </a:solidFill>
                <a:latin typeface="Courier"/>
              </a:rPr>
              <a:t>,</a:t>
            </a:r>
            <a:r>
              <a:rPr>
                <a:solidFill>
                  <a:srgbClr val="CCCCCC"/>
                </a:solidFill>
                <a:latin typeface="Courier"/>
              </a:rPr>
              <a:t> </a:t>
            </a:r>
            <a:r>
              <a:rPr>
                <a:solidFill>
                  <a:srgbClr val="CC9393"/>
                </a:solidFill>
                <a:latin typeface="Courier"/>
              </a:rPr>
              <a:t>"-w"</a:t>
            </a:r>
            <a:r>
              <a:rPr>
                <a:solidFill>
                  <a:srgbClr val="EFEF8F"/>
                </a:solidFill>
                <a:latin typeface="Courier"/>
              </a:rPr>
              <a:t>,</a:t>
            </a:r>
            <a:r>
              <a:rPr>
                <a:solidFill>
                  <a:srgbClr val="CCCCCC"/>
                </a:solidFill>
                <a:latin typeface="Courier"/>
              </a:rPr>
              <a:t> </a:t>
            </a:r>
            <a:r>
              <a:rPr>
                <a:solidFill>
                  <a:srgbClr val="CC9393"/>
                </a:solidFill>
                <a:latin typeface="Courier"/>
              </a:rPr>
              <a:t>"$FILE"</a:t>
            </a:r>
            <a:r>
              <a:rPr>
                <a:solidFill>
                  <a:srgbClr val="EFEF8F"/>
                </a:solidFill>
                <a:latin typeface="Courier"/>
              </a:rPr>
              <a:t>],</a:t>
            </a:r>
            <a:br/>
            <a:r>
              <a:rPr>
                <a:solidFill>
                  <a:srgbClr val="CCCCCC"/>
                </a:solidFill>
                <a:latin typeface="Courier"/>
              </a:rPr>
              <a:t>        </a:t>
            </a:r>
            <a:r>
              <a:rPr>
                <a:solidFill>
                  <a:srgbClr val="DFDFBF"/>
                </a:solidFill>
                <a:latin typeface="Courier"/>
              </a:rPr>
              <a:t>"timeout"</a:t>
            </a:r>
            <a:r>
              <a:rPr>
                <a:solidFill>
                  <a:srgbClr val="EFEF8F"/>
                </a:solidFill>
                <a:latin typeface="Courier"/>
              </a:rPr>
              <a:t>:</a:t>
            </a:r>
            <a:r>
              <a:rPr>
                <a:solidFill>
                  <a:srgbClr val="CCCCCC"/>
                </a:solidFill>
                <a:latin typeface="Courier"/>
              </a:rPr>
              <a:t> </a:t>
            </a:r>
            <a:r>
              <a:rPr>
                <a:solidFill>
                  <a:srgbClr val="DCDCCC"/>
                </a:solidFill>
                <a:latin typeface="Courier"/>
              </a:rPr>
              <a:t>5000</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buNone/>
            </a:pPr>
            <a:r>
              <a:rPr/>
              <a:t>Le script reçoit des variables d’environnement : - </a:t>
            </a:r>
            <a:r>
              <a:rPr>
                <a:latin typeface="Courier"/>
              </a:rPr>
              <a:t>$FILE</a:t>
            </a:r>
            <a:r>
              <a:rPr/>
              <a:t> : Fichier concerné - </a:t>
            </a:r>
            <a:r>
              <a:rPr>
                <a:latin typeface="Courier"/>
              </a:rPr>
              <a:t>$TOOL</a:t>
            </a:r>
            <a:r>
              <a:rPr/>
              <a:t> : Outil utilisé - </a:t>
            </a:r>
            <a:r>
              <a:rPr>
                <a:latin typeface="Courier"/>
              </a:rPr>
              <a:t>$CLAUDE_PROJECT_DIR</a:t>
            </a:r>
            <a:r>
              <a:rPr/>
              <a:t> : Dossier projet</a:t>
            </a:r>
          </a:p>
          <a:p>
            <a:pPr lvl="0" indent="0" marL="0">
              <a:buNone/>
            </a:pPr>
            <a:r>
              <a:rPr b="1"/>
              <a:t>Hook prompt (évaluation LLM)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"hooks"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"PreToolUse"</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"matcher"</a:t>
            </a:r>
            <a:r>
              <a:rPr>
                <a:solidFill>
                  <a:srgbClr val="EFEF8F"/>
                </a:solidFill>
                <a:latin typeface="Courier"/>
              </a:rPr>
              <a:t>:</a:t>
            </a:r>
            <a:r>
              <a:rPr>
                <a:solidFill>
                  <a:srgbClr val="CCCCCC"/>
                </a:solidFill>
                <a:latin typeface="Courier"/>
              </a:rPr>
              <a:t> </a:t>
            </a:r>
            <a:r>
              <a:rPr>
                <a:solidFill>
                  <a:srgbClr val="CC9393"/>
                </a:solidFill>
                <a:latin typeface="Courier"/>
              </a:rPr>
              <a:t>"Write(migrations/*)"</a:t>
            </a:r>
            <a:r>
              <a:rPr>
                <a:solidFill>
                  <a:srgbClr val="EFEF8F"/>
                </a:solidFill>
                <a:latin typeface="Courier"/>
              </a:rPr>
              <a:t>,</a:t>
            </a:r>
            <a:br/>
            <a:r>
              <a:rPr>
                <a:solidFill>
                  <a:srgbClr val="CCCCCC"/>
                </a:solidFill>
                <a:latin typeface="Courier"/>
              </a:rPr>
              <a:t>        </a:t>
            </a:r>
            <a:r>
              <a:rPr>
                <a:solidFill>
                  <a:srgbClr val="DFDFBF"/>
                </a:solidFill>
                <a:latin typeface="Courier"/>
              </a:rPr>
              <a:t>"prompt"</a:t>
            </a:r>
            <a:r>
              <a:rPr>
                <a:solidFill>
                  <a:srgbClr val="EFEF8F"/>
                </a:solidFill>
                <a:latin typeface="Courier"/>
              </a:rPr>
              <a:t>:</a:t>
            </a:r>
            <a:r>
              <a:rPr>
                <a:solidFill>
                  <a:srgbClr val="CCCCCC"/>
                </a:solidFill>
                <a:latin typeface="Courier"/>
              </a:rPr>
              <a:t> </a:t>
            </a:r>
            <a:r>
              <a:rPr>
                <a:solidFill>
                  <a:srgbClr val="CC9393"/>
                </a:solidFill>
                <a:latin typeface="Courier"/>
              </a:rPr>
              <a:t>"Vérifie que cette migration est safe et réversible. Réponds OK ou explique le problème."</a:t>
            </a:r>
            <a:r>
              <a:rPr>
                <a:solidFill>
                  <a:srgbClr val="EFEF8F"/>
                </a:solidFill>
                <a:latin typeface="Courier"/>
              </a:rPr>
              <a:t>,</a:t>
            </a:r>
            <a:br/>
            <a:r>
              <a:rPr>
                <a:solidFill>
                  <a:srgbClr val="CCCCCC"/>
                </a:solidFill>
                <a:latin typeface="Courier"/>
              </a:rPr>
              <a:t>        </a:t>
            </a:r>
            <a:r>
              <a:rPr>
                <a:solidFill>
                  <a:srgbClr val="DFDFBF"/>
                </a:solidFill>
                <a:latin typeface="Courier"/>
              </a:rPr>
              <a:t>"model"</a:t>
            </a:r>
            <a:r>
              <a:rPr>
                <a:solidFill>
                  <a:srgbClr val="EFEF8F"/>
                </a:solidFill>
                <a:latin typeface="Courier"/>
              </a:rPr>
              <a:t>:</a:t>
            </a:r>
            <a:r>
              <a:rPr>
                <a:solidFill>
                  <a:srgbClr val="CCCCCC"/>
                </a:solidFill>
                <a:latin typeface="Courier"/>
              </a:rPr>
              <a:t> </a:t>
            </a:r>
            <a:r>
              <a:rPr>
                <a:solidFill>
                  <a:srgbClr val="CC9393"/>
                </a:solidFill>
                <a:latin typeface="Courier"/>
              </a:rPr>
              <a:t>"haiku"</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buNone/>
            </a:pPr>
            <a:r>
              <a:rPr b="1"/>
              <a:t>Hook agent (sous-agent de vérification)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"hooks"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"PostToolUse"</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"matcher"</a:t>
            </a:r>
            <a:r>
              <a:rPr>
                <a:solidFill>
                  <a:srgbClr val="EFEF8F"/>
                </a:solidFill>
                <a:latin typeface="Courier"/>
              </a:rPr>
              <a:t>:</a:t>
            </a:r>
            <a:r>
              <a:rPr>
                <a:solidFill>
                  <a:srgbClr val="CCCCCC"/>
                </a:solidFill>
                <a:latin typeface="Courier"/>
              </a:rPr>
              <a:t> </a:t>
            </a:r>
            <a:r>
              <a:rPr>
                <a:solidFill>
                  <a:srgbClr val="CC9393"/>
                </a:solidFill>
                <a:latin typeface="Courier"/>
              </a:rPr>
              <a:t>"Edit(src/security/*)"</a:t>
            </a:r>
            <a:r>
              <a:rPr>
                <a:solidFill>
                  <a:srgbClr val="EFEF8F"/>
                </a:solidFill>
                <a:latin typeface="Courier"/>
              </a:rPr>
              <a:t>,</a:t>
            </a:r>
            <a:br/>
            <a:r>
              <a:rPr>
                <a:solidFill>
                  <a:srgbClr val="CCCCCC"/>
                </a:solidFill>
                <a:latin typeface="Courier"/>
              </a:rPr>
              <a:t>        </a:t>
            </a:r>
            <a:r>
              <a:rPr>
                <a:solidFill>
                  <a:srgbClr val="DFDFBF"/>
                </a:solidFill>
                <a:latin typeface="Courier"/>
              </a:rPr>
              <a:t>"agent"</a:t>
            </a:r>
            <a:r>
              <a:rPr>
                <a:solidFill>
                  <a:srgbClr val="EFEF8F"/>
                </a:solidFill>
                <a:latin typeface="Courier"/>
              </a:rPr>
              <a:t>:</a:t>
            </a:r>
            <a:r>
              <a:rPr>
                <a:solidFill>
                  <a:srgbClr val="CCCCCC"/>
                </a:solidFill>
                <a:latin typeface="Courier"/>
              </a:rPr>
              <a:t> </a:t>
            </a:r>
            <a:r>
              <a:rPr>
                <a:solidFill>
                  <a:srgbClr val="CC9393"/>
                </a:solidFill>
                <a:latin typeface="Courier"/>
              </a:rPr>
              <a:t>"security-auditor"</a:t>
            </a:r>
            <a:r>
              <a:rPr>
                <a:solidFill>
                  <a:srgbClr val="EFEF8F"/>
                </a:solidFill>
                <a:latin typeface="Courier"/>
              </a:rPr>
              <a:t>,</a:t>
            </a:r>
            <a:br/>
            <a:r>
              <a:rPr>
                <a:solidFill>
                  <a:srgbClr val="CCCCCC"/>
                </a:solidFill>
                <a:latin typeface="Courier"/>
              </a:rPr>
              <a:t>        </a:t>
            </a:r>
            <a:r>
              <a:rPr>
                <a:solidFill>
                  <a:srgbClr val="DFDFBF"/>
                </a:solidFill>
                <a:latin typeface="Courier"/>
              </a:rPr>
              <a:t>"timeout"</a:t>
            </a:r>
            <a:r>
              <a:rPr>
                <a:solidFill>
                  <a:srgbClr val="EFEF8F"/>
                </a:solidFill>
                <a:latin typeface="Courier"/>
              </a:rPr>
              <a:t>:</a:t>
            </a:r>
            <a:r>
              <a:rPr>
                <a:solidFill>
                  <a:srgbClr val="CCCCCC"/>
                </a:solidFill>
                <a:latin typeface="Courier"/>
              </a:rPr>
              <a:t> </a:t>
            </a:r>
            <a:r>
              <a:rPr>
                <a:solidFill>
                  <a:srgbClr val="DCDCCC"/>
                </a:solidFill>
                <a:latin typeface="Courier"/>
              </a:rPr>
              <a:t>30000</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spcBef>
                <a:spcPts val="3000"/>
              </a:spcBef>
              <a:buNone/>
            </a:pPr>
            <a:r>
              <a:rPr b="1"/>
              <a:t>19.4 Pièges courants avec les Hooks (Gotchas)</a:t>
            </a:r>
          </a:p>
          <a:p>
            <a:pPr lvl="0" indent="0" marL="0">
              <a:buNone/>
            </a:pPr>
            <a:r>
              <a:rPr b="1"/>
              <a:t>Timeouts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"hooks"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"PostToolUse"</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"matcher"</a:t>
            </a:r>
            <a:r>
              <a:rPr>
                <a:solidFill>
                  <a:srgbClr val="EFEF8F"/>
                </a:solidFill>
                <a:latin typeface="Courier"/>
              </a:rPr>
              <a:t>:</a:t>
            </a:r>
            <a:r>
              <a:rPr>
                <a:solidFill>
                  <a:srgbClr val="CCCCCC"/>
                </a:solidFill>
                <a:latin typeface="Courier"/>
              </a:rPr>
              <a:t> </a:t>
            </a:r>
            <a:r>
              <a:rPr>
                <a:solidFill>
                  <a:srgbClr val="CC9393"/>
                </a:solidFill>
                <a:latin typeface="Courier"/>
              </a:rPr>
              <a:t>"Edit"</a:t>
            </a:r>
            <a:r>
              <a:rPr>
                <a:solidFill>
                  <a:srgbClr val="EFEF8F"/>
                </a:solidFill>
                <a:latin typeface="Courier"/>
              </a:rPr>
              <a:t>,</a:t>
            </a:r>
            <a:b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"slow-script.sh"</a:t>
            </a:r>
            <a:r>
              <a:rPr>
                <a:solidFill>
                  <a:srgbClr val="EFEF8F"/>
                </a:solidFill>
                <a:latin typeface="Courier"/>
              </a:rPr>
              <a:t>],</a:t>
            </a:r>
            <a:br/>
            <a:r>
              <a:rPr>
                <a:solidFill>
                  <a:srgbClr val="CCCCCC"/>
                </a:solidFill>
                <a:latin typeface="Courier"/>
              </a:rPr>
              <a:t>        </a:t>
            </a:r>
            <a:r>
              <a:rPr>
                <a:solidFill>
                  <a:srgbClr val="DFDFBF"/>
                </a:solidFill>
                <a:latin typeface="Courier"/>
              </a:rPr>
              <a:t>"timeout"</a:t>
            </a:r>
            <a:r>
              <a:rPr>
                <a:solidFill>
                  <a:srgbClr val="EFEF8F"/>
                </a:solidFill>
                <a:latin typeface="Courier"/>
              </a:rPr>
              <a:t>:</a:t>
            </a:r>
            <a:r>
              <a:rPr>
                <a:solidFill>
                  <a:srgbClr val="CCCCCC"/>
                </a:solidFill>
                <a:latin typeface="Courier"/>
              </a:rPr>
              <a:t> </a:t>
            </a:r>
            <a:r>
              <a:rPr>
                <a:solidFill>
                  <a:srgbClr val="DCDCCC"/>
                </a:solidFill>
                <a:latin typeface="Courier"/>
              </a:rPr>
              <a:t>30000</a:t>
            </a:r>
            <a:r>
              <a:rPr>
                <a:solidFill>
                  <a:srgbClr val="CCCCCC"/>
                </a:solidFill>
                <a:latin typeface="Courier"/>
              </a:rPr>
              <a:t>  </a:t>
            </a:r>
            <a:r>
              <a:rPr>
                <a:solidFill>
                  <a:srgbClr val="C3BF9F"/>
                </a:solidFill>
                <a:latin typeface="Courier"/>
              </a:rPr>
              <a:t>//</a:t>
            </a:r>
            <a:r>
              <a:rPr>
                <a:solidFill>
                  <a:srgbClr val="CCCCCC"/>
                </a:solidFill>
                <a:latin typeface="Courier"/>
              </a:rPr>
              <a:t> </a:t>
            </a:r>
            <a:r>
              <a:rPr>
                <a:solidFill>
                  <a:srgbClr val="DCDCCC"/>
                </a:solidFill>
                <a:latin typeface="Courier"/>
              </a:rPr>
              <a:t>30</a:t>
            </a:r>
            <a:r>
              <a:rPr>
                <a:solidFill>
                  <a:srgbClr val="CCCCCC"/>
                </a:solidFill>
                <a:latin typeface="Courier"/>
              </a:rPr>
              <a:t> </a:t>
            </a:r>
            <a:r>
              <a:rPr>
                <a:solidFill>
                  <a:srgbClr val="C3BF9F"/>
                </a:solidFill>
                <a:latin typeface="Courier"/>
              </a:rPr>
              <a:t>secondes</a:t>
            </a:r>
            <a:r>
              <a:rPr>
                <a:solidFill>
                  <a:srgbClr val="EFEF8F"/>
                </a:solidFill>
                <a:latin typeface="Courier"/>
              </a:rPr>
              <a:t>,</a:t>
            </a:r>
            <a:r>
              <a:rPr>
                <a:solidFill>
                  <a:srgbClr val="CCCCCC"/>
                </a:solidFill>
                <a:latin typeface="Courier"/>
              </a:rPr>
              <a:t> </a:t>
            </a:r>
            <a:r>
              <a:rPr>
                <a:solidFill>
                  <a:srgbClr val="C3BF9F"/>
                </a:solidFill>
                <a:latin typeface="Courier"/>
              </a:rPr>
              <a:t>défaut</a:t>
            </a:r>
            <a:r>
              <a:rPr>
                <a:solidFill>
                  <a:srgbClr val="CCCCCC"/>
                </a:solidFill>
                <a:latin typeface="Courier"/>
              </a:rPr>
              <a:t> </a:t>
            </a:r>
            <a:r>
              <a:rPr>
                <a:solidFill>
                  <a:srgbClr val="C3BF9F"/>
                </a:solidFill>
                <a:latin typeface="Courier"/>
              </a:rPr>
              <a:t>=</a:t>
            </a:r>
            <a:r>
              <a:rPr>
                <a:solidFill>
                  <a:srgbClr val="CCCCCC"/>
                </a:solidFill>
                <a:latin typeface="Courier"/>
              </a:rPr>
              <a:t> </a:t>
            </a:r>
            <a:r>
              <a:rPr>
                <a:solidFill>
                  <a:srgbClr val="C3BF9F"/>
                </a:solidFill>
                <a:latin typeface="Courier"/>
              </a:rPr>
              <a:t>5000ms</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buNone/>
            </a:pPr>
            <a:r>
              <a:rPr b="1"/>
              <a:t>Note :</a:t>
            </a:r>
            <a:r>
              <a:rPr/>
              <a:t> Si le hook timeout, Claude continue sans bloquer.</a:t>
            </a:r>
          </a:p>
          <a:p>
            <a:pPr lvl="0" indent="0" marL="0">
              <a:buNone/>
            </a:pPr>
            <a:r>
              <a:rPr b="1"/>
              <a:t>Exit codes :</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Code</a:t>
                      </a:r>
                    </a:p>
                  </a:txBody>
                  <a:tcPr/>
                </a:tc>
                <a:tc>
                  <a:txBody>
                    <a:bodyPr/>
                    <a:lstStyle/>
                    <a:p>
                      <a:pPr lvl="0" indent="0" marL="0">
                        <a:buNone/>
                      </a:pPr>
                      <a:r>
                        <a:rPr/>
                        <a:t>Signification</a:t>
                      </a:r>
                    </a:p>
                  </a:txBody>
                  <a:tcPr/>
                </a:tc>
              </a:tr>
              <a:tr h="0">
                <a:tc>
                  <a:txBody>
                    <a:bodyPr/>
                    <a:lstStyle/>
                    <a:p>
                      <a:pPr lvl="0" indent="0" marL="0">
                        <a:buNone/>
                      </a:pPr>
                      <a:r>
                        <a:rPr/>
                        <a:t>0</a:t>
                      </a:r>
                    </a:p>
                  </a:txBody>
                </a:tc>
                <a:tc>
                  <a:txBody>
                    <a:bodyPr/>
                    <a:lstStyle/>
                    <a:p>
                      <a:pPr lvl="0" indent="0" marL="0">
                        <a:buNone/>
                      </a:pPr>
                      <a:r>
                        <a:rPr/>
                        <a:t>Succès, continuer</a:t>
                      </a:r>
                    </a:p>
                  </a:txBody>
                </a:tc>
              </a:tr>
              <a:tr h="0">
                <a:tc>
                  <a:txBody>
                    <a:bodyPr/>
                    <a:lstStyle/>
                    <a:p>
                      <a:pPr lvl="0" indent="0" marL="0">
                        <a:buNone/>
                      </a:pPr>
                      <a:r>
                        <a:rPr/>
                        <a:t>2</a:t>
                      </a:r>
                    </a:p>
                  </a:txBody>
                </a:tc>
                <a:tc>
                  <a:txBody>
                    <a:bodyPr/>
                    <a:lstStyle/>
                    <a:p>
                      <a:pPr lvl="0" indent="0" marL="0">
                        <a:buNone/>
                      </a:pPr>
                      <a:r>
                        <a:rPr/>
                        <a:t>Bloquer l’action</a:t>
                      </a:r>
                    </a:p>
                  </a:txBody>
                </a:tc>
              </a:tr>
              <a:tr h="0">
                <a:tc>
                  <a:txBody>
                    <a:bodyPr/>
                    <a:lstStyle/>
                    <a:p>
                      <a:pPr lvl="0" indent="0" marL="0">
                        <a:buNone/>
                      </a:pPr>
                      <a:r>
                        <a:rPr/>
                        <a:t>Autre</a:t>
                      </a:r>
                    </a:p>
                  </a:txBody>
                </a:tc>
                <a:tc>
                  <a:txBody>
                    <a:bodyPr/>
                    <a:lstStyle/>
                    <a:p>
                      <a:pPr lvl="0" indent="0" marL="0">
                        <a:buNone/>
                      </a:pPr>
                      <a:r>
                        <a:rPr/>
                        <a:t>Warning, continuer</a:t>
                      </a:r>
                    </a:p>
                  </a:txBody>
                </a:tc>
              </a:tr>
            </a:tbl>
          </a:graphicData>
        </a:graphic>
      </p:graphicFrame>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solidFill>
                  <a:srgbClr val="7F9F7F"/>
                </a:solidFill>
                <a:latin typeface="Courier"/>
              </a:rPr>
              <a:t>#!/bin/bash</a:t>
            </a:r>
            <a:br/>
            <a:r>
              <a:rPr>
                <a:solidFill>
                  <a:srgbClr val="7F9F7F"/>
                </a:solidFill>
                <a:latin typeface="Courier"/>
              </a:rPr>
              <a:t># pre-push-check.sh</a:t>
            </a:r>
            <a:br/>
            <a:br/>
            <a:r>
              <a:rPr>
                <a:solidFill>
                  <a:srgbClr val="F0DFAF"/>
                </a:solidFill>
                <a:latin typeface="Courier"/>
              </a:rPr>
              <a:t>if</a:t>
            </a:r>
            <a:r>
              <a:rPr>
                <a:solidFill>
                  <a:srgbClr val="CCCCCC"/>
                </a:solidFill>
                <a:latin typeface="Courier"/>
              </a:rPr>
              <a:t> </a:t>
            </a:r>
            <a:r>
              <a:rPr>
                <a:solidFill>
                  <a:srgbClr val="EFEF8F"/>
                </a:solidFill>
                <a:latin typeface="Courier"/>
              </a:rPr>
              <a:t>grep</a:t>
            </a:r>
            <a:r>
              <a:rPr>
                <a:solidFill>
                  <a:srgbClr val="CCCCCC"/>
                </a:solidFill>
                <a:latin typeface="Courier"/>
              </a:rPr>
              <a:t> -r </a:t>
            </a:r>
            <a:r>
              <a:rPr>
                <a:solidFill>
                  <a:srgbClr val="CC9393"/>
                </a:solidFill>
                <a:latin typeface="Courier"/>
              </a:rPr>
              <a:t>"TODO"</a:t>
            </a:r>
            <a:r>
              <a:rPr>
                <a:solidFill>
                  <a:srgbClr val="CCCCCC"/>
                </a:solidFill>
                <a:latin typeface="Courier"/>
              </a:rPr>
              <a:t> src/</a:t>
            </a:r>
            <a:r>
              <a:rPr>
                <a:solidFill>
                  <a:srgbClr val="F0DFAF"/>
                </a:solidFill>
                <a:latin typeface="Courier"/>
              </a:rPr>
              <a:t>;</a:t>
            </a:r>
            <a:r>
              <a:rPr>
                <a:solidFill>
                  <a:srgbClr val="CCCCCC"/>
                </a:solidFill>
                <a:latin typeface="Courier"/>
              </a:rPr>
              <a:t> </a:t>
            </a:r>
            <a:r>
              <a:rPr>
                <a:solidFill>
                  <a:srgbClr val="F0DFAF"/>
                </a:solidFill>
                <a:latin typeface="Courier"/>
              </a:rPr>
              <a:t>then</a:t>
            </a:r>
            <a:br/>
            <a:r>
              <a:rPr>
                <a:solidFill>
                  <a:srgbClr val="CCCCCC"/>
                </a:solidFill>
                <a:latin typeface="Courier"/>
              </a:rPr>
              <a:t>  echo </a:t>
            </a:r>
            <a:r>
              <a:rPr>
                <a:solidFill>
                  <a:srgbClr val="CC9393"/>
                </a:solidFill>
                <a:latin typeface="Courier"/>
              </a:rPr>
              <a:t>"TODOs found, blocking push"</a:t>
            </a:r>
            <a:br/>
            <a:r>
              <a:rPr>
                <a:solidFill>
                  <a:srgbClr val="CCCCCC"/>
                </a:solidFill>
                <a:latin typeface="Courier"/>
              </a:rPr>
              <a:t>  exit 2  </a:t>
            </a:r>
            <a:r>
              <a:rPr>
                <a:solidFill>
                  <a:srgbClr val="7F9F7F"/>
                </a:solidFill>
                <a:latin typeface="Courier"/>
              </a:rPr>
              <a:t># Bloque l'action</a:t>
            </a:r>
            <a:br/>
            <a:r>
              <a:rPr>
                <a:solidFill>
                  <a:srgbClr val="F0DFAF"/>
                </a:solidFill>
                <a:latin typeface="Courier"/>
              </a:rPr>
              <a:t>fi</a:t>
            </a:r>
            <a:br/>
            <a:br/>
            <a:r>
              <a:rPr>
                <a:solidFill>
                  <a:srgbClr val="CCCCCC"/>
                </a:solidFill>
                <a:latin typeface="Courier"/>
              </a:rPr>
              <a:t>exit 0  </a:t>
            </a:r>
            <a:r>
              <a:rPr>
                <a:solidFill>
                  <a:srgbClr val="7F9F7F"/>
                </a:solidFill>
                <a:latin typeface="Courier"/>
              </a:rPr>
              <a:t># OK, continue</a:t>
            </a:r>
          </a:p>
          <a:p>
            <a:pPr lvl="0" indent="0" marL="0">
              <a:buNone/>
            </a:pPr>
            <a:r>
              <a:rPr b="1"/>
              <a:t>JSON parsing :</a:t>
            </a:r>
          </a:p>
          <a:p>
            <a:pPr lvl="0" indent="0" marL="0">
              <a:buNone/>
            </a:pPr>
            <a:r>
              <a:rPr/>
              <a:t>Si votre hook retourne du JSON, il doit être valide :</a:t>
            </a:r>
          </a:p>
          <a:p>
            <a:pPr lvl="0" indent="0">
              <a:buNone/>
            </a:pPr>
            <a:r>
              <a:rPr>
                <a:solidFill>
                  <a:srgbClr val="7F9F7F"/>
                </a:solidFill>
                <a:latin typeface="Courier"/>
              </a:rPr>
              <a:t>#!/bin/bash</a:t>
            </a:r>
            <a:br/>
            <a:r>
              <a:rPr>
                <a:solidFill>
                  <a:srgbClr val="7F9F7F"/>
                </a:solidFill>
                <a:latin typeface="Courier"/>
              </a:rPr>
              <a:t># Bon</a:t>
            </a:r>
            <a:br/>
            <a:r>
              <a:rPr>
                <a:solidFill>
                  <a:srgbClr val="CCCCCC"/>
                </a:solidFill>
                <a:latin typeface="Courier"/>
              </a:rPr>
              <a:t>echo </a:t>
            </a:r>
            <a:r>
              <a:rPr>
                <a:solidFill>
                  <a:srgbClr val="CC9393"/>
                </a:solidFill>
                <a:latin typeface="Courier"/>
              </a:rPr>
              <a:t>'{"status": "ok"}'</a:t>
            </a:r>
            <a:br/>
            <a:br/>
            <a:r>
              <a:rPr>
                <a:solidFill>
                  <a:srgbClr val="7F9F7F"/>
                </a:solidFill>
                <a:latin typeface="Courier"/>
              </a:rPr>
              <a:t># Mauvais - cassera le parsing</a:t>
            </a:r>
            <a:br/>
            <a:r>
              <a:rPr>
                <a:solidFill>
                  <a:srgbClr val="CCCCCC"/>
                </a:solidFill>
                <a:latin typeface="Courier"/>
              </a:rPr>
              <a:t>echo </a:t>
            </a:r>
            <a:r>
              <a:rPr>
                <a:solidFill>
                  <a:srgbClr val="CC9393"/>
                </a:solidFill>
                <a:latin typeface="Courier"/>
              </a:rPr>
              <a:t>"Status: ok"</a:t>
            </a:r>
            <a:br/>
            <a:r>
              <a:rPr>
                <a:solidFill>
                  <a:srgbClr val="CCCCCC"/>
                </a:solidFill>
                <a:latin typeface="Courier"/>
              </a:rPr>
              <a:t>echo </a:t>
            </a:r>
            <a:r>
              <a:rPr>
                <a:solidFill>
                  <a:srgbClr val="CC9393"/>
                </a:solidFill>
                <a:latin typeface="Courier"/>
              </a:rPr>
              <a:t>'{"status": ok}'</a:t>
            </a:r>
            <a:r>
              <a:rPr>
                <a:solidFill>
                  <a:srgbClr val="CCCCCC"/>
                </a:solidFill>
                <a:latin typeface="Courier"/>
              </a:rPr>
              <a:t>  </a:t>
            </a:r>
            <a:r>
              <a:rPr>
                <a:solidFill>
                  <a:srgbClr val="7F9F7F"/>
                </a:solidFill>
                <a:latin typeface="Courier"/>
              </a:rPr>
              <a:t># Manque les guillemets</a:t>
            </a:r>
          </a:p>
          <a:p>
            <a:pPr lvl="0" indent="0" marL="0">
              <a:buNone/>
            </a:pPr>
            <a:r>
              <a:rPr b="1"/>
              <a:t>Chemins relatifs :</a:t>
            </a:r>
          </a:p>
          <a:p>
            <a:pPr lvl="0" indent="0" marL="0">
              <a:buNone/>
            </a:pPr>
            <a:r>
              <a:rPr/>
              <a:t>Utilisez toujours les variables d’environnement :</a:t>
            </a:r>
          </a:p>
          <a:p>
            <a:pPr lvl="0" indent="0">
              <a:buNone/>
            </a:pPr>
            <a:r>
              <a:rPr>
                <a:solidFill>
                  <a:srgbClr val="7F9F7F"/>
                </a:solidFill>
                <a:latin typeface="Courier"/>
              </a:rPr>
              <a:t>#!/bin/bash</a:t>
            </a:r>
            <a:br/>
            <a:r>
              <a:rPr>
                <a:solidFill>
                  <a:srgbClr val="7F9F7F"/>
                </a:solidFill>
                <a:latin typeface="Courier"/>
              </a:rPr>
              <a:t># Mauvais</a:t>
            </a:r>
            <a:br/>
            <a:r>
              <a:rPr>
                <a:solidFill>
                  <a:srgbClr val="CCCCCC"/>
                </a:solidFill>
                <a:latin typeface="Courier"/>
              </a:rPr>
              <a:t>cd ./src </a:t>
            </a:r>
            <a:r>
              <a:rPr>
                <a:solidFill>
                  <a:srgbClr val="F0DFAF"/>
                </a:solidFill>
                <a:latin typeface="Courier"/>
              </a:rPr>
              <a:t>&amp;&amp;</a:t>
            </a:r>
            <a:r>
              <a:rPr>
                <a:solidFill>
                  <a:srgbClr val="CCCCCC"/>
                </a:solidFill>
                <a:latin typeface="Courier"/>
              </a:rPr>
              <a:t> run-lint</a:t>
            </a:r>
            <a:br/>
            <a:br/>
            <a:r>
              <a:rPr>
                <a:solidFill>
                  <a:srgbClr val="7F9F7F"/>
                </a:solidFill>
                <a:latin typeface="Courier"/>
              </a:rPr>
              <a:t># Bon</a:t>
            </a:r>
            <a:br/>
            <a:r>
              <a:rPr>
                <a:solidFill>
                  <a:srgbClr val="CCCCCC"/>
                </a:solidFill>
                <a:latin typeface="Courier"/>
              </a:rPr>
              <a:t>cd </a:t>
            </a:r>
            <a:r>
              <a:rPr>
                <a:solidFill>
                  <a:srgbClr val="CC9393"/>
                </a:solidFill>
                <a:latin typeface="Courier"/>
              </a:rPr>
              <a:t>"</a:t>
            </a:r>
            <a:r>
              <a:rPr>
                <a:solidFill>
                  <a:srgbClr val="CCCCCC"/>
                </a:solidFill>
                <a:latin typeface="Courier"/>
              </a:rPr>
              <a:t>$CLAUDE_PROJECT_DIR</a:t>
            </a:r>
            <a:r>
              <a:rPr>
                <a:solidFill>
                  <a:srgbClr val="CC9393"/>
                </a:solidFill>
                <a:latin typeface="Courier"/>
              </a:rPr>
              <a:t>/src"</a:t>
            </a:r>
            <a:r>
              <a:rPr>
                <a:solidFill>
                  <a:srgbClr val="CCCCCC"/>
                </a:solidFill>
                <a:latin typeface="Courier"/>
              </a:rPr>
              <a:t> </a:t>
            </a:r>
            <a:r>
              <a:rPr>
                <a:solidFill>
                  <a:srgbClr val="F0DFAF"/>
                </a:solidFill>
                <a:latin typeface="Courier"/>
              </a:rPr>
              <a:t>&amp;&amp;</a:t>
            </a:r>
            <a:r>
              <a:rPr>
                <a:solidFill>
                  <a:srgbClr val="CCCCCC"/>
                </a:solidFill>
                <a:latin typeface="Courier"/>
              </a:rPr>
              <a:t> run-lint</a:t>
            </a:r>
          </a:p>
          <a:p>
            <a:pPr lvl="0" indent="0" marL="0">
              <a:buNone/>
            </a:pPr>
            <a:r>
              <a:rPr b="1"/>
              <a:t>Hooks async :</a:t>
            </a:r>
          </a:p>
          <a:p>
            <a:pPr lvl="0" indent="0" marL="0">
              <a:buNone/>
            </a:pPr>
            <a:r>
              <a:rPr/>
              <a:t>Les hooks async ne peuvent pas bloquer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"hooks"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"Stop"</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"./notify-slack.sh"</a:t>
            </a:r>
            <a:r>
              <a:rPr>
                <a:solidFill>
                  <a:srgbClr val="EFEF8F"/>
                </a:solidFill>
                <a:latin typeface="Courier"/>
              </a:rPr>
              <a:t>],</a:t>
            </a:r>
            <a:br/>
            <a:r>
              <a:rPr>
                <a:solidFill>
                  <a:srgbClr val="CCCCCC"/>
                </a:solidFill>
                <a:latin typeface="Courier"/>
              </a:rPr>
              <a:t>        </a:t>
            </a:r>
            <a:r>
              <a:rPr>
                <a:solidFill>
                  <a:srgbClr val="DFDFBF"/>
                </a:solidFill>
                <a:latin typeface="Courier"/>
              </a:rPr>
              <a:t>"async"</a:t>
            </a:r>
            <a:r>
              <a:rPr>
                <a:solidFill>
                  <a:srgbClr val="EFEF8F"/>
                </a:solidFill>
                <a:latin typeface="Courier"/>
              </a:rPr>
              <a:t>:</a:t>
            </a:r>
            <a:r>
              <a:rPr>
                <a:solidFill>
                  <a:srgbClr val="CCCCCC"/>
                </a:solidFill>
                <a:latin typeface="Courier"/>
              </a:rPr>
              <a:t> </a:t>
            </a:r>
            <a:r>
              <a:rPr>
                <a:solidFill>
                  <a:srgbClr val="F0DFAF"/>
                </a:solidFill>
                <a:latin typeface="Courier"/>
              </a:rPr>
              <a:t>true</a:t>
            </a:r>
            <a:r>
              <a:rPr>
                <a:solidFill>
                  <a:srgbClr val="CCCCCC"/>
                </a:solidFill>
                <a:latin typeface="Courier"/>
              </a:rPr>
              <a:t>  </a:t>
            </a:r>
            <a:r>
              <a:rPr>
                <a:solidFill>
                  <a:srgbClr val="C3BF9F"/>
                </a:solidFill>
                <a:latin typeface="Courier"/>
              </a:rPr>
              <a:t>//</a:t>
            </a:r>
            <a:r>
              <a:rPr>
                <a:solidFill>
                  <a:srgbClr val="CCCCCC"/>
                </a:solidFill>
                <a:latin typeface="Courier"/>
              </a:rPr>
              <a:t> </a:t>
            </a:r>
            <a:r>
              <a:rPr>
                <a:solidFill>
                  <a:srgbClr val="C3BF9F"/>
                </a:solidFill>
                <a:latin typeface="Courier"/>
              </a:rPr>
              <a:t>N'attend</a:t>
            </a:r>
            <a:r>
              <a:rPr>
                <a:solidFill>
                  <a:srgbClr val="CCCCCC"/>
                </a:solidFill>
                <a:latin typeface="Courier"/>
              </a:rPr>
              <a:t> </a:t>
            </a:r>
            <a:r>
              <a:rPr>
                <a:solidFill>
                  <a:srgbClr val="C3BF9F"/>
                </a:solidFill>
                <a:latin typeface="Courier"/>
              </a:rPr>
              <a:t>pas</a:t>
            </a:r>
            <a:r>
              <a:rPr>
                <a:solidFill>
                  <a:srgbClr val="CCCCCC"/>
                </a:solidFill>
                <a:latin typeface="Courier"/>
              </a:rPr>
              <a:t> </a:t>
            </a:r>
            <a:r>
              <a:rPr>
                <a:solidFill>
                  <a:srgbClr val="C3BF9F"/>
                </a:solidFill>
                <a:latin typeface="Courier"/>
              </a:rPr>
              <a:t>la</a:t>
            </a:r>
            <a:r>
              <a:rPr>
                <a:solidFill>
                  <a:srgbClr val="CCCCCC"/>
                </a:solidFill>
                <a:latin typeface="Courier"/>
              </a:rPr>
              <a:t> </a:t>
            </a:r>
            <a:r>
              <a:rPr>
                <a:solidFill>
                  <a:srgbClr val="C3BF9F"/>
                </a:solidFill>
                <a:latin typeface="Courier"/>
              </a:rPr>
              <a:t>fin</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buNone/>
            </a:pPr>
            <a:r>
              <a:rPr b="1"/>
              <a:t>Ordre d’exécution :</a:t>
            </a:r>
          </a:p>
          <a:p>
            <a:pPr lvl="0" indent="0" marL="0">
              <a:buNone/>
            </a:pPr>
            <a:r>
              <a:rPr/>
              <a:t>Les hooks s’exécutent dans l’ordre de définition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"hooks"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"PostToolUse"</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r>
              <a:rPr>
                <a:solidFill>
                  <a:srgbClr val="CCCCCC"/>
                </a:solidFill>
                <a:latin typeface="Courier"/>
              </a:rPr>
              <a:t> </a:t>
            </a:r>
            <a:r>
              <a:rPr>
                <a:solidFill>
                  <a:srgbClr val="DFDFBF"/>
                </a:solidFill>
                <a:latin typeface="Courier"/>
              </a:rPr>
              <a:t>"matcher"</a:t>
            </a:r>
            <a:r>
              <a:rPr>
                <a:solidFill>
                  <a:srgbClr val="EFEF8F"/>
                </a:solidFill>
                <a:latin typeface="Courier"/>
              </a:rPr>
              <a:t>:</a:t>
            </a:r>
            <a:r>
              <a:rPr>
                <a:solidFill>
                  <a:srgbClr val="CCCCCC"/>
                </a:solidFill>
                <a:latin typeface="Courier"/>
              </a:rPr>
              <a:t> </a:t>
            </a:r>
            <a:r>
              <a:rPr>
                <a:solidFill>
                  <a:srgbClr val="CC9393"/>
                </a:solidFill>
                <a:latin typeface="Courier"/>
              </a:rPr>
              <a:t>"Edit"</a:t>
            </a:r>
            <a:r>
              <a:rPr>
                <a:solidFill>
                  <a:srgbClr val="EFEF8F"/>
                </a:solidFill>
                <a:latin typeface="Courier"/>
              </a:rPr>
              <a:t>,</a:t>
            </a: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"lint"</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CCCC"/>
                </a:solidFill>
                <a:latin typeface="Courier"/>
              </a:rPr>
              <a:t>    </a:t>
            </a:r>
            <a:r>
              <a:rPr>
                <a:solidFill>
                  <a:srgbClr val="C3BF9F"/>
                </a:solidFill>
                <a:latin typeface="Courier"/>
              </a:rPr>
              <a:t>//</a:t>
            </a:r>
            <a:r>
              <a:rPr>
                <a:solidFill>
                  <a:srgbClr val="CCCCCC"/>
                </a:solidFill>
                <a:latin typeface="Courier"/>
              </a:rPr>
              <a:t> </a:t>
            </a:r>
            <a:r>
              <a:rPr>
                <a:solidFill>
                  <a:srgbClr val="DCDCCC"/>
                </a:solidFill>
                <a:latin typeface="Courier"/>
              </a:rPr>
              <a:t>1</a:t>
            </a:r>
            <a:r>
              <a:rPr>
                <a:solidFill>
                  <a:srgbClr val="C3BF9F"/>
                </a:solidFill>
                <a:latin typeface="Courier"/>
              </a:rPr>
              <a:t>er</a:t>
            </a:r>
            <a:br/>
            <a:r>
              <a:rPr>
                <a:solidFill>
                  <a:srgbClr val="CCCCCC"/>
                </a:solidFill>
                <a:latin typeface="Courier"/>
              </a:rPr>
              <a:t>      </a:t>
            </a:r>
            <a:r>
              <a:rPr>
                <a:solidFill>
                  <a:srgbClr val="EFEF8F"/>
                </a:solidFill>
                <a:latin typeface="Courier"/>
              </a:rPr>
              <a:t>{</a:t>
            </a:r>
            <a:r>
              <a:rPr>
                <a:solidFill>
                  <a:srgbClr val="CCCCCC"/>
                </a:solidFill>
                <a:latin typeface="Courier"/>
              </a:rPr>
              <a:t> </a:t>
            </a:r>
            <a:r>
              <a:rPr>
                <a:solidFill>
                  <a:srgbClr val="DFDFBF"/>
                </a:solidFill>
                <a:latin typeface="Courier"/>
              </a:rPr>
              <a:t>"matcher"</a:t>
            </a:r>
            <a:r>
              <a:rPr>
                <a:solidFill>
                  <a:srgbClr val="EFEF8F"/>
                </a:solidFill>
                <a:latin typeface="Courier"/>
              </a:rPr>
              <a:t>:</a:t>
            </a:r>
            <a:r>
              <a:rPr>
                <a:solidFill>
                  <a:srgbClr val="CCCCCC"/>
                </a:solidFill>
                <a:latin typeface="Courier"/>
              </a:rPr>
              <a:t> </a:t>
            </a:r>
            <a:r>
              <a:rPr>
                <a:solidFill>
                  <a:srgbClr val="CC9393"/>
                </a:solidFill>
                <a:latin typeface="Courier"/>
              </a:rPr>
              <a:t>"Edit"</a:t>
            </a:r>
            <a:r>
              <a:rPr>
                <a:solidFill>
                  <a:srgbClr val="EFEF8F"/>
                </a:solidFill>
                <a:latin typeface="Courier"/>
              </a:rPr>
              <a:t>,</a:t>
            </a: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"format"</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CCCC"/>
                </a:solidFill>
                <a:latin typeface="Courier"/>
              </a:rPr>
              <a:t>  </a:t>
            </a:r>
            <a:r>
              <a:rPr>
                <a:solidFill>
                  <a:srgbClr val="C3BF9F"/>
                </a:solidFill>
                <a:latin typeface="Courier"/>
              </a:rPr>
              <a:t>//</a:t>
            </a:r>
            <a:r>
              <a:rPr>
                <a:solidFill>
                  <a:srgbClr val="CCCCCC"/>
                </a:solidFill>
                <a:latin typeface="Courier"/>
              </a:rPr>
              <a:t> </a:t>
            </a:r>
            <a:r>
              <a:rPr>
                <a:solidFill>
                  <a:srgbClr val="DCDCCC"/>
                </a:solidFill>
                <a:latin typeface="Courier"/>
              </a:rPr>
              <a:t>2</a:t>
            </a:r>
            <a:r>
              <a:rPr>
                <a:solidFill>
                  <a:srgbClr val="C3BF9F"/>
                </a:solidFill>
                <a:latin typeface="Courier"/>
              </a:rPr>
              <a:t>ème</a:t>
            </a:r>
            <a:br/>
            <a:r>
              <a:rPr>
                <a:solidFill>
                  <a:srgbClr val="CCCCCC"/>
                </a:solidFill>
                <a:latin typeface="Courier"/>
              </a:rPr>
              <a:t>      </a:t>
            </a:r>
            <a:r>
              <a:rPr>
                <a:solidFill>
                  <a:srgbClr val="EFEF8F"/>
                </a:solidFill>
                <a:latin typeface="Courier"/>
              </a:rPr>
              <a:t>{</a:t>
            </a:r>
            <a:r>
              <a:rPr>
                <a:solidFill>
                  <a:srgbClr val="CCCCCC"/>
                </a:solidFill>
                <a:latin typeface="Courier"/>
              </a:rPr>
              <a:t> </a:t>
            </a:r>
            <a:r>
              <a:rPr>
                <a:solidFill>
                  <a:srgbClr val="DFDFBF"/>
                </a:solidFill>
                <a:latin typeface="Courier"/>
              </a:rPr>
              <a:t>"matcher"</a:t>
            </a:r>
            <a:r>
              <a:rPr>
                <a:solidFill>
                  <a:srgbClr val="EFEF8F"/>
                </a:solidFill>
                <a:latin typeface="Courier"/>
              </a:rPr>
              <a:t>:</a:t>
            </a:r>
            <a:r>
              <a:rPr>
                <a:solidFill>
                  <a:srgbClr val="CCCCCC"/>
                </a:solidFill>
                <a:latin typeface="Courier"/>
              </a:rPr>
              <a:t> </a:t>
            </a:r>
            <a:r>
              <a:rPr>
                <a:solidFill>
                  <a:srgbClr val="CC9393"/>
                </a:solidFill>
                <a:latin typeface="Courier"/>
              </a:rPr>
              <a:t>"Edit"</a:t>
            </a:r>
            <a:r>
              <a:rPr>
                <a:solidFill>
                  <a:srgbClr val="EFEF8F"/>
                </a:solidFill>
                <a:latin typeface="Courier"/>
              </a:rPr>
              <a:t>,</a:t>
            </a: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"test"</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CCCC"/>
                </a:solidFill>
                <a:latin typeface="Courier"/>
              </a:rPr>
              <a:t>     </a:t>
            </a:r>
            <a:r>
              <a:rPr>
                <a:solidFill>
                  <a:srgbClr val="C3BF9F"/>
                </a:solidFill>
                <a:latin typeface="Courier"/>
              </a:rPr>
              <a:t>//</a:t>
            </a:r>
            <a:r>
              <a:rPr>
                <a:solidFill>
                  <a:srgbClr val="CCCCCC"/>
                </a:solidFill>
                <a:latin typeface="Courier"/>
              </a:rPr>
              <a:t> </a:t>
            </a:r>
            <a:r>
              <a:rPr>
                <a:solidFill>
                  <a:srgbClr val="DCDCCC"/>
                </a:solidFill>
                <a:latin typeface="Courier"/>
              </a:rPr>
              <a:t>3</a:t>
            </a:r>
            <a:r>
              <a:rPr>
                <a:solidFill>
                  <a:srgbClr val="C3BF9F"/>
                </a:solidFill>
                <a:latin typeface="Courier"/>
              </a:rPr>
              <a:t>ème</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buNone/>
            </a:pPr>
            <a:r>
              <a:rPr b="1"/>
              <a:t>Debug :</a:t>
            </a:r>
          </a:p>
          <a:p>
            <a:pPr lvl="0" indent="0">
              <a:buNone/>
            </a:pPr>
            <a:r>
              <a:rPr>
                <a:solidFill>
                  <a:srgbClr val="7F9F7F"/>
                </a:solidFill>
                <a:latin typeface="Courier"/>
              </a:rPr>
              <a:t># Voir l'exécution des hooks</a:t>
            </a:r>
            <a:br/>
            <a:r>
              <a:rPr>
                <a:solidFill>
                  <a:srgbClr val="CCCCCC"/>
                </a:solidFill>
                <a:latin typeface="Courier"/>
              </a:rPr>
              <a:t>claude --debug</a:t>
            </a:r>
            <a:br/>
            <a:br/>
            <a:r>
              <a:rPr>
                <a:solidFill>
                  <a:srgbClr val="7F9F7F"/>
                </a:solidFill>
                <a:latin typeface="Courier"/>
              </a:rPr>
              <a:t># Logs détaillés</a:t>
            </a:r>
            <a:br/>
            <a:r>
              <a:rPr>
                <a:solidFill>
                  <a:srgbClr val="CCCCCC"/>
                </a:solidFill>
                <a:latin typeface="Courier"/>
              </a:rPr>
              <a:t>CLAUDE_DEBUG</a:t>
            </a:r>
            <a:r>
              <a:rPr>
                <a:solidFill>
                  <a:srgbClr val="F0EFD0"/>
                </a:solidFill>
                <a:latin typeface="Courier"/>
              </a:rPr>
              <a:t>=</a:t>
            </a:r>
            <a:r>
              <a:rPr>
                <a:solidFill>
                  <a:srgbClr val="CCCCCC"/>
                </a:solidFill>
                <a:latin typeface="Courier"/>
              </a:rPr>
              <a:t>1 claude</a:t>
            </a:r>
          </a:p>
          <a:p>
            <a:pPr lvl="0" indent="0" marL="0">
              <a:spcBef>
                <a:spcPts val="3000"/>
              </a:spcBef>
              <a:buNone/>
            </a:pPr>
            <a:r>
              <a:rPr b="1"/>
              <a:t>19.5 Exemples de hooks utiles</a:t>
            </a:r>
          </a:p>
          <a:p>
            <a:pPr lvl="0" indent="0" marL="0">
              <a:buNone/>
            </a:pPr>
            <a:r>
              <a:rPr b="1"/>
              <a:t>Auto-format après édition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"hooks"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"PostToolUse"</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"matcher"</a:t>
            </a:r>
            <a:r>
              <a:rPr>
                <a:solidFill>
                  <a:srgbClr val="EFEF8F"/>
                </a:solidFill>
                <a:latin typeface="Courier"/>
              </a:rPr>
              <a:t>:</a:t>
            </a:r>
            <a:r>
              <a:rPr>
                <a:solidFill>
                  <a:srgbClr val="CCCCCC"/>
                </a:solidFill>
                <a:latin typeface="Courier"/>
              </a:rPr>
              <a:t> </a:t>
            </a:r>
            <a:r>
              <a:rPr>
                <a:solidFill>
                  <a:srgbClr val="CC9393"/>
                </a:solidFill>
                <a:latin typeface="Courier"/>
              </a:rPr>
              <a:t>"Edit(*.go)"</a:t>
            </a:r>
            <a:r>
              <a:rPr>
                <a:solidFill>
                  <a:srgbClr val="EFEF8F"/>
                </a:solidFill>
                <a:latin typeface="Courier"/>
              </a:rPr>
              <a:t>,</a:t>
            </a:r>
            <a:b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"gofmt"</a:t>
            </a:r>
            <a:r>
              <a:rPr>
                <a:solidFill>
                  <a:srgbClr val="EFEF8F"/>
                </a:solidFill>
                <a:latin typeface="Courier"/>
              </a:rPr>
              <a:t>,</a:t>
            </a:r>
            <a:r>
              <a:rPr>
                <a:solidFill>
                  <a:srgbClr val="CCCCCC"/>
                </a:solidFill>
                <a:latin typeface="Courier"/>
              </a:rPr>
              <a:t> </a:t>
            </a:r>
            <a:r>
              <a:rPr>
                <a:solidFill>
                  <a:srgbClr val="CC9393"/>
                </a:solidFill>
                <a:latin typeface="Courier"/>
              </a:rPr>
              <a:t>"-w"</a:t>
            </a:r>
            <a:r>
              <a:rPr>
                <a:solidFill>
                  <a:srgbClr val="EFEF8F"/>
                </a:solidFill>
                <a:latin typeface="Courier"/>
              </a:rPr>
              <a:t>,</a:t>
            </a:r>
            <a:r>
              <a:rPr>
                <a:solidFill>
                  <a:srgbClr val="CCCCCC"/>
                </a:solidFill>
                <a:latin typeface="Courier"/>
              </a:rPr>
              <a:t> </a:t>
            </a:r>
            <a:r>
              <a:rPr>
                <a:solidFill>
                  <a:srgbClr val="CC9393"/>
                </a:solidFill>
                <a:latin typeface="Courier"/>
              </a:rPr>
              <a:t>"$FILE"</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"matcher"</a:t>
            </a:r>
            <a:r>
              <a:rPr>
                <a:solidFill>
                  <a:srgbClr val="EFEF8F"/>
                </a:solidFill>
                <a:latin typeface="Courier"/>
              </a:rPr>
              <a:t>:</a:t>
            </a:r>
            <a:r>
              <a:rPr>
                <a:solidFill>
                  <a:srgbClr val="CCCCCC"/>
                </a:solidFill>
                <a:latin typeface="Courier"/>
              </a:rPr>
              <a:t> </a:t>
            </a:r>
            <a:r>
              <a:rPr>
                <a:solidFill>
                  <a:srgbClr val="CC9393"/>
                </a:solidFill>
                <a:latin typeface="Courier"/>
              </a:rPr>
              <a:t>"Edit(*.{ts,tsx,js,jsx})"</a:t>
            </a:r>
            <a:r>
              <a:rPr>
                <a:solidFill>
                  <a:srgbClr val="EFEF8F"/>
                </a:solidFill>
                <a:latin typeface="Courier"/>
              </a:rPr>
              <a:t>,</a:t>
            </a:r>
            <a:b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"npx"</a:t>
            </a:r>
            <a:r>
              <a:rPr>
                <a:solidFill>
                  <a:srgbClr val="EFEF8F"/>
                </a:solidFill>
                <a:latin typeface="Courier"/>
              </a:rPr>
              <a:t>,</a:t>
            </a:r>
            <a:r>
              <a:rPr>
                <a:solidFill>
                  <a:srgbClr val="CCCCCC"/>
                </a:solidFill>
                <a:latin typeface="Courier"/>
              </a:rPr>
              <a:t> </a:t>
            </a:r>
            <a:r>
              <a:rPr>
                <a:solidFill>
                  <a:srgbClr val="CC9393"/>
                </a:solidFill>
                <a:latin typeface="Courier"/>
              </a:rPr>
              <a:t>"prettier"</a:t>
            </a:r>
            <a:r>
              <a:rPr>
                <a:solidFill>
                  <a:srgbClr val="EFEF8F"/>
                </a:solidFill>
                <a:latin typeface="Courier"/>
              </a:rPr>
              <a:t>,</a:t>
            </a:r>
            <a:r>
              <a:rPr>
                <a:solidFill>
                  <a:srgbClr val="CCCCCC"/>
                </a:solidFill>
                <a:latin typeface="Courier"/>
              </a:rPr>
              <a:t> </a:t>
            </a:r>
            <a:r>
              <a:rPr>
                <a:solidFill>
                  <a:srgbClr val="CC9393"/>
                </a:solidFill>
                <a:latin typeface="Courier"/>
              </a:rPr>
              <a:t>"--write"</a:t>
            </a:r>
            <a:r>
              <a:rPr>
                <a:solidFill>
                  <a:srgbClr val="EFEF8F"/>
                </a:solidFill>
                <a:latin typeface="Courier"/>
              </a:rPr>
              <a:t>,</a:t>
            </a:r>
            <a:r>
              <a:rPr>
                <a:solidFill>
                  <a:srgbClr val="CCCCCC"/>
                </a:solidFill>
                <a:latin typeface="Courier"/>
              </a:rPr>
              <a:t> </a:t>
            </a:r>
            <a:r>
              <a:rPr>
                <a:solidFill>
                  <a:srgbClr val="CC9393"/>
                </a:solidFill>
                <a:latin typeface="Courier"/>
              </a:rPr>
              <a:t>"$FILE"</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buNone/>
            </a:pPr>
            <a:r>
              <a:rPr b="1"/>
              <a:t>Lint check avant commit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"hooks"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"PreToolUse"</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"matcher"</a:t>
            </a:r>
            <a:r>
              <a:rPr>
                <a:solidFill>
                  <a:srgbClr val="EFEF8F"/>
                </a:solidFill>
                <a:latin typeface="Courier"/>
              </a:rPr>
              <a:t>:</a:t>
            </a:r>
            <a:r>
              <a:rPr>
                <a:solidFill>
                  <a:srgbClr val="CCCCCC"/>
                </a:solidFill>
                <a:latin typeface="Courier"/>
              </a:rPr>
              <a:t> </a:t>
            </a:r>
            <a:r>
              <a:rPr>
                <a:solidFill>
                  <a:srgbClr val="CC9393"/>
                </a:solidFill>
                <a:latin typeface="Courier"/>
              </a:rPr>
              <a:t>"Bash(git commit *)"</a:t>
            </a:r>
            <a:r>
              <a:rPr>
                <a:solidFill>
                  <a:srgbClr val="EFEF8F"/>
                </a:solidFill>
                <a:latin typeface="Courier"/>
              </a:rPr>
              <a:t>,</a:t>
            </a:r>
            <a:b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"npm"</a:t>
            </a:r>
            <a:r>
              <a:rPr>
                <a:solidFill>
                  <a:srgbClr val="EFEF8F"/>
                </a:solidFill>
                <a:latin typeface="Courier"/>
              </a:rPr>
              <a:t>,</a:t>
            </a:r>
            <a:r>
              <a:rPr>
                <a:solidFill>
                  <a:srgbClr val="CCCCCC"/>
                </a:solidFill>
                <a:latin typeface="Courier"/>
              </a:rPr>
              <a:t> </a:t>
            </a:r>
            <a:r>
              <a:rPr>
                <a:solidFill>
                  <a:srgbClr val="CC9393"/>
                </a:solidFill>
                <a:latin typeface="Courier"/>
              </a:rPr>
              <a:t>"run"</a:t>
            </a:r>
            <a:r>
              <a:rPr>
                <a:solidFill>
                  <a:srgbClr val="EFEF8F"/>
                </a:solidFill>
                <a:latin typeface="Courier"/>
              </a:rPr>
              <a:t>,</a:t>
            </a:r>
            <a:r>
              <a:rPr>
                <a:solidFill>
                  <a:srgbClr val="CCCCCC"/>
                </a:solidFill>
                <a:latin typeface="Courier"/>
              </a:rPr>
              <a:t> </a:t>
            </a:r>
            <a:r>
              <a:rPr>
                <a:solidFill>
                  <a:srgbClr val="CC9393"/>
                </a:solidFill>
                <a:latin typeface="Courier"/>
              </a:rPr>
              <a:t>"lint"</a:t>
            </a:r>
            <a:r>
              <a:rPr>
                <a:solidFill>
                  <a:srgbClr val="EFEF8F"/>
                </a:solidFill>
                <a:latin typeface="Courier"/>
              </a:rPr>
              <a:t>],</a:t>
            </a:r>
            <a:br/>
            <a:r>
              <a:rPr>
                <a:solidFill>
                  <a:srgbClr val="CCCCCC"/>
                </a:solidFill>
                <a:latin typeface="Courier"/>
              </a:rPr>
              <a:t>        </a:t>
            </a:r>
            <a:r>
              <a:rPr>
                <a:solidFill>
                  <a:srgbClr val="DFDFBF"/>
                </a:solidFill>
                <a:latin typeface="Courier"/>
              </a:rPr>
              <a:t>"timeout"</a:t>
            </a:r>
            <a:r>
              <a:rPr>
                <a:solidFill>
                  <a:srgbClr val="EFEF8F"/>
                </a:solidFill>
                <a:latin typeface="Courier"/>
              </a:rPr>
              <a:t>:</a:t>
            </a:r>
            <a:r>
              <a:rPr>
                <a:solidFill>
                  <a:srgbClr val="CCCCCC"/>
                </a:solidFill>
                <a:latin typeface="Courier"/>
              </a:rPr>
              <a:t> </a:t>
            </a:r>
            <a:r>
              <a:rPr>
                <a:solidFill>
                  <a:srgbClr val="DCDCCC"/>
                </a:solidFill>
                <a:latin typeface="Courier"/>
              </a:rPr>
              <a:t>30000</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buNone/>
            </a:pPr>
            <a:r>
              <a:rPr b="1"/>
              <a:t>Secret scanner :</a:t>
            </a:r>
          </a:p>
          <a:p>
            <a:pPr lvl="0" indent="0">
              <a:buNone/>
            </a:pPr>
            <a:r>
              <a:rPr>
                <a:solidFill>
                  <a:srgbClr val="7F9F7F"/>
                </a:solidFill>
                <a:latin typeface="Courier"/>
              </a:rPr>
              <a:t>#!/bin/bash</a:t>
            </a:r>
            <a:br/>
            <a:r>
              <a:rPr>
                <a:solidFill>
                  <a:srgbClr val="7F9F7F"/>
                </a:solidFill>
                <a:latin typeface="Courier"/>
              </a:rPr>
              <a:t># scripts/scan-secrets.sh</a:t>
            </a:r>
            <a:br/>
            <a:br/>
            <a:r>
              <a:rPr>
                <a:solidFill>
                  <a:srgbClr val="7F9F7F"/>
                </a:solidFill>
                <a:latin typeface="Courier"/>
              </a:rPr>
              <a:t># Patterns de secrets</a:t>
            </a:r>
            <a:br/>
            <a:r>
              <a:rPr>
                <a:solidFill>
                  <a:srgbClr val="CCCCCC"/>
                </a:solidFill>
                <a:latin typeface="Courier"/>
              </a:rPr>
              <a:t>PATTERNS</a:t>
            </a:r>
            <a:r>
              <a:rPr>
                <a:solidFill>
                  <a:srgbClr val="F0EFD0"/>
                </a:solidFill>
                <a:latin typeface="Courier"/>
              </a:rPr>
              <a:t>=</a:t>
            </a:r>
            <a:r>
              <a:rPr>
                <a:solidFill>
                  <a:srgbClr val="CC9393"/>
                </a:solidFill>
                <a:latin typeface="Courier"/>
              </a:rPr>
              <a:t>"(password|secret|api_key|token)</a:t>
            </a:r>
            <a:r>
              <a:rPr>
                <a:solidFill>
                  <a:srgbClr val="DFDFBF"/>
                </a:solidFill>
                <a:latin typeface="Courier"/>
              </a:rPr>
              <a:t>\\</a:t>
            </a:r>
            <a:r>
              <a:rPr>
                <a:solidFill>
                  <a:srgbClr val="CC9393"/>
                </a:solidFill>
                <a:latin typeface="Courier"/>
              </a:rPr>
              <a:t>s*=</a:t>
            </a:r>
            <a:r>
              <a:rPr>
                <a:solidFill>
                  <a:srgbClr val="DFDFBF"/>
                </a:solidFill>
                <a:latin typeface="Courier"/>
              </a:rPr>
              <a:t>\\</a:t>
            </a:r>
            <a:r>
              <a:rPr>
                <a:solidFill>
                  <a:srgbClr val="CC9393"/>
                </a:solidFill>
                <a:latin typeface="Courier"/>
              </a:rPr>
              <a:t>s*['</a:t>
            </a:r>
            <a:r>
              <a:rPr>
                <a:solidFill>
                  <a:srgbClr val="DFDFBF"/>
                </a:solidFill>
                <a:latin typeface="Courier"/>
              </a:rPr>
              <a:t>\"</a:t>
            </a:r>
            <a:r>
              <a:rPr>
                <a:solidFill>
                  <a:srgbClr val="CC9393"/>
                </a:solidFill>
                <a:latin typeface="Courier"/>
              </a:rPr>
              <a:t>][^'</a:t>
            </a:r>
            <a:r>
              <a:rPr>
                <a:solidFill>
                  <a:srgbClr val="DFDFBF"/>
                </a:solidFill>
                <a:latin typeface="Courier"/>
              </a:rPr>
              <a:t>\"</a:t>
            </a:r>
            <a:r>
              <a:rPr>
                <a:solidFill>
                  <a:srgbClr val="CC9393"/>
                </a:solidFill>
                <a:latin typeface="Courier"/>
              </a:rPr>
              <a:t>]+['</a:t>
            </a:r>
            <a:r>
              <a:rPr>
                <a:solidFill>
                  <a:srgbClr val="DFDFBF"/>
                </a:solidFill>
                <a:latin typeface="Courier"/>
              </a:rPr>
              <a:t>\"</a:t>
            </a:r>
            <a:r>
              <a:rPr>
                <a:solidFill>
                  <a:srgbClr val="CC9393"/>
                </a:solidFill>
                <a:latin typeface="Courier"/>
              </a:rPr>
              <a:t>]"</a:t>
            </a:r>
            <a:br/>
            <a:br/>
            <a:r>
              <a:rPr>
                <a:solidFill>
                  <a:srgbClr val="F0DFAF"/>
                </a:solidFill>
                <a:latin typeface="Courier"/>
              </a:rPr>
              <a:t>if</a:t>
            </a:r>
            <a:r>
              <a:rPr>
                <a:solidFill>
                  <a:srgbClr val="CCCCCC"/>
                </a:solidFill>
                <a:latin typeface="Courier"/>
              </a:rPr>
              <a:t> </a:t>
            </a:r>
            <a:r>
              <a:rPr>
                <a:solidFill>
                  <a:srgbClr val="EFEF8F"/>
                </a:solidFill>
                <a:latin typeface="Courier"/>
              </a:rPr>
              <a:t>grep</a:t>
            </a:r>
            <a:r>
              <a:rPr>
                <a:solidFill>
                  <a:srgbClr val="CCCCCC"/>
                </a:solidFill>
                <a:latin typeface="Courier"/>
              </a:rPr>
              <a:t> -rE </a:t>
            </a:r>
            <a:r>
              <a:rPr>
                <a:solidFill>
                  <a:srgbClr val="CC9393"/>
                </a:solidFill>
                <a:latin typeface="Courier"/>
              </a:rPr>
              <a:t>"</a:t>
            </a:r>
            <a:r>
              <a:rPr>
                <a:solidFill>
                  <a:srgbClr val="CCCCCC"/>
                </a:solidFill>
                <a:latin typeface="Courier"/>
              </a:rPr>
              <a:t>$PATTERNS</a:t>
            </a:r>
            <a:r>
              <a:rPr>
                <a:solidFill>
                  <a:srgbClr val="CC9393"/>
                </a:solidFill>
                <a:latin typeface="Courier"/>
              </a:rPr>
              <a:t>"</a:t>
            </a:r>
            <a:r>
              <a:rPr>
                <a:solidFill>
                  <a:srgbClr val="CCCCCC"/>
                </a:solidFill>
                <a:latin typeface="Courier"/>
              </a:rPr>
              <a:t> </a:t>
            </a:r>
            <a:r>
              <a:rPr>
                <a:solidFill>
                  <a:srgbClr val="CC9393"/>
                </a:solidFill>
                <a:latin typeface="Courier"/>
              </a:rPr>
              <a:t>"</a:t>
            </a:r>
            <a:r>
              <a:rPr>
                <a:solidFill>
                  <a:srgbClr val="CCCCCC"/>
                </a:solidFill>
                <a:latin typeface="Courier"/>
              </a:rPr>
              <a:t>$1</a:t>
            </a:r>
            <a:r>
              <a:rPr>
                <a:solidFill>
                  <a:srgbClr val="CC9393"/>
                </a:solidFill>
                <a:latin typeface="Courier"/>
              </a:rPr>
              <a:t>"</a:t>
            </a:r>
            <a:r>
              <a:rPr>
                <a:solidFill>
                  <a:srgbClr val="CCCCCC"/>
                </a:solidFill>
                <a:latin typeface="Courier"/>
              </a:rPr>
              <a:t> </a:t>
            </a:r>
            <a:r>
              <a:rPr>
                <a:solidFill>
                  <a:srgbClr val="DCDCCC"/>
                </a:solidFill>
                <a:latin typeface="Courier"/>
              </a:rPr>
              <a:t>2</a:t>
            </a:r>
            <a:r>
              <a:rPr>
                <a:solidFill>
                  <a:srgbClr val="F0EFD0"/>
                </a:solidFill>
                <a:latin typeface="Courier"/>
              </a:rPr>
              <a:t>&gt;</a:t>
            </a:r>
            <a:r>
              <a:rPr>
                <a:solidFill>
                  <a:srgbClr val="CCCCCC"/>
                </a:solidFill>
                <a:latin typeface="Courier"/>
              </a:rPr>
              <a:t>/dev/null</a:t>
            </a:r>
            <a:r>
              <a:rPr>
                <a:solidFill>
                  <a:srgbClr val="F0DFAF"/>
                </a:solidFill>
                <a:latin typeface="Courier"/>
              </a:rPr>
              <a:t>;</a:t>
            </a:r>
            <a:r>
              <a:rPr>
                <a:solidFill>
                  <a:srgbClr val="CCCCCC"/>
                </a:solidFill>
                <a:latin typeface="Courier"/>
              </a:rPr>
              <a:t> </a:t>
            </a:r>
            <a:r>
              <a:rPr>
                <a:solidFill>
                  <a:srgbClr val="F0DFAF"/>
                </a:solidFill>
                <a:latin typeface="Courier"/>
              </a:rPr>
              <a:t>then</a:t>
            </a:r>
            <a:br/>
            <a:r>
              <a:rPr>
                <a:solidFill>
                  <a:srgbClr val="CCCCCC"/>
                </a:solidFill>
                <a:latin typeface="Courier"/>
              </a:rPr>
              <a:t>  echo </a:t>
            </a:r>
            <a:r>
              <a:rPr>
                <a:solidFill>
                  <a:srgbClr val="CC9393"/>
                </a:solidFill>
                <a:latin typeface="Courier"/>
              </a:rPr>
              <a:t>"ERREUR: Secrets potentiels détectés!"</a:t>
            </a:r>
            <a:br/>
            <a:r>
              <a:rPr>
                <a:solidFill>
                  <a:srgbClr val="CCCCCC"/>
                </a:solidFill>
                <a:latin typeface="Courier"/>
              </a:rPr>
              <a:t>  exit 2</a:t>
            </a:r>
            <a:br/>
            <a:r>
              <a:rPr>
                <a:solidFill>
                  <a:srgbClr val="F0DFAF"/>
                </a:solidFill>
                <a:latin typeface="Courier"/>
              </a:rPr>
              <a:t>fi</a:t>
            </a:r>
            <a:br/>
            <a:br/>
            <a:r>
              <a:rPr>
                <a:solidFill>
                  <a:srgbClr val="CCCCCC"/>
                </a:solidFill>
                <a:latin typeface="Courier"/>
              </a:rPr>
              <a:t>exit 0</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"hooks"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"PreToolUse"</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"matcher"</a:t>
            </a:r>
            <a:r>
              <a:rPr>
                <a:solidFill>
                  <a:srgbClr val="EFEF8F"/>
                </a:solidFill>
                <a:latin typeface="Courier"/>
              </a:rPr>
              <a:t>:</a:t>
            </a:r>
            <a:r>
              <a:rPr>
                <a:solidFill>
                  <a:srgbClr val="CCCCCC"/>
                </a:solidFill>
                <a:latin typeface="Courier"/>
              </a:rPr>
              <a:t> </a:t>
            </a:r>
            <a:r>
              <a:rPr>
                <a:solidFill>
                  <a:srgbClr val="CC9393"/>
                </a:solidFill>
                <a:latin typeface="Courier"/>
              </a:rPr>
              <a:t>"Bash(git add *)"</a:t>
            </a:r>
            <a:r>
              <a:rPr>
                <a:solidFill>
                  <a:srgbClr val="EFEF8F"/>
                </a:solidFill>
                <a:latin typeface="Courier"/>
              </a:rPr>
              <a:t>,</a:t>
            </a:r>
            <a:b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"./scripts/scan-secrets.sh"</a:t>
            </a:r>
            <a:r>
              <a:rPr>
                <a:solidFill>
                  <a:srgbClr val="EFEF8F"/>
                </a:solidFill>
                <a:latin typeface="Courier"/>
              </a:rPr>
              <a:t>,</a:t>
            </a:r>
            <a:r>
              <a:rPr>
                <a:solidFill>
                  <a:srgbClr val="CCCCCC"/>
                </a:solidFill>
                <a:latin typeface="Courier"/>
              </a:rPr>
              <a:t> </a:t>
            </a:r>
            <a:r>
              <a:rPr>
                <a:solidFill>
                  <a:srgbClr val="CC9393"/>
                </a:solidFill>
                <a:latin typeface="Courier"/>
              </a:rPr>
              <a:t>"$CLAUDE_PROJECT_DIR"</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buNone/>
            </a:pPr>
            <a:r>
              <a:rPr b="1"/>
              <a:t>Changelog automatique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"hooks"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"PostToolUse"</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"matcher"</a:t>
            </a:r>
            <a:r>
              <a:rPr>
                <a:solidFill>
                  <a:srgbClr val="EFEF8F"/>
                </a:solidFill>
                <a:latin typeface="Courier"/>
              </a:rPr>
              <a:t>:</a:t>
            </a:r>
            <a:r>
              <a:rPr>
                <a:solidFill>
                  <a:srgbClr val="CCCCCC"/>
                </a:solidFill>
                <a:latin typeface="Courier"/>
              </a:rPr>
              <a:t> </a:t>
            </a:r>
            <a:r>
              <a:rPr>
                <a:solidFill>
                  <a:srgbClr val="CC9393"/>
                </a:solidFill>
                <a:latin typeface="Courier"/>
              </a:rPr>
              <a:t>"Bash(git commit *)"</a:t>
            </a:r>
            <a:r>
              <a:rPr>
                <a:solidFill>
                  <a:srgbClr val="EFEF8F"/>
                </a:solidFill>
                <a:latin typeface="Courier"/>
              </a:rPr>
              <a:t>,</a:t>
            </a:r>
            <a:br/>
            <a:r>
              <a:rPr>
                <a:solidFill>
                  <a:srgbClr val="CCCCCC"/>
                </a:solidFill>
                <a:latin typeface="Courier"/>
              </a:rPr>
              <a:t>        </a:t>
            </a:r>
            <a:r>
              <a:rPr>
                <a:solidFill>
                  <a:srgbClr val="DFDFBF"/>
                </a:solidFill>
                <a:latin typeface="Courier"/>
              </a:rPr>
              <a:t>"prompt"</a:t>
            </a:r>
            <a:r>
              <a:rPr>
                <a:solidFill>
                  <a:srgbClr val="EFEF8F"/>
                </a:solidFill>
                <a:latin typeface="Courier"/>
              </a:rPr>
              <a:t>:</a:t>
            </a:r>
            <a:r>
              <a:rPr>
                <a:solidFill>
                  <a:srgbClr val="CCCCCC"/>
                </a:solidFill>
                <a:latin typeface="Courier"/>
              </a:rPr>
              <a:t> </a:t>
            </a:r>
            <a:r>
              <a:rPr>
                <a:solidFill>
                  <a:srgbClr val="CC9393"/>
                </a:solidFill>
                <a:latin typeface="Courier"/>
              </a:rPr>
              <a:t>"Analyse ce commit et ajoute une entrée appropriée dans CHANGELOG.md si c'est une feature ou un bugfix significatif."</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marL="0">
              <a:buNone/>
            </a:pPr>
            <a:r>
              <a:rPr b="1"/>
              <a:t>Notification Slack :</a:t>
            </a:r>
          </a:p>
          <a:p>
            <a:pPr lvl="0" indent="0">
              <a:buNone/>
            </a:pPr>
            <a:r>
              <a:rPr>
                <a:solidFill>
                  <a:srgbClr val="7F9F7F"/>
                </a:solidFill>
                <a:latin typeface="Courier"/>
              </a:rPr>
              <a:t>#!/bin/bash</a:t>
            </a:r>
            <a:br/>
            <a:r>
              <a:rPr>
                <a:solidFill>
                  <a:srgbClr val="7F9F7F"/>
                </a:solidFill>
                <a:latin typeface="Courier"/>
              </a:rPr>
              <a:t># scripts/notify-slack.sh</a:t>
            </a:r>
            <a:br/>
            <a:br/>
            <a:r>
              <a:rPr>
                <a:solidFill>
                  <a:srgbClr val="CCCCCC"/>
                </a:solidFill>
                <a:latin typeface="Courier"/>
              </a:rPr>
              <a:t>curl -X POST -H </a:t>
            </a:r>
            <a:r>
              <a:rPr>
                <a:solidFill>
                  <a:srgbClr val="CC9393"/>
                </a:solidFill>
                <a:latin typeface="Courier"/>
              </a:rPr>
              <a:t>'Content-type: application/json'</a:t>
            </a:r>
            <a:r>
              <a:rPr>
                <a:solidFill>
                  <a:srgbClr val="CCCCCC"/>
                </a:solidFill>
                <a:latin typeface="Courier"/>
              </a:rPr>
              <a:t> </a:t>
            </a:r>
            <a:r>
              <a:rPr>
                <a:solidFill>
                  <a:srgbClr val="DFDFBF"/>
                </a:solidFill>
                <a:latin typeface="Courier"/>
              </a:rPr>
              <a:t>\</a:t>
            </a:r>
            <a:br/>
            <a:r>
              <a:rPr>
                <a:solidFill>
                  <a:srgbClr val="CCCCCC"/>
                </a:solidFill>
                <a:latin typeface="Courier"/>
              </a:rPr>
              <a:t>  --data </a:t>
            </a:r>
            <a:r>
              <a:rPr>
                <a:solidFill>
                  <a:srgbClr val="CC9393"/>
                </a:solidFill>
                <a:latin typeface="Courier"/>
              </a:rPr>
              <a:t>"{</a:t>
            </a:r>
            <a:r>
              <a:rPr>
                <a:solidFill>
                  <a:srgbClr val="DFDFBF"/>
                </a:solidFill>
                <a:latin typeface="Courier"/>
              </a:rPr>
              <a:t>\"</a:t>
            </a:r>
            <a:r>
              <a:rPr>
                <a:solidFill>
                  <a:srgbClr val="CC9393"/>
                </a:solidFill>
                <a:latin typeface="Courier"/>
              </a:rPr>
              <a:t>text</a:t>
            </a:r>
            <a:r>
              <a:rPr>
                <a:solidFill>
                  <a:srgbClr val="DFDFBF"/>
                </a:solidFill>
                <a:latin typeface="Courier"/>
              </a:rPr>
              <a:t>\"</a:t>
            </a:r>
            <a:r>
              <a:rPr>
                <a:solidFill>
                  <a:srgbClr val="CC9393"/>
                </a:solidFill>
                <a:latin typeface="Courier"/>
              </a:rPr>
              <a:t>:</a:t>
            </a:r>
            <a:r>
              <a:rPr>
                <a:solidFill>
                  <a:srgbClr val="DFDFBF"/>
                </a:solidFill>
                <a:latin typeface="Courier"/>
              </a:rPr>
              <a:t>\"</a:t>
            </a:r>
            <a:r>
              <a:rPr>
                <a:solidFill>
                  <a:srgbClr val="CC9393"/>
                </a:solidFill>
                <a:latin typeface="Courier"/>
              </a:rPr>
              <a:t>Claude a modifié: </a:t>
            </a:r>
            <a:r>
              <a:rPr>
                <a:solidFill>
                  <a:srgbClr val="CCCCCC"/>
                </a:solidFill>
                <a:latin typeface="Courier"/>
              </a:rPr>
              <a:t>$FILE</a:t>
            </a:r>
            <a:r>
              <a:rPr>
                <a:solidFill>
                  <a:srgbClr val="DFDFBF"/>
                </a:solidFill>
                <a:latin typeface="Courier"/>
              </a:rPr>
              <a:t>\"</a:t>
            </a:r>
            <a:r>
              <a:rPr>
                <a:solidFill>
                  <a:srgbClr val="CC9393"/>
                </a:solidFill>
                <a:latin typeface="Courier"/>
              </a:rPr>
              <a:t>}"</a:t>
            </a:r>
            <a:r>
              <a:rPr>
                <a:solidFill>
                  <a:srgbClr val="CCCCCC"/>
                </a:solidFill>
                <a:latin typeface="Courier"/>
              </a:rPr>
              <a:t> </a:t>
            </a:r>
            <a:r>
              <a:rPr>
                <a:solidFill>
                  <a:srgbClr val="DFDFBF"/>
                </a:solidFill>
                <a:latin typeface="Courier"/>
              </a:rPr>
              <a:t>\</a:t>
            </a:r>
            <a:br/>
            <a:r>
              <a:rPr>
                <a:solidFill>
                  <a:srgbClr val="CCCCCC"/>
                </a:solidFill>
                <a:latin typeface="Courier"/>
              </a:rPr>
              <a:t>  </a:t>
            </a:r>
            <a:r>
              <a:rPr>
                <a:solidFill>
                  <a:srgbClr val="CC9393"/>
                </a:solidFill>
                <a:latin typeface="Courier"/>
              </a:rPr>
              <a:t>"</a:t>
            </a:r>
            <a:r>
              <a:rPr>
                <a:solidFill>
                  <a:srgbClr val="CCCCCC"/>
                </a:solidFill>
                <a:latin typeface="Courier"/>
              </a:rPr>
              <a:t>$SLACK_WEBHOOK_URL</a:t>
            </a:r>
            <a:r>
              <a:rPr>
                <a:solidFill>
                  <a:srgbClr val="CC9393"/>
                </a:solidFill>
                <a:latin typeface="Courier"/>
              </a:rPr>
              <a:t>"</a:t>
            </a:r>
          </a:p>
          <a:p>
            <a:pPr lvl="0" indent="0" marL="0">
              <a:buNone/>
            </a:pPr>
            <a:r>
              <a:rPr b="1"/>
              <a:t>Context injection :</a:t>
            </a:r>
          </a:p>
          <a:p>
            <a:pPr lvl="0" indent="0">
              <a:buNone/>
            </a:pPr>
            <a:r>
              <a:rPr>
                <a:solidFill>
                  <a:srgbClr val="EFEF8F"/>
                </a:solidFill>
                <a:latin typeface="Courier"/>
              </a:rPr>
              <a:t>{</a:t>
            </a:r>
            <a:br/>
            <a:r>
              <a:rPr>
                <a:solidFill>
                  <a:srgbClr val="CCCCCC"/>
                </a:solidFill>
                <a:latin typeface="Courier"/>
              </a:rPr>
              <a:t>  </a:t>
            </a:r>
            <a:r>
              <a:rPr>
                <a:solidFill>
                  <a:srgbClr val="DFDFBF"/>
                </a:solidFill>
                <a:latin typeface="Courier"/>
              </a:rPr>
              <a:t>"hooks"</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"UserPromptSubmit"</a:t>
            </a:r>
            <a:r>
              <a:rPr>
                <a:solidFill>
                  <a:srgbClr val="EFEF8F"/>
                </a:solidFill>
                <a:latin typeface="Courier"/>
              </a:rPr>
              <a:t>:</a:t>
            </a: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DFDFBF"/>
                </a:solidFill>
                <a:latin typeface="Courier"/>
              </a:rPr>
              <a:t>"command"</a:t>
            </a:r>
            <a:r>
              <a:rPr>
                <a:solidFill>
                  <a:srgbClr val="EFEF8F"/>
                </a:solidFill>
                <a:latin typeface="Courier"/>
              </a:rPr>
              <a:t>:</a:t>
            </a:r>
            <a:r>
              <a:rPr>
                <a:solidFill>
                  <a:srgbClr val="CCCCCC"/>
                </a:solidFill>
                <a:latin typeface="Courier"/>
              </a:rPr>
              <a:t> </a:t>
            </a:r>
            <a:r>
              <a:rPr>
                <a:solidFill>
                  <a:srgbClr val="EFEF8F"/>
                </a:solidFill>
                <a:latin typeface="Courier"/>
              </a:rPr>
              <a:t>[</a:t>
            </a:r>
            <a:r>
              <a:rPr>
                <a:solidFill>
                  <a:srgbClr val="CC9393"/>
                </a:solidFill>
                <a:latin typeface="Courier"/>
              </a:rPr>
              <a:t>"./scripts/inject-context.sh"</a:t>
            </a:r>
            <a:r>
              <a:rPr>
                <a:solidFill>
                  <a:srgbClr val="EFEF8F"/>
                </a:solidFill>
                <a:latin typeface="Courier"/>
              </a:rPr>
              <a:t>],</a:t>
            </a:r>
            <a:br/>
            <a:r>
              <a:rPr>
                <a:solidFill>
                  <a:srgbClr val="CCCCCC"/>
                </a:solidFill>
                <a:latin typeface="Courier"/>
              </a:rPr>
              <a:t>        </a:t>
            </a:r>
            <a:r>
              <a:rPr>
                <a:solidFill>
                  <a:srgbClr val="DFDFBF"/>
                </a:solidFill>
                <a:latin typeface="Courier"/>
              </a:rPr>
              <a:t>"output"</a:t>
            </a:r>
            <a:r>
              <a:rPr>
                <a:solidFill>
                  <a:srgbClr val="EFEF8F"/>
                </a:solidFill>
                <a:latin typeface="Courier"/>
              </a:rPr>
              <a:t>:</a:t>
            </a:r>
            <a:r>
              <a:rPr>
                <a:solidFill>
                  <a:srgbClr val="CCCCCC"/>
                </a:solidFill>
                <a:latin typeface="Courier"/>
              </a:rPr>
              <a:t> </a:t>
            </a:r>
            <a:r>
              <a:rPr>
                <a:solidFill>
                  <a:srgbClr val="CC9393"/>
                </a:solidFill>
                <a:latin typeface="Courier"/>
              </a:rPr>
              <a:t>"prepend"</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CCCCCC"/>
                </a:solidFill>
                <a:latin typeface="Courier"/>
              </a:rPr>
              <a:t>  </a:t>
            </a:r>
            <a:r>
              <a:rPr>
                <a:solidFill>
                  <a:srgbClr val="EFEF8F"/>
                </a:solidFill>
                <a:latin typeface="Courier"/>
              </a:rPr>
              <a:t>}</a:t>
            </a:r>
            <a:br/>
            <a:r>
              <a:rPr>
                <a:solidFill>
                  <a:srgbClr val="EFEF8F"/>
                </a:solidFill>
                <a:latin typeface="Courier"/>
              </a:rPr>
              <a:t>}</a:t>
            </a:r>
          </a:p>
          <a:p>
            <a:pPr lvl="0" indent="0">
              <a:buNone/>
            </a:pPr>
            <a:r>
              <a:rPr>
                <a:solidFill>
                  <a:srgbClr val="7F9F7F"/>
                </a:solidFill>
                <a:latin typeface="Courier"/>
              </a:rPr>
              <a:t>#!/bin/bash</a:t>
            </a:r>
            <a:br/>
            <a:r>
              <a:rPr>
                <a:solidFill>
                  <a:srgbClr val="7F9F7F"/>
                </a:solidFill>
                <a:latin typeface="Courier"/>
              </a:rPr>
              <a:t># scripts/inject-context.sh</a:t>
            </a:r>
            <a:br/>
            <a:r>
              <a:rPr>
                <a:solidFill>
                  <a:srgbClr val="CCCCCC"/>
                </a:solidFill>
                <a:latin typeface="Courier"/>
              </a:rPr>
              <a:t>echo </a:t>
            </a:r>
            <a:r>
              <a:rPr>
                <a:solidFill>
                  <a:srgbClr val="CC9393"/>
                </a:solidFill>
                <a:latin typeface="Courier"/>
              </a:rPr>
              <a:t>"Current branch: </a:t>
            </a:r>
            <a:r>
              <a:rPr>
                <a:solidFill>
                  <a:srgbClr val="CCCCCC"/>
                </a:solidFill>
                <a:latin typeface="Courier"/>
              </a:rPr>
              <a:t>$(</a:t>
            </a:r>
            <a:r>
              <a:rPr>
                <a:solidFill>
                  <a:srgbClr val="EFEF8F"/>
                </a:solidFill>
                <a:latin typeface="Courier"/>
              </a:rPr>
              <a:t>git</a:t>
            </a:r>
            <a:r>
              <a:rPr>
                <a:solidFill>
                  <a:srgbClr val="CCCCCC"/>
                </a:solidFill>
                <a:latin typeface="Courier"/>
              </a:rPr>
              <a:t> branch --show-current)</a:t>
            </a:r>
            <a:r>
              <a:rPr>
                <a:solidFill>
                  <a:srgbClr val="CC9393"/>
                </a:solidFill>
                <a:latin typeface="Courier"/>
              </a:rPr>
              <a:t>"</a:t>
            </a:r>
            <a:br/>
            <a:r>
              <a:rPr>
                <a:solidFill>
                  <a:srgbClr val="CCCCCC"/>
                </a:solidFill>
                <a:latin typeface="Courier"/>
              </a:rPr>
              <a:t>echo </a:t>
            </a:r>
            <a:r>
              <a:rPr>
                <a:solidFill>
                  <a:srgbClr val="CC9393"/>
                </a:solidFill>
                <a:latin typeface="Courier"/>
              </a:rPr>
              <a:t>"Last commit: </a:t>
            </a:r>
            <a:r>
              <a:rPr>
                <a:solidFill>
                  <a:srgbClr val="CCCCCC"/>
                </a:solidFill>
                <a:latin typeface="Courier"/>
              </a:rPr>
              <a:t>$(</a:t>
            </a:r>
            <a:r>
              <a:rPr>
                <a:solidFill>
                  <a:srgbClr val="EFEF8F"/>
                </a:solidFill>
                <a:latin typeface="Courier"/>
              </a:rPr>
              <a:t>git</a:t>
            </a:r>
            <a:r>
              <a:rPr>
                <a:solidFill>
                  <a:srgbClr val="CCCCCC"/>
                </a:solidFill>
                <a:latin typeface="Courier"/>
              </a:rPr>
              <a:t> log -1 --oneline)</a:t>
            </a:r>
            <a:r>
              <a:rPr>
                <a:solidFill>
                  <a:srgbClr val="CC9393"/>
                </a:solidFill>
                <a:latin typeface="Courier"/>
              </a:rPr>
              <a:t>"</a:t>
            </a:r>
            <a:br/>
            <a:r>
              <a:rPr>
                <a:solidFill>
                  <a:srgbClr val="CCCCCC"/>
                </a:solidFill>
                <a:latin typeface="Courier"/>
              </a:rPr>
              <a:t>echo </a:t>
            </a:r>
            <a:r>
              <a:rPr>
                <a:solidFill>
                  <a:srgbClr val="CC9393"/>
                </a:solidFill>
                <a:latin typeface="Courier"/>
              </a:rPr>
              <a:t>"Date: </a:t>
            </a:r>
            <a:r>
              <a:rPr>
                <a:solidFill>
                  <a:srgbClr val="CCCCCC"/>
                </a:solidFill>
                <a:latin typeface="Courier"/>
              </a:rPr>
              <a:t>$(</a:t>
            </a:r>
            <a:r>
              <a:rPr>
                <a:solidFill>
                  <a:srgbClr val="EFEF8F"/>
                </a:solidFill>
                <a:latin typeface="Courier"/>
              </a:rPr>
              <a:t>date</a:t>
            </a:r>
            <a:r>
              <a:rPr>
                <a:solidFill>
                  <a:srgbClr val="CCCCCC"/>
                </a:solidFill>
                <a:latin typeface="Courier"/>
              </a:rPr>
              <a:t>)</a:t>
            </a:r>
            <a:r>
              <a:rPr>
                <a:solidFill>
                  <a:srgbClr val="CC9393"/>
                </a:solidFill>
                <a:latin typeface="Courier"/>
              </a:rPr>
              <a:t>"</a:t>
            </a:r>
          </a:p>
          <a:p>
            <a:pPr lvl="0" indent="0" marL="0">
              <a:spcBef>
                <a:spcPts val="3000"/>
              </a:spcBef>
              <a:buNone/>
            </a:pPr>
            <a:r>
              <a:rPr b="1"/>
              <a:t>19.6 Claude Code SDK</a:t>
            </a:r>
          </a:p>
          <a:p>
            <a:pPr lvl="0" indent="0" marL="0">
              <a:buNone/>
            </a:pPr>
            <a:r>
              <a:rPr/>
              <a:t>Pour des intégrations plus complexes, utilisez le SDK.</a:t>
            </a:r>
          </a:p>
          <a:p>
            <a:pPr lvl="0" indent="0" marL="0">
              <a:buNone/>
            </a:pPr>
            <a:r>
              <a:rPr b="1"/>
              <a:t>SDK TypeScript :</a:t>
            </a:r>
          </a:p>
          <a:p>
            <a:pPr lvl="0" indent="0">
              <a:buNone/>
            </a:pPr>
            <a:r>
              <a:rPr>
                <a:solidFill>
                  <a:srgbClr val="CCCCCC"/>
                </a:solidFill>
                <a:latin typeface="Courier"/>
              </a:rPr>
              <a:t>import { ClaudeCode } from </a:t>
            </a:r>
            <a:r>
              <a:rPr>
                <a:solidFill>
                  <a:srgbClr val="CC9393"/>
                </a:solidFill>
                <a:latin typeface="Courier"/>
              </a:rPr>
              <a:t>'@anthropic-ai/claude-code-sdk'</a:t>
            </a:r>
            <a:r>
              <a:rPr>
                <a:solidFill>
                  <a:srgbClr val="F0EFD0"/>
                </a:solidFill>
                <a:latin typeface="Courier"/>
              </a:rPr>
              <a:t>;</a:t>
            </a:r>
            <a:br/>
            <a:br/>
            <a:r>
              <a:rPr>
                <a:solidFill>
                  <a:srgbClr val="F0DFAF"/>
                </a:solidFill>
                <a:latin typeface="Courier"/>
              </a:rPr>
              <a:t>const</a:t>
            </a:r>
            <a:r>
              <a:rPr>
                <a:solidFill>
                  <a:srgbClr val="CCCCCC"/>
                </a:solidFill>
                <a:latin typeface="Courier"/>
              </a:rPr>
              <a:t> claude </a:t>
            </a:r>
            <a:r>
              <a:rPr>
                <a:solidFill>
                  <a:srgbClr val="F0EFD0"/>
                </a:solidFill>
                <a:latin typeface="Courier"/>
              </a:rPr>
              <a:t>=</a:t>
            </a:r>
            <a:r>
              <a:rPr>
                <a:solidFill>
                  <a:srgbClr val="CCCCCC"/>
                </a:solidFill>
                <a:latin typeface="Courier"/>
              </a:rPr>
              <a:t> </a:t>
            </a:r>
            <a:r>
              <a:rPr>
                <a:solidFill>
                  <a:srgbClr val="F0DFAF"/>
                </a:solidFill>
                <a:latin typeface="Courier"/>
              </a:rPr>
              <a:t>new</a:t>
            </a:r>
            <a:r>
              <a:rPr>
                <a:solidFill>
                  <a:srgbClr val="CCCCCC"/>
                </a:solidFill>
                <a:latin typeface="Courier"/>
              </a:rPr>
              <a:t> </a:t>
            </a:r>
            <a:r>
              <a:rPr>
                <a:solidFill>
                  <a:srgbClr val="EFEF8F"/>
                </a:solidFill>
                <a:latin typeface="Courier"/>
              </a:rPr>
              <a:t>ClaudeCode</a:t>
            </a:r>
            <a:r>
              <a:rPr>
                <a:solidFill>
                  <a:srgbClr val="CCCCCC"/>
                </a:solidFill>
                <a:latin typeface="Courier"/>
              </a:rPr>
              <a:t>({</a:t>
            </a:r>
            <a:br/>
            <a:r>
              <a:rPr>
                <a:solidFill>
                  <a:srgbClr val="CCCCCC"/>
                </a:solidFill>
                <a:latin typeface="Courier"/>
              </a:rPr>
              <a:t>  apiKey</a:t>
            </a:r>
            <a:r>
              <a:rPr>
                <a:solidFill>
                  <a:srgbClr val="F0EFD0"/>
                </a:solidFill>
                <a:latin typeface="Courier"/>
              </a:rPr>
              <a:t>:</a:t>
            </a:r>
            <a:r>
              <a:rPr>
                <a:solidFill>
                  <a:srgbClr val="CCCCCC"/>
                </a:solidFill>
                <a:latin typeface="Courier"/>
              </a:rPr>
              <a:t> process</a:t>
            </a:r>
            <a:r>
              <a:rPr>
                <a:solidFill>
                  <a:srgbClr val="F0EFD0"/>
                </a:solidFill>
                <a:latin typeface="Courier"/>
              </a:rPr>
              <a:t>.</a:t>
            </a:r>
            <a:r>
              <a:rPr>
                <a:solidFill>
                  <a:srgbClr val="CCCCCC"/>
                </a:solidFill>
                <a:latin typeface="Courier"/>
              </a:rPr>
              <a:t>env</a:t>
            </a:r>
            <a:r>
              <a:rPr>
                <a:solidFill>
                  <a:srgbClr val="F0EFD0"/>
                </a:solidFill>
                <a:latin typeface="Courier"/>
              </a:rPr>
              <a:t>.</a:t>
            </a:r>
            <a:r>
              <a:rPr>
                <a:solidFill>
                  <a:srgbClr val="CCCCCC"/>
                </a:solidFill>
                <a:latin typeface="Courier"/>
              </a:rPr>
              <a:t>ANTHROPIC_API_KEY</a:t>
            </a:r>
            <a:r>
              <a:rPr>
                <a:solidFill>
                  <a:srgbClr val="F0EFD0"/>
                </a:solidFill>
                <a:latin typeface="Courier"/>
              </a:rPr>
              <a:t>,</a:t>
            </a:r>
            <a:br/>
            <a:r>
              <a:rPr>
                <a:solidFill>
                  <a:srgbClr val="CCCCCC"/>
                </a:solidFill>
                <a:latin typeface="Courier"/>
              </a:rPr>
              <a:t>})</a:t>
            </a:r>
            <a:r>
              <a:rPr>
                <a:solidFill>
                  <a:srgbClr val="F0EFD0"/>
                </a:solidFill>
                <a:latin typeface="Courier"/>
              </a:rPr>
              <a:t>;</a:t>
            </a:r>
            <a:br/>
            <a:br/>
            <a:r>
              <a:rPr>
                <a:solidFill>
                  <a:srgbClr val="7F9F7F"/>
                </a:solidFill>
                <a:latin typeface="Courier"/>
              </a:rPr>
              <a:t>// Session interactive</a:t>
            </a:r>
            <a:br/>
            <a:r>
              <a:rPr>
                <a:solidFill>
                  <a:srgbClr val="F0DFAF"/>
                </a:solidFill>
                <a:latin typeface="Courier"/>
              </a:rPr>
              <a:t>const</a:t>
            </a:r>
            <a:r>
              <a:rPr>
                <a:solidFill>
                  <a:srgbClr val="CCCCCC"/>
                </a:solidFill>
                <a:latin typeface="Courier"/>
              </a:rPr>
              <a:t> session </a:t>
            </a:r>
            <a:r>
              <a:rPr>
                <a:solidFill>
                  <a:srgbClr val="F0EFD0"/>
                </a:solidFill>
                <a:latin typeface="Courier"/>
              </a:rPr>
              <a:t>=</a:t>
            </a:r>
            <a:r>
              <a:rPr>
                <a:solidFill>
                  <a:srgbClr val="CCCCCC"/>
                </a:solidFill>
                <a:latin typeface="Courier"/>
              </a:rPr>
              <a:t> </a:t>
            </a:r>
            <a:r>
              <a:rPr>
                <a:solidFill>
                  <a:srgbClr val="F0DFAF"/>
                </a:solidFill>
                <a:latin typeface="Courier"/>
              </a:rPr>
              <a:t>await</a:t>
            </a:r>
            <a:r>
              <a:rPr>
                <a:solidFill>
                  <a:srgbClr val="CCCCCC"/>
                </a:solidFill>
                <a:latin typeface="Courier"/>
              </a:rPr>
              <a:t> claude</a:t>
            </a:r>
            <a:r>
              <a:rPr>
                <a:solidFill>
                  <a:srgbClr val="F0EFD0"/>
                </a:solidFill>
                <a:latin typeface="Courier"/>
              </a:rPr>
              <a:t>.</a:t>
            </a:r>
            <a:r>
              <a:rPr>
                <a:solidFill>
                  <a:srgbClr val="EFEF8F"/>
                </a:solidFill>
                <a:latin typeface="Courier"/>
              </a:rPr>
              <a:t>createSession</a:t>
            </a:r>
            <a:r>
              <a:rPr>
                <a:solidFill>
                  <a:srgbClr val="CCCCCC"/>
                </a:solidFill>
                <a:latin typeface="Courier"/>
              </a:rPr>
              <a:t>({</a:t>
            </a:r>
            <a:br/>
            <a:r>
              <a:rPr>
                <a:solidFill>
                  <a:srgbClr val="CCCCCC"/>
                </a:solidFill>
                <a:latin typeface="Courier"/>
              </a:rPr>
              <a:t>  workingDirectory</a:t>
            </a:r>
            <a:r>
              <a:rPr>
                <a:solidFill>
                  <a:srgbClr val="F0EFD0"/>
                </a:solidFill>
                <a:latin typeface="Courier"/>
              </a:rPr>
              <a:t>:</a:t>
            </a:r>
            <a:r>
              <a:rPr>
                <a:solidFill>
                  <a:srgbClr val="CCCCCC"/>
                </a:solidFill>
                <a:latin typeface="Courier"/>
              </a:rPr>
              <a:t> </a:t>
            </a:r>
            <a:r>
              <a:rPr>
                <a:solidFill>
                  <a:srgbClr val="CC9393"/>
                </a:solidFill>
                <a:latin typeface="Courier"/>
              </a:rPr>
              <a:t>'./my-project'</a:t>
            </a:r>
            <a:r>
              <a:rPr>
                <a:solidFill>
                  <a:srgbClr val="F0EFD0"/>
                </a:solidFill>
                <a:latin typeface="Courier"/>
              </a:rPr>
              <a:t>,</a:t>
            </a:r>
            <a:br/>
            <a:r>
              <a:rPr>
                <a:solidFill>
                  <a:srgbClr val="CCCCCC"/>
                </a:solidFill>
                <a:latin typeface="Courier"/>
              </a:rPr>
              <a:t>})</a:t>
            </a:r>
            <a:r>
              <a:rPr>
                <a:solidFill>
                  <a:srgbClr val="F0EFD0"/>
                </a:solidFill>
                <a:latin typeface="Courier"/>
              </a:rPr>
              <a:t>;</a:t>
            </a:r>
            <a:br/>
            <a:br/>
            <a:r>
              <a:rPr>
                <a:solidFill>
                  <a:srgbClr val="7F9F7F"/>
                </a:solidFill>
                <a:latin typeface="Courier"/>
              </a:rPr>
              <a:t>// Envoyer un message</a:t>
            </a:r>
            <a:br/>
            <a:r>
              <a:rPr>
                <a:solidFill>
                  <a:srgbClr val="F0DFAF"/>
                </a:solidFill>
                <a:latin typeface="Courier"/>
              </a:rPr>
              <a:t>const</a:t>
            </a:r>
            <a:r>
              <a:rPr>
                <a:solidFill>
                  <a:srgbClr val="CCCCCC"/>
                </a:solidFill>
                <a:latin typeface="Courier"/>
              </a:rPr>
              <a:t> response </a:t>
            </a:r>
            <a:r>
              <a:rPr>
                <a:solidFill>
                  <a:srgbClr val="F0EFD0"/>
                </a:solidFill>
                <a:latin typeface="Courier"/>
              </a:rPr>
              <a:t>=</a:t>
            </a:r>
            <a:r>
              <a:rPr>
                <a:solidFill>
                  <a:srgbClr val="CCCCCC"/>
                </a:solidFill>
                <a:latin typeface="Courier"/>
              </a:rPr>
              <a:t> </a:t>
            </a:r>
            <a:r>
              <a:rPr>
                <a:solidFill>
                  <a:srgbClr val="F0DFAF"/>
                </a:solidFill>
                <a:latin typeface="Courier"/>
              </a:rPr>
              <a:t>await</a:t>
            </a:r>
            <a:r>
              <a:rPr>
                <a:solidFill>
                  <a:srgbClr val="CCCCCC"/>
                </a:solidFill>
                <a:latin typeface="Courier"/>
              </a:rPr>
              <a:t> session</a:t>
            </a:r>
            <a:r>
              <a:rPr>
                <a:solidFill>
                  <a:srgbClr val="F0EFD0"/>
                </a:solidFill>
                <a:latin typeface="Courier"/>
              </a:rPr>
              <a:t>.</a:t>
            </a:r>
            <a:r>
              <a:rPr>
                <a:solidFill>
                  <a:srgbClr val="EFEF8F"/>
                </a:solidFill>
                <a:latin typeface="Courier"/>
              </a:rPr>
              <a:t>send</a:t>
            </a:r>
            <a:r>
              <a:rPr>
                <a:solidFill>
                  <a:srgbClr val="CCCCCC"/>
                </a:solidFill>
                <a:latin typeface="Courier"/>
              </a:rPr>
              <a:t>(</a:t>
            </a:r>
            <a:r>
              <a:rPr>
                <a:solidFill>
                  <a:srgbClr val="CC9393"/>
                </a:solidFill>
                <a:latin typeface="Courier"/>
              </a:rPr>
              <a:t>'Analyse ce projet'</a:t>
            </a:r>
            <a:r>
              <a:rPr>
                <a:solidFill>
                  <a:srgbClr val="CCCCCC"/>
                </a:solidFill>
                <a:latin typeface="Courier"/>
              </a:rPr>
              <a:t>)</a:t>
            </a:r>
            <a:r>
              <a:rPr>
                <a:solidFill>
                  <a:srgbClr val="F0EFD0"/>
                </a:solidFill>
                <a:latin typeface="Courier"/>
              </a:rPr>
              <a:t>;</a:t>
            </a:r>
            <a:br/>
            <a:br/>
            <a:r>
              <a:rPr>
                <a:solidFill>
                  <a:srgbClr val="7F9F7F"/>
                </a:solidFill>
                <a:latin typeface="Courier"/>
              </a:rPr>
              <a:t>// Écouter les événements</a:t>
            </a:r>
            <a:br/>
            <a:r>
              <a:rPr>
                <a:solidFill>
                  <a:srgbClr val="CCCCCC"/>
                </a:solidFill>
                <a:latin typeface="Courier"/>
              </a:rPr>
              <a:t>session</a:t>
            </a:r>
            <a:r>
              <a:rPr>
                <a:solidFill>
                  <a:srgbClr val="F0EFD0"/>
                </a:solidFill>
                <a:latin typeface="Courier"/>
              </a:rPr>
              <a:t>.</a:t>
            </a:r>
            <a:r>
              <a:rPr>
                <a:solidFill>
                  <a:srgbClr val="EFEF8F"/>
                </a:solidFill>
                <a:latin typeface="Courier"/>
              </a:rPr>
              <a:t>on</a:t>
            </a:r>
            <a:r>
              <a:rPr>
                <a:solidFill>
                  <a:srgbClr val="CCCCCC"/>
                </a:solidFill>
                <a:latin typeface="Courier"/>
              </a:rPr>
              <a:t>(</a:t>
            </a:r>
            <a:r>
              <a:rPr>
                <a:solidFill>
                  <a:srgbClr val="CC9393"/>
                </a:solidFill>
                <a:latin typeface="Courier"/>
              </a:rPr>
              <a:t>'toolUse'</a:t>
            </a:r>
            <a:r>
              <a:rPr>
                <a:solidFill>
                  <a:srgbClr val="F0EFD0"/>
                </a:solidFill>
                <a:latin typeface="Courier"/>
              </a:rPr>
              <a:t>,</a:t>
            </a:r>
            <a:r>
              <a:rPr>
                <a:solidFill>
                  <a:srgbClr val="CCCCCC"/>
                </a:solidFill>
                <a:latin typeface="Courier"/>
              </a:rPr>
              <a:t> (tool</a:t>
            </a:r>
            <a:r>
              <a:rPr>
                <a:solidFill>
                  <a:srgbClr val="F0EFD0"/>
                </a:solidFill>
                <a:latin typeface="Courier"/>
              </a:rPr>
              <a:t>,</a:t>
            </a:r>
            <a:r>
              <a:rPr>
                <a:solidFill>
                  <a:srgbClr val="CCCCCC"/>
                </a:solidFill>
                <a:latin typeface="Courier"/>
              </a:rPr>
              <a:t> params) </a:t>
            </a:r>
            <a:r>
              <a:rPr>
                <a:solidFill>
                  <a:srgbClr val="F0DFAF"/>
                </a:solidFill>
                <a:latin typeface="Courier"/>
              </a:rPr>
              <a:t>=&gt;</a:t>
            </a:r>
            <a:r>
              <a:rPr>
                <a:solidFill>
                  <a:srgbClr val="CCCCCC"/>
                </a:solidFill>
                <a:latin typeface="Courier"/>
              </a:rPr>
              <a:t> {</a:t>
            </a:r>
            <a:br/>
            <a:r>
              <a:rPr>
                <a:solidFill>
                  <a:srgbClr val="CCCCCC"/>
                </a:solidFill>
                <a:latin typeface="Courier"/>
              </a:rPr>
              <a:t>  console</a:t>
            </a:r>
            <a:r>
              <a:rPr>
                <a:solidFill>
                  <a:srgbClr val="F0EFD0"/>
                </a:solidFill>
                <a:latin typeface="Courier"/>
              </a:rPr>
              <a:t>.</a:t>
            </a:r>
            <a:r>
              <a:rPr>
                <a:solidFill>
                  <a:srgbClr val="EFEF8F"/>
                </a:solidFill>
                <a:latin typeface="Courier"/>
              </a:rPr>
              <a:t>log</a:t>
            </a:r>
            <a:r>
              <a:rPr>
                <a:solidFill>
                  <a:srgbClr val="CCCCCC"/>
                </a:solidFill>
                <a:latin typeface="Courier"/>
              </a:rPr>
              <a:t>(</a:t>
            </a:r>
            <a:r>
              <a:rPr>
                <a:solidFill>
                  <a:srgbClr val="CC9393"/>
                </a:solidFill>
                <a:latin typeface="Courier"/>
              </a:rPr>
              <a:t>`Tool used: </a:t>
            </a:r>
            <a:r>
              <a:rPr>
                <a:solidFill>
                  <a:srgbClr val="DCA3A3"/>
                </a:solidFill>
                <a:latin typeface="Courier"/>
              </a:rPr>
              <a:t>${</a:t>
            </a:r>
            <a:r>
              <a:rPr>
                <a:solidFill>
                  <a:srgbClr val="CCCCCC"/>
                </a:solidFill>
                <a:latin typeface="Courier"/>
              </a:rPr>
              <a:t>tool</a:t>
            </a:r>
            <a:r>
              <a:rPr>
                <a:solidFill>
                  <a:srgbClr val="DCA3A3"/>
                </a:solidFill>
                <a:latin typeface="Courier"/>
              </a:rPr>
              <a:t>}</a:t>
            </a:r>
            <a:r>
              <a:rPr>
                <a:solidFill>
                  <a:srgbClr val="CC9393"/>
                </a:solidFill>
                <a:latin typeface="Courier"/>
              </a:rPr>
              <a:t>`</a:t>
            </a:r>
            <a:r>
              <a:rPr>
                <a:solidFill>
                  <a:srgbClr val="CCCCCC"/>
                </a:solidFill>
                <a:latin typeface="Courier"/>
              </a:rPr>
              <a:t>)</a:t>
            </a:r>
            <a:r>
              <a:rPr>
                <a:solidFill>
                  <a:srgbClr val="F0EFD0"/>
                </a:solidFill>
                <a:latin typeface="Courier"/>
              </a:rPr>
              <a:t>;</a:t>
            </a:r>
            <a:br/>
            <a:r>
              <a:rPr>
                <a:solidFill>
                  <a:srgbClr val="CCCCCC"/>
                </a:solidFill>
                <a:latin typeface="Courier"/>
              </a:rPr>
              <a:t>})</a:t>
            </a:r>
            <a:r>
              <a:rPr>
                <a:solidFill>
                  <a:srgbClr val="F0EFD0"/>
                </a:solidFill>
                <a:latin typeface="Courier"/>
              </a:rPr>
              <a:t>;</a:t>
            </a:r>
            <a:br/>
            <a:br/>
            <a:r>
              <a:rPr>
                <a:solidFill>
                  <a:srgbClr val="7F9F7F"/>
                </a:solidFill>
                <a:latin typeface="Courier"/>
              </a:rPr>
              <a:t>// Fermer</a:t>
            </a:r>
            <a:br/>
            <a:r>
              <a:rPr>
                <a:solidFill>
                  <a:srgbClr val="F0DFAF"/>
                </a:solidFill>
                <a:latin typeface="Courier"/>
              </a:rPr>
              <a:t>await</a:t>
            </a:r>
            <a:r>
              <a:rPr>
                <a:solidFill>
                  <a:srgbClr val="CCCCCC"/>
                </a:solidFill>
                <a:latin typeface="Courier"/>
              </a:rPr>
              <a:t> session</a:t>
            </a:r>
            <a:r>
              <a:rPr>
                <a:solidFill>
                  <a:srgbClr val="F0EFD0"/>
                </a:solidFill>
                <a:latin typeface="Courier"/>
              </a:rPr>
              <a:t>.</a:t>
            </a:r>
            <a:r>
              <a:rPr>
                <a:solidFill>
                  <a:srgbClr val="EFEF8F"/>
                </a:solidFill>
                <a:latin typeface="Courier"/>
              </a:rPr>
              <a:t>close</a:t>
            </a:r>
            <a:r>
              <a:rPr>
                <a:solidFill>
                  <a:srgbClr val="CCCCCC"/>
                </a:solidFill>
                <a:latin typeface="Courier"/>
              </a:rPr>
              <a:t>()</a:t>
            </a:r>
            <a:r>
              <a:rPr>
                <a:solidFill>
                  <a:srgbClr val="F0EFD0"/>
                </a:solidFill>
                <a:latin typeface="Courier"/>
              </a:rPr>
              <a:t>;</a:t>
            </a:r>
          </a:p>
          <a:p>
            <a:pPr lvl="0" indent="0" marL="0">
              <a:buNone/>
            </a:pPr>
            <a:r>
              <a:rPr b="1"/>
              <a:t>SDK Python :</a:t>
            </a:r>
          </a:p>
          <a:p>
            <a:pPr lvl="0" indent="0">
              <a:buNone/>
            </a:pPr>
            <a:r>
              <a:rPr>
                <a:solidFill>
                  <a:srgbClr val="CCCCCC"/>
                </a:solidFill>
                <a:latin typeface="Courier"/>
              </a:rPr>
              <a:t>from claude_code import ClaudeCode</a:t>
            </a:r>
            <a:br/>
            <a:br/>
            <a:r>
              <a:rPr>
                <a:solidFill>
                  <a:srgbClr val="CCCCCC"/>
                </a:solidFill>
                <a:latin typeface="Courier"/>
              </a:rPr>
              <a:t>claude </a:t>
            </a:r>
            <a:r>
              <a:rPr>
                <a:solidFill>
                  <a:srgbClr val="F0EFD0"/>
                </a:solidFill>
                <a:latin typeface="Courier"/>
              </a:rPr>
              <a:t>=</a:t>
            </a:r>
            <a:r>
              <a:rPr>
                <a:solidFill>
                  <a:srgbClr val="CCCCCC"/>
                </a:solidFill>
                <a:latin typeface="Courier"/>
              </a:rPr>
              <a:t> ClaudeCode(api_key</a:t>
            </a:r>
            <a:r>
              <a:rPr>
                <a:solidFill>
                  <a:srgbClr val="F0EFD0"/>
                </a:solidFill>
                <a:latin typeface="Courier"/>
              </a:rPr>
              <a:t>=</a:t>
            </a:r>
            <a:r>
              <a:rPr>
                <a:solidFill>
                  <a:srgbClr val="CCCCCC"/>
                </a:solidFill>
                <a:latin typeface="Courier"/>
              </a:rPr>
              <a:t>os.environ[</a:t>
            </a:r>
            <a:r>
              <a:rPr>
                <a:solidFill>
                  <a:srgbClr val="CC9393"/>
                </a:solidFill>
                <a:latin typeface="Courier"/>
              </a:rPr>
              <a:t>'ANTHROPIC_API_KEY'</a:t>
            </a:r>
            <a:r>
              <a:rPr>
                <a:solidFill>
                  <a:srgbClr val="CCCCCC"/>
                </a:solidFill>
                <a:latin typeface="Courier"/>
              </a:rPr>
              <a:t>])</a:t>
            </a:r>
            <a:br/>
            <a:br/>
            <a:r>
              <a:rPr>
                <a:solidFill>
                  <a:srgbClr val="F0DFAF"/>
                </a:solidFill>
                <a:latin typeface="Courier"/>
              </a:rPr>
              <a:t>with</a:t>
            </a:r>
            <a:r>
              <a:rPr>
                <a:solidFill>
                  <a:srgbClr val="CCCCCC"/>
                </a:solidFill>
                <a:latin typeface="Courier"/>
              </a:rPr>
              <a:t> claude.session(working_dir</a:t>
            </a:r>
            <a:r>
              <a:rPr>
                <a:solidFill>
                  <a:srgbClr val="F0EFD0"/>
                </a:solidFill>
                <a:latin typeface="Courier"/>
              </a:rPr>
              <a:t>=</a:t>
            </a:r>
            <a:r>
              <a:rPr>
                <a:solidFill>
                  <a:srgbClr val="CC9393"/>
                </a:solidFill>
                <a:latin typeface="Courier"/>
              </a:rPr>
              <a:t>'./my-project'</a:t>
            </a:r>
            <a:r>
              <a:rPr>
                <a:solidFill>
                  <a:srgbClr val="CCCCCC"/>
                </a:solidFill>
                <a:latin typeface="Courier"/>
              </a:rPr>
              <a:t>) as session:</a:t>
            </a:r>
            <a:br/>
            <a:r>
              <a:rPr>
                <a:solidFill>
                  <a:srgbClr val="CCCCCC"/>
                </a:solidFill>
                <a:latin typeface="Courier"/>
              </a:rPr>
              <a:t>    response </a:t>
            </a:r>
            <a:r>
              <a:rPr>
                <a:solidFill>
                  <a:srgbClr val="F0EFD0"/>
                </a:solidFill>
                <a:latin typeface="Courier"/>
              </a:rPr>
              <a:t>=</a:t>
            </a:r>
            <a:r>
              <a:rPr>
                <a:solidFill>
                  <a:srgbClr val="CCCCCC"/>
                </a:solidFill>
                <a:latin typeface="Courier"/>
              </a:rPr>
              <a:t> session.send(</a:t>
            </a:r>
            <a:r>
              <a:rPr>
                <a:solidFill>
                  <a:srgbClr val="CC9393"/>
                </a:solidFill>
                <a:latin typeface="Courier"/>
              </a:rPr>
              <a:t>'Analyse ce projet'</a:t>
            </a:r>
            <a:r>
              <a:rPr>
                <a:solidFill>
                  <a:srgbClr val="CCCCCC"/>
                </a:solidFill>
                <a:latin typeface="Courier"/>
              </a:rPr>
              <a:t>)</a:t>
            </a:r>
            <a:br/>
            <a:r>
              <a:rPr>
                <a:solidFill>
                  <a:srgbClr val="CCCCCC"/>
                </a:solidFill>
                <a:latin typeface="Courier"/>
              </a:rPr>
              <a:t>    print(response.content)</a:t>
            </a:r>
            <a:br/>
            <a:br/>
            <a:r>
              <a:rPr>
                <a:solidFill>
                  <a:srgbClr val="CCCCCC"/>
                </a:solidFill>
                <a:latin typeface="Courier"/>
              </a:rPr>
              <a:t>    </a:t>
            </a:r>
            <a:r>
              <a:rPr>
                <a:solidFill>
                  <a:srgbClr val="7F9F7F"/>
                </a:solidFill>
                <a:latin typeface="Courier"/>
              </a:rPr>
              <a:t># Mode streaming</a:t>
            </a:r>
            <a:br/>
            <a:r>
              <a:rPr>
                <a:solidFill>
                  <a:srgbClr val="CCCCCC"/>
                </a:solidFill>
                <a:latin typeface="Courier"/>
              </a:rPr>
              <a:t>    </a:t>
            </a:r>
            <a:r>
              <a:rPr>
                <a:solidFill>
                  <a:srgbClr val="F0DFAF"/>
                </a:solidFill>
                <a:latin typeface="Courier"/>
              </a:rPr>
              <a:t>for</a:t>
            </a:r>
            <a:r>
              <a:rPr>
                <a:solidFill>
                  <a:srgbClr val="CCCCCC"/>
                </a:solidFill>
                <a:latin typeface="Courier"/>
              </a:rPr>
              <a:t> chunk </a:t>
            </a:r>
            <a:r>
              <a:rPr>
                <a:solidFill>
                  <a:srgbClr val="F0DFAF"/>
                </a:solidFill>
                <a:latin typeface="Courier"/>
              </a:rPr>
              <a:t>in</a:t>
            </a:r>
            <a:r>
              <a:rPr>
                <a:solidFill>
                  <a:srgbClr val="CCCCCC"/>
                </a:solidFill>
                <a:latin typeface="Courier"/>
              </a:rPr>
              <a:t> session.stream(</a:t>
            </a:r>
            <a:r>
              <a:rPr>
                <a:solidFill>
                  <a:srgbClr val="CC9393"/>
                </a:solidFill>
                <a:latin typeface="Courier"/>
              </a:rPr>
              <a:t>'Explique le fichier main.go'</a:t>
            </a:r>
            <a:r>
              <a:rPr>
                <a:solidFill>
                  <a:srgbClr val="CCCCCC"/>
                </a:solidFill>
                <a:latin typeface="Courier"/>
              </a:rPr>
              <a:t>):</a:t>
            </a:r>
            <a:br/>
            <a:r>
              <a:rPr>
                <a:solidFill>
                  <a:srgbClr val="CCCCCC"/>
                </a:solidFill>
                <a:latin typeface="Courier"/>
              </a:rPr>
              <a:t>        print(chunk, end</a:t>
            </a:r>
            <a:r>
              <a:rPr>
                <a:solidFill>
                  <a:srgbClr val="F0EFD0"/>
                </a:solidFill>
                <a:latin typeface="Courier"/>
              </a:rPr>
              <a:t>=</a:t>
            </a:r>
            <a:r>
              <a:rPr>
                <a:solidFill>
                  <a:srgbClr val="CC9393"/>
                </a:solidFill>
                <a:latin typeface="Courier"/>
              </a:rPr>
              <a:t>''</a:t>
            </a:r>
            <a:r>
              <a:rPr>
                <a:solidFill>
                  <a:srgbClr val="CCCCCC"/>
                </a:solidFill>
                <a:latin typeface="Courier"/>
              </a:rPr>
              <a:t>)</a:t>
            </a:r>
          </a:p>
          <a:p>
            <a:pPr lvl="0" indent="0" marL="0">
              <a:buNone/>
            </a:pPr>
            <a:r>
              <a:rPr b="1"/>
              <a:t>Cas d’usage SDK :</a:t>
            </a:r>
            <a:r>
              <a:rPr/>
              <a:t> - Bots Discord/Slack - Pipelines CI/CD avancés - Outils de développement custom - Intégration dans des applications</a:t>
            </a:r>
          </a:p>
          <a:p>
            <a:pPr lvl="0" indent="0" marL="0">
              <a:buNone/>
            </a:pPr>
            <a:r>
              <a:rPr b="1"/>
              <a:t>Exercice :</a:t>
            </a:r>
          </a:p>
          <a:p>
            <a:pPr lvl="0" indent="-342900" marL="342900">
              <a:buAutoNum type="arabicPeriod"/>
            </a:pPr>
            <a:r>
              <a:rPr/>
              <a:t>Créez un hook de formatage automatique pour votre langage</a:t>
            </a:r>
          </a:p>
          <a:p>
            <a:pPr lvl="0" indent="-342900" marL="342900">
              <a:buAutoNum type="arabicPeriod"/>
            </a:pPr>
            <a:r>
              <a:rPr/>
              <a:t>Créez un hook de validation avant git push</a:t>
            </a:r>
          </a:p>
          <a:p>
            <a:pPr lvl="0" indent="-342900" marL="342900">
              <a:buAutoNum type="arabicPeriod"/>
            </a:pPr>
            <a:r>
              <a:rPr/>
              <a:t>Testez avec </a:t>
            </a:r>
            <a:r>
              <a:rPr>
                <a:latin typeface="Courier"/>
              </a:rPr>
              <a:t>claude --debug</a:t>
            </a:r>
            <a:r>
              <a:rPr/>
              <a:t> pour voir l’exécution</a:t>
            </a:r>
          </a:p>
          <a:p>
            <a:pPr lvl="0" indent="-342900" marL="342900">
              <a:buAutoNum type="arabicPeriod"/>
            </a:pPr>
            <a:r>
              <a:rPr/>
              <a:t>Bonus : créez un hook de notification (email, Slack, etc.)</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Module 20 : IDE Integrations (45 min)</a:t>
            </a:r>
          </a:p>
          <a:p>
            <a:pPr lvl="0" indent="0" marL="0">
              <a:buNone/>
            </a:pPr>
            <a:r>
              <a:rPr b="1"/>
              <a:t>Objectif pédagogique</a:t>
            </a:r>
            <a:r>
              <a:rPr/>
              <a:t> : À l’issue de ce module, l’apprenant sera capable d’installer et utiliser l’extension VS Code et le plugin JetBrains, d’activer Chrome DevTools pour les tests UI, et de choisir la bonne interface (IDE vs terminal) selon le contexte.</a:t>
            </a:r>
          </a:p>
          <a:p>
            <a:pPr lvl="0" indent="0" marL="0">
              <a:spcBef>
                <a:spcPts val="3000"/>
              </a:spcBef>
              <a:buNone/>
            </a:pPr>
            <a:r>
              <a:rPr b="1"/>
              <a:t>20.1 Extension VS Code</a:t>
            </a:r>
          </a:p>
          <a:p>
            <a:pPr lvl="0" indent="0" marL="0">
              <a:buNone/>
            </a:pPr>
            <a:r>
              <a:rPr b="1"/>
              <a:t>Installation :</a:t>
            </a:r>
            <a:r>
              <a:rPr/>
              <a:t> VS Code → Extensions → “Claude Code” → Installer</a:t>
            </a:r>
          </a:p>
          <a:p>
            <a:pPr lvl="0" indent="0" marL="0">
              <a:buNone/>
            </a:pPr>
            <a:r>
              <a:rPr b="1"/>
              <a:t>Fonctionnalités clés :</a:t>
            </a:r>
            <a:r>
              <a:rPr/>
              <a:t> - </a:t>
            </a:r>
            <a:r>
              <a:rPr b="1"/>
              <a:t>Prompt Box</a:t>
            </a:r>
            <a:r>
              <a:rPr/>
              <a:t> : Zone de saisie dans le panneau latéral - </a:t>
            </a:r>
            <a:r>
              <a:rPr b="1"/>
              <a:t>File References</a:t>
            </a:r>
            <a:r>
              <a:rPr/>
              <a:t> : @mentions depuis l’éditeur - </a:t>
            </a:r>
            <a:r>
              <a:rPr b="1"/>
              <a:t>Selection Context</a:t>
            </a:r>
            <a:r>
              <a:rPr/>
              <a:t> : Envoyer la sélection à Claude - </a:t>
            </a:r>
            <a:r>
              <a:rPr b="1"/>
              <a:t>Multi-conversation</a:t>
            </a:r>
            <a:r>
              <a:rPr/>
              <a:t> : Plusieurs chats en parallèle - </a:t>
            </a:r>
            <a:r>
              <a:rPr b="1"/>
              <a:t>Basculer terminal</a:t>
            </a:r>
            <a:r>
              <a:rPr/>
              <a:t> : </a:t>
            </a:r>
            <a:r>
              <a:rPr>
                <a:latin typeface="Courier"/>
              </a:rPr>
              <a:t>Claude: Open in Terminal</a:t>
            </a:r>
          </a:p>
          <a:p>
            <a:pPr lvl="0" indent="0" marL="0">
              <a:spcBef>
                <a:spcPts val="3000"/>
              </a:spcBef>
              <a:buNone/>
            </a:pPr>
            <a:r>
              <a:rPr b="1"/>
              <a:t>20.2 Plugin JetBrains</a:t>
            </a:r>
          </a:p>
          <a:p>
            <a:pPr lvl="0" indent="0" marL="0">
              <a:buNone/>
            </a:pPr>
            <a:r>
              <a:rPr b="1"/>
              <a:t>IDEs supportés :</a:t>
            </a:r>
            <a:r>
              <a:rPr/>
              <a:t> IntelliJ, PyCharm, GoLand, WebStorm, PhpStorm, Rider</a:t>
            </a:r>
          </a:p>
          <a:p>
            <a:pPr lvl="0" indent="0" marL="0">
              <a:buNone/>
            </a:pPr>
            <a:r>
              <a:rPr b="1"/>
              <a:t>Installation :</a:t>
            </a:r>
            <a:r>
              <a:rPr/>
              <a:t> Settings → Plugins → Marketplace → “Claude Code”</a:t>
            </a:r>
          </a:p>
          <a:p>
            <a:pPr lvl="0" indent="0" marL="0">
              <a:buNone/>
            </a:pPr>
            <a:r>
              <a:rPr b="1"/>
              <a:t>Support Remote :</a:t>
            </a:r>
            <a:r>
              <a:rPr/>
              <a:t> SSH, Docker containers, WSL</a:t>
            </a:r>
          </a:p>
          <a:p>
            <a:pPr lvl="0" indent="0" marL="0">
              <a:spcBef>
                <a:spcPts val="3000"/>
              </a:spcBef>
              <a:buNone/>
            </a:pPr>
            <a:r>
              <a:rPr b="1"/>
              <a:t>20.3 Chrome Integration</a:t>
            </a:r>
          </a:p>
          <a:p>
            <a:pPr lvl="0" indent="0">
              <a:buNone/>
            </a:pPr>
            <a:r>
              <a:rPr>
                <a:solidFill>
                  <a:srgbClr val="CCCCCC"/>
                </a:solidFill>
                <a:latin typeface="Courier"/>
              </a:rPr>
              <a:t>claude --chrome      </a:t>
            </a:r>
            <a:r>
              <a:rPr>
                <a:solidFill>
                  <a:srgbClr val="7F9F7F"/>
                </a:solidFill>
                <a:latin typeface="Courier"/>
              </a:rPr>
              <a:t># Activer Chrome DevTools</a:t>
            </a:r>
            <a:br/>
            <a:r>
              <a:rPr>
                <a:solidFill>
                  <a:srgbClr val="CCCCCC"/>
                </a:solidFill>
                <a:latin typeface="Courier"/>
              </a:rPr>
              <a:t>claude --no-chrome   </a:t>
            </a:r>
            <a:r>
              <a:rPr>
                <a:solidFill>
                  <a:srgbClr val="7F9F7F"/>
                </a:solidFill>
                <a:latin typeface="Courier"/>
              </a:rPr>
              <a:t># Désactiver</a:t>
            </a:r>
          </a:p>
          <a:p>
            <a:pPr lvl="0" indent="0" marL="0">
              <a:buNone/>
            </a:pPr>
            <a:r>
              <a:rPr b="1"/>
              <a:t>Cas d’usage :</a:t>
            </a:r>
            <a:r>
              <a:rPr/>
              <a:t> Tests E2E, screenshots, scraping, formulaires</a:t>
            </a:r>
          </a:p>
          <a:p>
            <a:pPr lvl="0" indent="0" marL="0">
              <a:spcBef>
                <a:spcPts val="3000"/>
              </a:spcBef>
              <a:buNone/>
            </a:pPr>
            <a:r>
              <a:rPr b="1"/>
              <a:t>20.4 Bonnes pratiques IDE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Situation</a:t>
                      </a:r>
                    </a:p>
                  </a:txBody>
                  <a:tcPr/>
                </a:tc>
                <a:tc>
                  <a:txBody>
                    <a:bodyPr/>
                    <a:lstStyle/>
                    <a:p>
                      <a:pPr lvl="0" indent="0" marL="0">
                        <a:buNone/>
                      </a:pPr>
                      <a:r>
                        <a:rPr/>
                        <a:t>Recommandation</a:t>
                      </a:r>
                    </a:p>
                  </a:txBody>
                  <a:tcPr/>
                </a:tc>
              </a:tr>
              <a:tr h="0">
                <a:tc>
                  <a:txBody>
                    <a:bodyPr/>
                    <a:lstStyle/>
                    <a:p>
                      <a:pPr lvl="0" indent="0" marL="0">
                        <a:buNone/>
                      </a:pPr>
                      <a:r>
                        <a:rPr/>
                        <a:t>Modification rapide</a:t>
                      </a:r>
                    </a:p>
                  </a:txBody>
                </a:tc>
                <a:tc>
                  <a:txBody>
                    <a:bodyPr/>
                    <a:lstStyle/>
                    <a:p>
                      <a:pPr lvl="0" indent="0" marL="0">
                        <a:buNone/>
                      </a:pPr>
                      <a:r>
                        <a:rPr/>
                        <a:t>IDE</a:t>
                      </a:r>
                    </a:p>
                  </a:txBody>
                </a:tc>
              </a:tr>
              <a:tr h="0">
                <a:tc>
                  <a:txBody>
                    <a:bodyPr/>
                    <a:lstStyle/>
                    <a:p>
                      <a:pPr lvl="0" indent="0" marL="0">
                        <a:buNone/>
                      </a:pPr>
                      <a:r>
                        <a:rPr/>
                        <a:t>Exploration projet</a:t>
                      </a:r>
                    </a:p>
                  </a:txBody>
                </a:tc>
                <a:tc>
                  <a:txBody>
                    <a:bodyPr/>
                    <a:lstStyle/>
                    <a:p>
                      <a:pPr lvl="0" indent="0" marL="0">
                        <a:buNone/>
                      </a:pPr>
                      <a:r>
                        <a:rPr/>
                        <a:t>Terminal (subagent)</a:t>
                      </a:r>
                    </a:p>
                  </a:txBody>
                </a:tc>
              </a:tr>
              <a:tr h="0">
                <a:tc>
                  <a:txBody>
                    <a:bodyPr/>
                    <a:lstStyle/>
                    <a:p>
                      <a:pPr lvl="0" indent="0" marL="0">
                        <a:buNone/>
                      </a:pPr>
                      <a:r>
                        <a:rPr/>
                        <a:t>Refactoring multi-fichiers</a:t>
                      </a:r>
                    </a:p>
                  </a:txBody>
                </a:tc>
                <a:tc>
                  <a:txBody>
                    <a:bodyPr/>
                    <a:lstStyle/>
                    <a:p>
                      <a:pPr lvl="0" indent="0" marL="0">
                        <a:buNone/>
                      </a:pPr>
                      <a:r>
                        <a:rPr/>
                        <a:t>Terminal</a:t>
                      </a:r>
                    </a:p>
                  </a:txBody>
                </a:tc>
              </a:tr>
            </a:tbl>
          </a:graphicData>
        </a:graphic>
      </p:graphicFrame>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21 : Mode Headless et Automatisation (45 min)</a:t>
            </a:r>
          </a:p>
          <a:p>
            <a:pPr lvl="0" indent="0" marL="0">
              <a:buNone/>
            </a:pPr>
            <a:r>
              <a:rPr b="1"/>
              <a:t>Objectif pédagogique</a:t>
            </a:r>
            <a:r>
              <a:rPr/>
              <a:t> : À l’issue de ce module, l’apprenant sera capable d’exécuter Claude Code en mode non-interactif avec </a:t>
            </a:r>
            <a:r>
              <a:rPr>
                <a:latin typeface="Courier"/>
              </a:rPr>
              <a:t>-p</a:t>
            </a:r>
            <a:r>
              <a:rPr/>
              <a:t>, de configurer les options avancées (max-turns, budget, output-format), et d’intégrer Claude Code dans des scripts shell.</a:t>
            </a:r>
          </a:p>
          <a:p>
            <a:pPr lvl="0" indent="0" marL="0">
              <a:spcBef>
                <a:spcPts val="3000"/>
              </a:spcBef>
              <a:buNone/>
            </a:pPr>
            <a:r>
              <a:rPr b="1"/>
              <a:t>21.1 Print Mode (</a:t>
            </a:r>
            <a:r>
              <a:rPr b="1">
                <a:latin typeface="Courier"/>
              </a:rPr>
              <a:t>-p</a:t>
            </a:r>
            <a:r>
              <a:rPr b="1"/>
              <a:t>)</a:t>
            </a:r>
          </a:p>
          <a:p>
            <a:pPr lvl="0" indent="0">
              <a:buNone/>
            </a:pPr>
            <a:r>
              <a:rPr>
                <a:solidFill>
                  <a:srgbClr val="CCCCCC"/>
                </a:solidFill>
                <a:latin typeface="Courier"/>
              </a:rPr>
              <a:t>claude -p </a:t>
            </a:r>
            <a:r>
              <a:rPr>
                <a:solidFill>
                  <a:srgbClr val="CC9393"/>
                </a:solidFill>
                <a:latin typeface="Courier"/>
              </a:rPr>
              <a:t>"Liste les TODO"</a:t>
            </a:r>
            <a:r>
              <a:rPr>
                <a:solidFill>
                  <a:srgbClr val="CCCCCC"/>
                </a:solidFill>
                <a:latin typeface="Courier"/>
              </a:rPr>
              <a:t>              </a:t>
            </a:r>
            <a:r>
              <a:rPr>
                <a:solidFill>
                  <a:srgbClr val="7F9F7F"/>
                </a:solidFill>
                <a:latin typeface="Courier"/>
              </a:rPr>
              <a:t># Exécuter et quitter</a:t>
            </a:r>
            <a:br/>
            <a:r>
              <a:rPr>
                <a:solidFill>
                  <a:srgbClr val="CCCCCC"/>
                </a:solidFill>
                <a:latin typeface="Courier"/>
              </a:rPr>
              <a:t>claude -p </a:t>
            </a:r>
            <a:r>
              <a:rPr>
                <a:solidFill>
                  <a:srgbClr val="CC9393"/>
                </a:solidFill>
                <a:latin typeface="Courier"/>
              </a:rPr>
              <a:t>"query"</a:t>
            </a:r>
            <a:r>
              <a:rPr>
                <a:solidFill>
                  <a:srgbClr val="CCCCCC"/>
                </a:solidFill>
                <a:latin typeface="Courier"/>
              </a:rPr>
              <a:t> --output-format json  </a:t>
            </a:r>
            <a:r>
              <a:rPr>
                <a:solidFill>
                  <a:srgbClr val="7F9F7F"/>
                </a:solidFill>
                <a:latin typeface="Courier"/>
              </a:rPr>
              <a:t># Sortie JSON</a:t>
            </a:r>
          </a:p>
          <a:p>
            <a:pPr lvl="0" indent="0" marL="0">
              <a:spcBef>
                <a:spcPts val="3000"/>
              </a:spcBef>
              <a:buNone/>
            </a:pPr>
            <a:r>
              <a:rPr b="1"/>
              <a:t>21.2 Options avancées</a:t>
            </a:r>
          </a:p>
          <a:p>
            <a:pPr lvl="0" indent="0">
              <a:buNone/>
            </a:pPr>
            <a:r>
              <a:rPr>
                <a:solidFill>
                  <a:srgbClr val="CCCCCC"/>
                </a:solidFill>
                <a:latin typeface="Courier"/>
              </a:rPr>
              <a:t>claude -p </a:t>
            </a:r>
            <a:r>
              <a:rPr>
                <a:solidFill>
                  <a:srgbClr val="CC9393"/>
                </a:solidFill>
                <a:latin typeface="Courier"/>
              </a:rPr>
              <a:t>"Fix bug"</a:t>
            </a:r>
            <a:r>
              <a:rPr>
                <a:solidFill>
                  <a:srgbClr val="CCCCCC"/>
                </a:solidFill>
                <a:latin typeface="Courier"/>
              </a:rPr>
              <a:t> --max-turns 5 --max-budget-usd 1.00 --no-session-persistence</a:t>
            </a:r>
          </a:p>
          <a:p>
            <a:pPr lvl="0" indent="0" marL="0">
              <a:spcBef>
                <a:spcPts val="3000"/>
              </a:spcBef>
              <a:buNone/>
            </a:pPr>
            <a:r>
              <a:rPr b="1"/>
              <a:t>21.3 Script exemple</a:t>
            </a:r>
          </a:p>
          <a:p>
            <a:pPr lvl="0" indent="0">
              <a:buNone/>
            </a:pPr>
            <a:r>
              <a:rPr>
                <a:solidFill>
                  <a:srgbClr val="7F9F7F"/>
                </a:solidFill>
                <a:latin typeface="Courier"/>
              </a:rPr>
              <a:t>#!/bin/bash</a:t>
            </a:r>
            <a:br/>
            <a:r>
              <a:rPr>
                <a:solidFill>
                  <a:srgbClr val="CCCCCC"/>
                </a:solidFill>
                <a:latin typeface="Courier"/>
              </a:rPr>
              <a:t>commits</a:t>
            </a:r>
            <a:r>
              <a:rPr>
                <a:solidFill>
                  <a:srgbClr val="F0EFD0"/>
                </a:solidFill>
                <a:latin typeface="Courier"/>
              </a:rPr>
              <a:t>=</a:t>
            </a:r>
            <a:r>
              <a:rPr>
                <a:solidFill>
                  <a:srgbClr val="CCCCCC"/>
                </a:solidFill>
                <a:latin typeface="Courier"/>
              </a:rPr>
              <a:t>$(</a:t>
            </a:r>
            <a:r>
              <a:rPr>
                <a:solidFill>
                  <a:srgbClr val="EFEF8F"/>
                </a:solidFill>
                <a:latin typeface="Courier"/>
              </a:rPr>
              <a:t>git</a:t>
            </a:r>
            <a:r>
              <a:rPr>
                <a:solidFill>
                  <a:srgbClr val="CCCCCC"/>
                </a:solidFill>
                <a:latin typeface="Courier"/>
              </a:rPr>
              <a:t> log --oneline ${last_tag}..HEAD)</a:t>
            </a:r>
            <a:br/>
            <a:r>
              <a:rPr>
                <a:solidFill>
                  <a:srgbClr val="CCCCCC"/>
                </a:solidFill>
                <a:latin typeface="Courier"/>
              </a:rPr>
              <a:t>claude -p </a:t>
            </a:r>
            <a:r>
              <a:rPr>
                <a:solidFill>
                  <a:srgbClr val="CC9393"/>
                </a:solidFill>
                <a:latin typeface="Courier"/>
              </a:rPr>
              <a:t>"Changelog pour: </a:t>
            </a:r>
            <a:r>
              <a:rPr>
                <a:solidFill>
                  <a:srgbClr val="CCCCCC"/>
                </a:solidFill>
                <a:latin typeface="Courier"/>
              </a:rPr>
              <a:t>$commits</a:t>
            </a:r>
            <a:r>
              <a:rPr>
                <a:solidFill>
                  <a:srgbClr val="CC9393"/>
                </a:solidFill>
                <a:latin typeface="Courier"/>
              </a:rPr>
              <a:t>"</a:t>
            </a:r>
            <a:r>
              <a:rPr>
                <a:solidFill>
                  <a:srgbClr val="CCCCCC"/>
                </a:solidFill>
                <a:latin typeface="Courier"/>
              </a:rPr>
              <a:t> </a:t>
            </a:r>
            <a:r>
              <a:rPr>
                <a:solidFill>
                  <a:srgbClr val="F0EFD0"/>
                </a:solidFill>
                <a:latin typeface="Courier"/>
              </a:rPr>
              <a:t>&gt;</a:t>
            </a:r>
            <a:r>
              <a:rPr>
                <a:solidFill>
                  <a:srgbClr val="CCCCCC"/>
                </a:solidFill>
                <a:latin typeface="Courier"/>
              </a:rPr>
              <a:t> CHANGELOG.md</a:t>
            </a:r>
          </a:p>
          <a:p>
            <a:pPr lvl="0" indent="0" marL="0">
              <a:spcBef>
                <a:spcPts val="3000"/>
              </a:spcBef>
              <a:buNone/>
            </a:pPr>
            <a:r>
              <a:rPr b="1"/>
              <a:t>21.4 SDK</a:t>
            </a:r>
          </a:p>
          <a:p>
            <a:pPr lvl="0" indent="0" marL="0">
              <a:buNone/>
            </a:pPr>
            <a:r>
              <a:rPr b="1"/>
              <a:t>TypeScript/Python :</a:t>
            </a:r>
            <a:r>
              <a:rPr/>
              <a:t> Sessions programmatiques, streaming, événements</a:t>
            </a:r>
          </a:p>
        </p:txBody>
      </p:sp>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22 : CI/CD - GitHub Actions et GitLab (1h)</a:t>
            </a:r>
          </a:p>
          <a:p>
            <a:pPr lvl="0" indent="0" marL="0">
              <a:buNone/>
            </a:pPr>
            <a:r>
              <a:rPr b="1"/>
              <a:t>Objectif pédagogique</a:t>
            </a:r>
            <a:r>
              <a:rPr/>
              <a:t> : À l’issue de ce module, l’apprenant sera capable de configurer Claude Code dans un pipeline GitHub Actions ou GitLab CI, d’automatiser les code reviews sur les PR/MR, et de générer des changelogs automatiques.</a:t>
            </a:r>
          </a:p>
          <a:p>
            <a:pPr lvl="0" indent="0" marL="0">
              <a:spcBef>
                <a:spcPts val="3000"/>
              </a:spcBef>
              <a:buNone/>
            </a:pPr>
            <a:r>
              <a:rPr b="1"/>
              <a:t>22.1 GitHub Actions</a:t>
            </a:r>
          </a:p>
          <a:p>
            <a:pPr lvl="0" indent="0">
              <a:buNone/>
            </a:pPr>
            <a:r>
              <a:rPr>
                <a:solidFill>
                  <a:srgbClr val="F0DFAF"/>
                </a:solidFill>
                <a:latin typeface="Courier"/>
              </a:rPr>
              <a:t>-</a:t>
            </a:r>
            <a:r>
              <a:rPr>
                <a:solidFill>
                  <a:srgbClr val="CCCCCC"/>
                </a:solidFill>
                <a:latin typeface="Courier"/>
              </a:rPr>
              <a:t> </a:t>
            </a:r>
            <a:r>
              <a:rPr>
                <a:solidFill>
                  <a:srgbClr val="EFEF8F"/>
                </a:solidFill>
                <a:latin typeface="Courier"/>
              </a:rPr>
              <a:t>uses</a:t>
            </a:r>
            <a:r>
              <a:rPr>
                <a:solidFill>
                  <a:srgbClr val="F0DFAF"/>
                </a:solidFill>
                <a:latin typeface="Courier"/>
              </a:rPr>
              <a:t>:</a:t>
            </a:r>
            <a:r>
              <a:rPr>
                <a:solidFill>
                  <a:srgbClr val="CCCCCC"/>
                </a:solidFill>
                <a:latin typeface="Courier"/>
              </a:rPr>
              <a:t> anthropics/claude-code-action@v1</a:t>
            </a:r>
            <a:br/>
            <a:r>
              <a:rPr>
                <a:solidFill>
                  <a:srgbClr val="CCCCCC"/>
                </a:solidFill>
                <a:latin typeface="Courier"/>
              </a:rPr>
              <a:t>  </a:t>
            </a:r>
            <a:r>
              <a:rPr>
                <a:solidFill>
                  <a:srgbClr val="EFEF8F"/>
                </a:solidFill>
                <a:latin typeface="Courier"/>
              </a:rPr>
              <a:t>with</a:t>
            </a:r>
            <a:r>
              <a:rPr>
                <a:solidFill>
                  <a:srgbClr val="F0DFAF"/>
                </a:solidFill>
                <a:latin typeface="Courier"/>
              </a:rPr>
              <a:t>:</a:t>
            </a:r>
            <a:br/>
            <a:r>
              <a:rPr>
                <a:solidFill>
                  <a:srgbClr val="CCCCCC"/>
                </a:solidFill>
                <a:latin typeface="Courier"/>
              </a:rPr>
              <a:t>    </a:t>
            </a:r>
            <a:r>
              <a:rPr>
                <a:solidFill>
                  <a:srgbClr val="EFEF8F"/>
                </a:solidFill>
                <a:latin typeface="Courier"/>
              </a:rPr>
              <a:t>anthropic_api_key</a:t>
            </a:r>
            <a:r>
              <a:rPr>
                <a:solidFill>
                  <a:srgbClr val="F0DFAF"/>
                </a:solidFill>
                <a:latin typeface="Courier"/>
              </a:rPr>
              <a:t>:</a:t>
            </a:r>
            <a:r>
              <a:rPr>
                <a:solidFill>
                  <a:srgbClr val="CCCCCC"/>
                </a:solidFill>
                <a:latin typeface="Courier"/>
              </a:rPr>
              <a:t> ${{ secrets.ANTHROPIC_API_KEY }}</a:t>
            </a:r>
            <a:br/>
            <a:r>
              <a:rPr>
                <a:solidFill>
                  <a:srgbClr val="CCCCCC"/>
                </a:solidFill>
                <a:latin typeface="Courier"/>
              </a:rPr>
              <a:t>    </a:t>
            </a:r>
            <a:r>
              <a:rPr>
                <a:solidFill>
                  <a:srgbClr val="EFEF8F"/>
                </a:solidFill>
                <a:latin typeface="Courier"/>
              </a:rPr>
              <a:t>prompt</a:t>
            </a:r>
            <a:r>
              <a:rPr>
                <a:solidFill>
                  <a:srgbClr val="F0DFAF"/>
                </a:solidFill>
                <a:latin typeface="Courier"/>
              </a:rPr>
              <a:t>:</a:t>
            </a:r>
            <a:r>
              <a:rPr>
                <a:solidFill>
                  <a:srgbClr val="CCCCCC"/>
                </a:solidFill>
                <a:latin typeface="Courier"/>
              </a:rPr>
              <a:t> </a:t>
            </a:r>
            <a:r>
              <a:rPr>
                <a:solidFill>
                  <a:srgbClr val="CC9393"/>
                </a:solidFill>
                <a:latin typeface="Courier"/>
              </a:rPr>
              <a:t>"Review this PR"</a:t>
            </a:r>
          </a:p>
          <a:p>
            <a:pPr lvl="0" indent="0" marL="0">
              <a:spcBef>
                <a:spcPts val="3000"/>
              </a:spcBef>
              <a:buNone/>
            </a:pPr>
            <a:r>
              <a:rPr b="1"/>
              <a:t>22.2 GitLab CI</a:t>
            </a:r>
          </a:p>
          <a:p>
            <a:pPr lvl="0" indent="0">
              <a:buNone/>
            </a:pPr>
            <a:r>
              <a:rPr>
                <a:solidFill>
                  <a:srgbClr val="EFEF8F"/>
                </a:solidFill>
                <a:latin typeface="Courier"/>
              </a:rPr>
              <a:t>script</a:t>
            </a:r>
            <a:r>
              <a:rPr>
                <a:solidFill>
                  <a:srgbClr val="F0DFAF"/>
                </a:solidFill>
                <a:latin typeface="Courier"/>
              </a:rPr>
              <a:t>:</a:t>
            </a:r>
            <a:br/>
            <a:r>
              <a:rPr>
                <a:solidFill>
                  <a:srgbClr val="CCCCCC"/>
                </a:solidFill>
                <a:latin typeface="Courier"/>
              </a:rPr>
              <a:t>  </a:t>
            </a:r>
            <a:r>
              <a:rPr>
                <a:solidFill>
                  <a:srgbClr val="F0DFAF"/>
                </a:solidFill>
                <a:latin typeface="Courier"/>
              </a:rPr>
              <a:t>-</a:t>
            </a:r>
            <a:r>
              <a:rPr>
                <a:solidFill>
                  <a:srgbClr val="CCCCCC"/>
                </a:solidFill>
                <a:latin typeface="Courier"/>
              </a:rPr>
              <a:t> npm install -g @anthropic-ai/claude-code</a:t>
            </a:r>
            <a:br/>
            <a:r>
              <a:rPr>
                <a:solidFill>
                  <a:srgbClr val="CCCCCC"/>
                </a:solidFill>
                <a:latin typeface="Courier"/>
              </a:rPr>
              <a:t>  </a:t>
            </a:r>
            <a:r>
              <a:rPr>
                <a:solidFill>
                  <a:srgbClr val="F0DFAF"/>
                </a:solidFill>
                <a:latin typeface="Courier"/>
              </a:rPr>
              <a:t>-</a:t>
            </a:r>
            <a:r>
              <a:rPr>
                <a:solidFill>
                  <a:srgbClr val="CCCCCC"/>
                </a:solidFill>
                <a:latin typeface="Courier"/>
              </a:rPr>
              <a:t> claude -p "Review MR"</a:t>
            </a:r>
          </a:p>
        </p:txBody>
      </p:sp>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23 : Patterns agentiques avancés (45 min)</a:t>
            </a:r>
          </a:p>
          <a:p>
            <a:pPr lvl="0" indent="0" marL="0">
              <a:buNone/>
            </a:pPr>
            <a:r>
              <a:rPr b="1"/>
              <a:t>Objectif pédagogique</a:t>
            </a:r>
            <a:r>
              <a:rPr/>
              <a:t> : À l’issue de ce module, l’apprenant sera capable d’utiliser le Plan Mode pour des tâches complexes, d’orchestrer plusieurs subagents (parallèle vs séquentiel), et d’activer Extended Thinking pour les problèmes algorithmiques difficiles.</a:t>
            </a:r>
          </a:p>
          <a:p>
            <a:pPr lvl="0" indent="0" marL="0">
              <a:spcBef>
                <a:spcPts val="3000"/>
              </a:spcBef>
              <a:buNone/>
            </a:pPr>
            <a:r>
              <a:rPr b="1"/>
              <a:t>23.1 Plan Mode</a:t>
            </a:r>
          </a:p>
          <a:p>
            <a:pPr lvl="0" indent="0">
              <a:buNone/>
            </a:pPr>
            <a:r>
              <a:rPr>
                <a:solidFill>
                  <a:srgbClr val="CCCCCC"/>
                </a:solidFill>
                <a:latin typeface="Courier"/>
              </a:rPr>
              <a:t>claude --permission-mode plan</a:t>
            </a:r>
          </a:p>
          <a:p>
            <a:pPr lvl="0" indent="0" marL="0">
              <a:buNone/>
            </a:pPr>
            <a:r>
              <a:rPr/>
              <a:t>Workflow : Exploration → Plan → Validation → Implémentation</a:t>
            </a:r>
          </a:p>
          <a:p>
            <a:pPr lvl="0" indent="0" marL="0">
              <a:spcBef>
                <a:spcPts val="3000"/>
              </a:spcBef>
              <a:buNone/>
            </a:pPr>
            <a:r>
              <a:rPr b="1"/>
              <a:t>23.2 Orchestration subagents</a:t>
            </a:r>
          </a:p>
          <a:p>
            <a:pPr lvl="0"/>
            <a:r>
              <a:rPr/>
              <a:t>Parallèle : tâches indépendantes</a:t>
            </a:r>
          </a:p>
          <a:p>
            <a:pPr lvl="0"/>
            <a:r>
              <a:rPr/>
              <a:t>Séquentiel : tâches dépendantes</a:t>
            </a:r>
          </a:p>
          <a:p>
            <a:pPr lvl="0" indent="0" marL="0">
              <a:spcBef>
                <a:spcPts val="3000"/>
              </a:spcBef>
              <a:buNone/>
            </a:pPr>
            <a:r>
              <a:rPr b="1"/>
              <a:t>23.3 Extended Thinking</a:t>
            </a:r>
          </a:p>
          <a:p>
            <a:pPr lvl="0" indent="0" marL="0">
              <a:buNone/>
            </a:pPr>
            <a:r>
              <a:rPr>
                <a:latin typeface="Courier"/>
              </a:rPr>
              <a:t>Alt+T</a:t>
            </a:r>
            <a:r>
              <a:rPr/>
              <a:t> ou </a:t>
            </a:r>
            <a:r>
              <a:rPr>
                <a:latin typeface="Courier"/>
              </a:rPr>
              <a:t>export MAX_THINKING_TOKENS=10000</a:t>
            </a:r>
          </a:p>
        </p:txBody>
      </p:sp>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24 : Optimisation et Productivité (45 min)</a:t>
            </a:r>
          </a:p>
          <a:p>
            <a:pPr lvl="0" indent="0" marL="0">
              <a:buNone/>
            </a:pPr>
            <a:r>
              <a:rPr b="1"/>
              <a:t>Objectif pédagogique</a:t>
            </a:r>
            <a:r>
              <a:rPr/>
              <a:t> : À l’issue de ce module, l’apprenant sera capable d’optimiser l’utilisation des tokens, de réduire les coûts avec des prompts efficaces et le bon choix de modèle, et d’appliquer les bonnes pratiques pour des sessions productives.</a:t>
            </a:r>
          </a:p>
          <a:p>
            <a:pPr lvl="0" indent="0" marL="0">
              <a:spcBef>
                <a:spcPts val="3000"/>
              </a:spcBef>
              <a:buNone/>
            </a:pPr>
            <a:r>
              <a:rPr b="1"/>
              <a:t>Gestion contexte</a:t>
            </a:r>
          </a:p>
          <a:p>
            <a:pPr lvl="0" indent="0">
              <a:buNone/>
            </a:pPr>
            <a:r>
              <a:rPr>
                <a:latin typeface="Courier"/>
              </a:rPr>
              <a:t>/context  → Visualiser usage
/compact  → Compresser conversation</a:t>
            </a:r>
          </a:p>
          <a:p>
            <a:pPr lvl="0" indent="0" marL="0">
              <a:spcBef>
                <a:spcPts val="3000"/>
              </a:spcBef>
              <a:buNone/>
            </a:pPr>
            <a:r>
              <a:rPr b="1"/>
              <a:t>Réduction tokens</a:t>
            </a:r>
          </a:p>
          <a:p>
            <a:pPr lvl="0"/>
            <a:r>
              <a:rPr/>
              <a:t>Prompts spécifiques</a:t>
            </a:r>
          </a:p>
          <a:p>
            <a:pPr lvl="0"/>
            <a:r>
              <a:rPr/>
              <a:t>Skills pour tâches répétitives</a:t>
            </a:r>
          </a:p>
          <a:p>
            <a:pPr lvl="0"/>
            <a:r>
              <a:rPr/>
              <a:t>Déléguer aux subagents</a:t>
            </a:r>
          </a:p>
          <a:p>
            <a:pPr lvl="0"/>
            <a:r>
              <a:rPr/>
              <a:t>Bon choix de modèle</a:t>
            </a:r>
          </a:p>
        </p:txBody>
      </p:sp>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25 : Configuration Terminal et UX (30 min)</a:t>
            </a:r>
          </a:p>
          <a:p>
            <a:pPr lvl="0" indent="0" marL="0">
              <a:buNone/>
            </a:pPr>
            <a:r>
              <a:rPr b="1"/>
              <a:t>Objectif pédagogique</a:t>
            </a:r>
            <a:r>
              <a:rPr/>
              <a:t> : À l’issue de ce module, l’apprenant sera capable de personnaliser l’interface terminal (thème, mode vim, style), de configurer des keybindings personnalisés, et d’adapter Claude Code à ses préférences d’utilisation.</a:t>
            </a:r>
          </a:p>
          <a:p>
            <a:pPr lvl="0" indent="0">
              <a:buNone/>
            </a:pPr>
            <a:r>
              <a:rPr>
                <a:latin typeface="Courier"/>
              </a:rPr>
              <a:t>/theme monokai    → Changer thème
/vim enable       → Mode vim
/style concise    → Style bref</a:t>
            </a:r>
          </a:p>
          <a:p>
            <a:pPr lvl="0" indent="0" marL="0">
              <a:buNone/>
            </a:pPr>
            <a:r>
              <a:rPr/>
              <a:t>Keybindings : </a:t>
            </a:r>
            <a:r>
              <a:rPr>
                <a:latin typeface="Courier"/>
              </a:rPr>
              <a:t>~/.claude/keybindings.json</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Module 26 : Déploiement Enterprise (30 min)</a:t>
            </a:r>
          </a:p>
          <a:p>
            <a:pPr lvl="0" indent="0" marL="0">
              <a:buNone/>
            </a:pPr>
            <a:r>
              <a:rPr b="1"/>
              <a:t>Objectif pédagogique</a:t>
            </a:r>
            <a:r>
              <a:rPr/>
              <a:t> : À l’issue de ce module, l’apprenant sera capable de configurer Claude Code en contexte enterprise avec managed settings, d’utiliser les providers cloud (AWS Bedrock, GCP Vertex), et de gérer les contraintes réseau (proxy, mTLS, LLM gateways).</a:t>
            </a:r>
          </a:p>
          <a:p>
            <a:pPr lvl="0" indent="0" marL="0">
              <a:spcBef>
                <a:spcPts val="3000"/>
              </a:spcBef>
              <a:buNone/>
            </a:pPr>
            <a:r>
              <a:rPr b="1"/>
              <a:t>Managed Settings</a:t>
            </a:r>
          </a:p>
          <a:p>
            <a:pPr lvl="0" indent="0" marL="0">
              <a:buNone/>
            </a:pPr>
            <a:r>
              <a:rPr/>
              <a:t>Fichier </a:t>
            </a:r>
            <a:r>
              <a:rPr>
                <a:latin typeface="Courier"/>
              </a:rPr>
              <a:t>managed-settings.json</a:t>
            </a:r>
            <a:r>
              <a:rPr/>
              <a:t> contrôlé par IT</a:t>
            </a:r>
          </a:p>
          <a:p>
            <a:pPr lvl="0" indent="0" marL="0">
              <a:spcBef>
                <a:spcPts val="3000"/>
              </a:spcBef>
              <a:buNone/>
            </a:pPr>
            <a:r>
              <a:rPr b="1"/>
              <a:t>Providers</a:t>
            </a:r>
          </a:p>
          <a:p>
            <a:pPr lvl="0" indent="0">
              <a:buNone/>
            </a:pPr>
            <a:r>
              <a:rPr>
                <a:solidFill>
                  <a:srgbClr val="CCCCCC"/>
                </a:solidFill>
                <a:latin typeface="Courier"/>
              </a:rPr>
              <a:t>export ANTHROPIC_PROVIDER</a:t>
            </a:r>
            <a:r>
              <a:rPr>
                <a:solidFill>
                  <a:srgbClr val="F0EFD0"/>
                </a:solidFill>
                <a:latin typeface="Courier"/>
              </a:rPr>
              <a:t>=</a:t>
            </a:r>
            <a:r>
              <a:rPr>
                <a:solidFill>
                  <a:srgbClr val="CCCCCC"/>
                </a:solidFill>
                <a:latin typeface="Courier"/>
              </a:rPr>
              <a:t>bedrock   </a:t>
            </a:r>
            <a:r>
              <a:rPr>
                <a:solidFill>
                  <a:srgbClr val="7F9F7F"/>
                </a:solidFill>
                <a:latin typeface="Courier"/>
              </a:rPr>
              <a:t># AWS</a:t>
            </a:r>
            <a:br/>
            <a:r>
              <a:rPr>
                <a:solidFill>
                  <a:srgbClr val="CCCCCC"/>
                </a:solidFill>
                <a:latin typeface="Courier"/>
              </a:rPr>
              <a:t>export ANTHROPIC_PROVIDER</a:t>
            </a:r>
            <a:r>
              <a:rPr>
                <a:solidFill>
                  <a:srgbClr val="F0EFD0"/>
                </a:solidFill>
                <a:latin typeface="Courier"/>
              </a:rPr>
              <a:t>=</a:t>
            </a:r>
            <a:r>
              <a:rPr>
                <a:solidFill>
                  <a:srgbClr val="CCCCCC"/>
                </a:solidFill>
                <a:latin typeface="Courier"/>
              </a:rPr>
              <a:t>vertex    </a:t>
            </a:r>
            <a:r>
              <a:rPr>
                <a:solidFill>
                  <a:srgbClr val="7F9F7F"/>
                </a:solidFill>
                <a:latin typeface="Courier"/>
              </a:rPr>
              <a:t># GCP</a:t>
            </a:r>
          </a:p>
          <a:p>
            <a:pPr lvl="0" indent="0" marL="0">
              <a:spcBef>
                <a:spcPts val="3000"/>
              </a:spcBef>
              <a:buNone/>
            </a:pPr>
            <a:r>
              <a:rPr b="1"/>
              <a:t>Réseau</a:t>
            </a:r>
          </a:p>
          <a:p>
            <a:pPr lvl="0" indent="0" marL="0">
              <a:buNone/>
            </a:pPr>
            <a:r>
              <a:rPr/>
              <a:t>Proxy, mTLS, LLM Gateways</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Projet intermédiaire : GitBar - Outil desktop rapide (2h)</a:t>
            </a:r>
          </a:p>
          <a:p>
            <a:pPr lvl="0" indent="0" marL="0">
              <a:buNone/>
            </a:pPr>
            <a:r>
              <a:rPr b="1"/>
              <a:t>Objectif pédagogique</a:t>
            </a:r>
            <a:r>
              <a:rPr/>
              <a:t> : Démontrer comment Claude Code permet de créer rapidement un outil desktop personnel en Go avec Wails, de l’idée au binaire fonctionnel.</a:t>
            </a:r>
          </a:p>
          <a:p>
            <a:pPr lvl="0" indent="0" marL="0">
              <a:spcBef>
                <a:spcPts val="3000"/>
              </a:spcBef>
              <a:buNone/>
            </a:pPr>
            <a:r>
              <a:rPr b="1"/>
              <a:t>Présentation</a:t>
            </a:r>
          </a:p>
          <a:p>
            <a:pPr lvl="0" indent="0" marL="0">
              <a:buNone/>
            </a:pPr>
            <a:r>
              <a:rPr b="1"/>
              <a:t>GitBar</a:t>
            </a:r>
            <a:r>
              <a:rPr/>
              <a:t> est une application de barre de menu pour surveiller vos repositories GitHub/GitLab : PRs ouvertes, statut des pipelines CI, notifications sur les événements importants.</a:t>
            </a:r>
          </a:p>
          <a:p>
            <a:pPr lvl="0" indent="0" marL="0">
              <a:spcBef>
                <a:spcPts val="3000"/>
              </a:spcBef>
              <a:buNone/>
            </a:pPr>
            <a:r>
              <a:rPr b="1"/>
              <a:t>Stack technique</a:t>
            </a:r>
          </a:p>
          <a:p>
            <a:pPr lvl="0" indent="0">
              <a:buNone/>
            </a:pPr>
            <a:r>
              <a:rPr>
                <a:latin typeface="Courier"/>
              </a:rPr>
              <a:t>Backend : Go 1.22+
Frontend : HTML/CSS/JS (ou Svelte/React/Vue)
Framework : Wails v2
API : GitHub REST API / GitLab API</a:t>
            </a:r>
          </a:p>
          <a:p>
            <a:pPr lvl="0" indent="0" marL="0">
              <a:spcBef>
                <a:spcPts val="3000"/>
              </a:spcBef>
              <a:buNone/>
            </a:pPr>
            <a:r>
              <a:rPr b="1"/>
              <a:t>Fonctionnalités cibles</a:t>
            </a:r>
          </a:p>
          <a:p>
            <a:pPr lvl="0" indent="-342900" marL="342900">
              <a:buAutoNum type="arabicPeriod"/>
            </a:pPr>
            <a:r>
              <a:rPr b="1"/>
              <a:t>Icône barre de menu</a:t>
            </a:r>
            <a:r>
              <a:rPr/>
              <a:t> avec indicateur de statut (vert/orange/rouge)</a:t>
            </a:r>
          </a:p>
          <a:p>
            <a:pPr lvl="0" indent="-342900" marL="342900">
              <a:buAutoNum type="arabicPeriod"/>
            </a:pPr>
            <a:r>
              <a:rPr b="1"/>
              <a:t>Liste des PRs/MRs</a:t>
            </a:r>
            <a:r>
              <a:rPr/>
              <a:t> à reviewer</a:t>
            </a:r>
          </a:p>
          <a:p>
            <a:pPr lvl="0" indent="-342900" marL="342900">
              <a:buAutoNum type="arabicPeriod"/>
            </a:pPr>
            <a:r>
              <a:rPr b="1"/>
              <a:t>Statut des pipelines CI</a:t>
            </a:r>
            <a:r>
              <a:rPr/>
              <a:t> (GitHub Actions / GitLab CI)</a:t>
            </a:r>
          </a:p>
          <a:p>
            <a:pPr lvl="0" indent="-342900" marL="342900">
              <a:buAutoNum type="arabicPeriod"/>
            </a:pPr>
            <a:r>
              <a:rPr b="1"/>
              <a:t>Notifications natives</a:t>
            </a:r>
            <a:r>
              <a:rPr/>
              <a:t> macOS/Windows/Linux</a:t>
            </a:r>
          </a:p>
          <a:p>
            <a:pPr lvl="0" indent="-342900" marL="342900">
              <a:buAutoNum type="arabicPeriod"/>
            </a:pPr>
            <a:r>
              <a:rPr b="1"/>
              <a:t>Configuration</a:t>
            </a:r>
            <a:r>
              <a:rPr/>
              <a:t> : token API, repos à surveiller</a:t>
            </a:r>
          </a:p>
          <a:p>
            <a:pPr lvl="0" indent="0" marL="0">
              <a:spcBef>
                <a:spcPts val="3000"/>
              </a:spcBef>
              <a:buNone/>
            </a:pPr>
            <a:r>
              <a:rPr b="1"/>
              <a:t>Workflow avec Claude Code</a:t>
            </a:r>
          </a:p>
          <a:p>
            <a:pPr lvl="0" indent="0" marL="0">
              <a:buNone/>
            </a:pPr>
            <a:r>
              <a:rPr b="1"/>
              <a:t>Étape 1 : Initialisation projet Wails</a:t>
            </a:r>
          </a:p>
          <a:p>
            <a:pPr lvl="0" indent="0">
              <a:buNone/>
            </a:pPr>
            <a:r>
              <a:rPr>
                <a:latin typeface="Courier"/>
              </a:rPr>
              <a:t>&gt; Initialise un projet Wails nommé "gitbar" avec Go backend.
&gt; Utilise le template vanilla (HTML/CSS/JS simple).
&gt; Crée la structure de base.</a:t>
            </a:r>
          </a:p>
          <a:p>
            <a:pPr lvl="0" indent="0" marL="0">
              <a:buNone/>
            </a:pPr>
            <a:r>
              <a:rPr b="1"/>
              <a:t>Étape 2 : Configuration API GitHub</a:t>
            </a:r>
          </a:p>
          <a:p>
            <a:pPr lvl="0" indent="0">
              <a:buNone/>
            </a:pPr>
            <a:r>
              <a:rPr>
                <a:latin typeface="Courier"/>
              </a:rPr>
              <a:t>&gt; Ajoute la configuration pour l'API GitHub :
&gt; - Lecture du token depuis variable d'environnement ou fichier config
&gt; - Structure pour stocker la liste des repos à surveiller
&gt; - Client HTTP avec authentification Bearer</a:t>
            </a:r>
          </a:p>
          <a:p>
            <a:pPr lvl="0" indent="0" marL="0">
              <a:buNone/>
            </a:pPr>
            <a:r>
              <a:rPr b="1"/>
              <a:t>Étape 3 : Récupération des PRs</a:t>
            </a:r>
          </a:p>
          <a:p>
            <a:pPr lvl="0" indent="0">
              <a:buNone/>
            </a:pPr>
            <a:r>
              <a:rPr>
                <a:latin typeface="Courier"/>
              </a:rPr>
              <a:t>&gt; Crée une fonction Go qui récupère les Pull Requests ouvertes
&gt; pour les repos configurés. Retourne :
&gt; - Titre, auteur, date de création
&gt; - Statut des checks CI
&gt; - Nombre de reviews approuvées/demandées</a:t>
            </a:r>
          </a:p>
          <a:p>
            <a:pPr lvl="0" indent="0" marL="0">
              <a:buNone/>
            </a:pPr>
            <a:r>
              <a:rPr b="1"/>
              <a:t>Étape 4 : Interface utilisateur</a:t>
            </a:r>
          </a:p>
          <a:p>
            <a:pPr lvl="0" indent="0">
              <a:buNone/>
            </a:pPr>
            <a:r>
              <a:rPr>
                <a:latin typeface="Courier"/>
              </a:rPr>
              <a:t>&gt; Crée l'interface HTML/CSS pour afficher :
&gt; - Liste des PRs groupées par repo
&gt; - Badge de statut coloré (vert=ready, orange=pending, rouge=failing)
&gt; - Lien cliquable vers la PR sur GitHub
&gt; Style moderne et minimaliste, thème sombre.</a:t>
            </a:r>
          </a:p>
          <a:p>
            <a:pPr lvl="0" indent="0" marL="0">
              <a:buNone/>
            </a:pPr>
            <a:r>
              <a:rPr b="1"/>
              <a:t>Étape 5 : Système de polling</a:t>
            </a:r>
          </a:p>
          <a:p>
            <a:pPr lvl="0" indent="0">
              <a:buNone/>
            </a:pPr>
            <a:r>
              <a:rPr>
                <a:latin typeface="Courier"/>
              </a:rPr>
              <a:t>&gt; Implémente un polling toutes les 60 secondes pour rafraîchir les données.
&gt; Expose une méthode Wails pour déclencher un refresh manuel.
&gt; Gère les erreurs réseau gracieusement.</a:t>
            </a:r>
          </a:p>
          <a:p>
            <a:pPr lvl="0" indent="0" marL="0">
              <a:buNone/>
            </a:pPr>
            <a:r>
              <a:rPr b="1"/>
              <a:t>Étape 6 : Notifications natives</a:t>
            </a:r>
          </a:p>
          <a:p>
            <a:pPr lvl="0" indent="0">
              <a:buNone/>
            </a:pPr>
            <a:r>
              <a:rPr>
                <a:latin typeface="Courier"/>
              </a:rPr>
              <a:t>&gt; Ajoute les notifications desktop natives quand :
&gt; - Une nouvelle PR est assignée pour review
&gt; - Un pipeline échoue sur une de mes PRs
&gt; Utilise la librairie beeep ou similaire pour Go.</a:t>
            </a:r>
          </a:p>
          <a:p>
            <a:pPr lvl="0" indent="0" marL="0">
              <a:buNone/>
            </a:pPr>
            <a:r>
              <a:rPr b="1"/>
              <a:t>Étape 7 : Build et distribution</a:t>
            </a:r>
          </a:p>
          <a:p>
            <a:pPr lvl="0" indent="0">
              <a:buNone/>
            </a:pPr>
            <a:r>
              <a:rPr>
                <a:latin typeface="Courier"/>
              </a:rPr>
              <a:t>&gt; Configure le build Wails pour :
&gt; - macOS : app bundle avec icône personnalisée
&gt; - Windows : exe avec icône
&gt; - Linux : binaire AppImage
&gt; Crée un Makefile avec les commandes de build.</a:t>
            </a:r>
          </a:p>
          <a:p>
            <a:pPr lvl="0" indent="0" marL="0">
              <a:spcBef>
                <a:spcPts val="3000"/>
              </a:spcBef>
              <a:buNone/>
            </a:pPr>
            <a:r>
              <a:rPr b="1"/>
              <a:t>Structure du projet</a:t>
            </a:r>
          </a:p>
          <a:p>
            <a:pPr lvl="0" indent="0">
              <a:buNone/>
            </a:pPr>
            <a:r>
              <a:rPr>
                <a:latin typeface="Courier"/>
              </a:rPr>
              <a:t>gitbar/
├── main.go                 # Point d'entrée Wails
├── app.go                  # Logique backend exposée au frontend
├── internal/
│   ├── github/
│   │   ├── client.go       # Client API GitHub
│   │   └── types.go        # Structures de données
│   ├── config/
│   │   └── config.go       # Gestion configuration
│   └── notify/
│       └── notify.go       # Notifications natives
├── frontend/
│   ├── index.html
│   ├── style.css
│   └── main.js
├── build/
│   └── appicon.png
├── wails.json
└── CLAUDE.md               # Instructions pour Claude Code</a:t>
            </a:r>
          </a:p>
          <a:p>
            <a:pPr lvl="0" indent="0" marL="0">
              <a:spcBef>
                <a:spcPts val="3000"/>
              </a:spcBef>
              <a:buNone/>
            </a:pPr>
            <a:r>
              <a:rPr b="1"/>
              <a:t>CLAUDE.md pour GitBar</a:t>
            </a:r>
          </a:p>
          <a:p>
            <a:pPr lvl="0" indent="0">
              <a:buNone/>
            </a:pPr>
            <a:r>
              <a:rPr>
                <a:solidFill>
                  <a:srgbClr val="EFEF8F"/>
                </a:solidFill>
                <a:latin typeface="Courier"/>
              </a:rPr>
              <a:t># CLAUDE.md - GitBar</a:t>
            </a:r>
            <a:br/>
            <a:br/>
            <a:r>
              <a:rPr>
                <a:solidFill>
                  <a:srgbClr val="EFEF8F"/>
                </a:solidFill>
                <a:latin typeface="Courier"/>
              </a:rPr>
              <a:t>## Projet</a:t>
            </a:r>
            <a:br/>
            <a:r>
              <a:rPr>
                <a:solidFill>
                  <a:srgbClr val="CCCCCC"/>
                </a:solidFill>
                <a:latin typeface="Courier"/>
              </a:rPr>
              <a:t>Application desktop barre de menu pour surveiller GitHub PRs et CI.</a:t>
            </a:r>
            <a:br/>
            <a:br/>
            <a:r>
              <a:rPr>
                <a:solidFill>
                  <a:srgbClr val="EFEF8F"/>
                </a:solidFill>
                <a:latin typeface="Courier"/>
              </a:rPr>
              <a:t>## Stack</a:t>
            </a:r>
            <a:br/>
            <a:r>
              <a:rPr>
                <a:solidFill>
                  <a:srgbClr val="CC9393"/>
                </a:solidFill>
                <a:latin typeface="Courier"/>
              </a:rPr>
              <a:t>- </a:t>
            </a:r>
            <a:r>
              <a:rPr>
                <a:solidFill>
                  <a:srgbClr val="CCCCCC"/>
                </a:solidFill>
                <a:latin typeface="Courier"/>
              </a:rPr>
              <a:t>Backend: Go 1.22, Wails v2</a:t>
            </a:r>
            <a:br/>
            <a:r>
              <a:rPr>
                <a:solidFill>
                  <a:srgbClr val="CC9393"/>
                </a:solidFill>
                <a:latin typeface="Courier"/>
              </a:rPr>
              <a:t>- </a:t>
            </a:r>
            <a:r>
              <a:rPr>
                <a:solidFill>
                  <a:srgbClr val="CCCCCC"/>
                </a:solidFill>
                <a:latin typeface="Courier"/>
              </a:rPr>
              <a:t>Frontend: Vanilla JS, CSS moderne</a:t>
            </a:r>
            <a:br/>
            <a:r>
              <a:rPr>
                <a:solidFill>
                  <a:srgbClr val="CC9393"/>
                </a:solidFill>
                <a:latin typeface="Courier"/>
              </a:rPr>
              <a:t>- </a:t>
            </a:r>
            <a:r>
              <a:rPr>
                <a:solidFill>
                  <a:srgbClr val="CCCCCC"/>
                </a:solidFill>
                <a:latin typeface="Courier"/>
              </a:rPr>
              <a:t>API: GitHub REST API v3</a:t>
            </a:r>
            <a:br/>
            <a:br/>
            <a:r>
              <a:rPr>
                <a:solidFill>
                  <a:srgbClr val="EFEF8F"/>
                </a:solidFill>
                <a:latin typeface="Courier"/>
              </a:rPr>
              <a:t>## Commandes</a:t>
            </a:r>
            <a:br/>
            <a:r>
              <a:rPr>
                <a:solidFill>
                  <a:srgbClr val="CC9393"/>
                </a:solidFill>
                <a:latin typeface="Courier"/>
              </a:rPr>
              <a:t>- </a:t>
            </a:r>
            <a:r>
              <a:rPr b="1">
                <a:solidFill>
                  <a:srgbClr val="7F9F7F"/>
                </a:solidFill>
                <a:latin typeface="Courier"/>
              </a:rPr>
              <a:t>`wails dev`</a:t>
            </a:r>
            <a:r>
              <a:rPr>
                <a:solidFill>
                  <a:srgbClr val="CCCCCC"/>
                </a:solidFill>
                <a:latin typeface="Courier"/>
              </a:rPr>
              <a:t> : Mode développement avec hot-reload</a:t>
            </a:r>
            <a:br/>
            <a:r>
              <a:rPr>
                <a:solidFill>
                  <a:srgbClr val="CC9393"/>
                </a:solidFill>
                <a:latin typeface="Courier"/>
              </a:rPr>
              <a:t>- </a:t>
            </a:r>
            <a:r>
              <a:rPr b="1">
                <a:solidFill>
                  <a:srgbClr val="7F9F7F"/>
                </a:solidFill>
                <a:latin typeface="Courier"/>
              </a:rPr>
              <a:t>`wails build`</a:t>
            </a:r>
            <a:r>
              <a:rPr>
                <a:solidFill>
                  <a:srgbClr val="CCCCCC"/>
                </a:solidFill>
                <a:latin typeface="Courier"/>
              </a:rPr>
              <a:t> : Build production</a:t>
            </a:r>
            <a:br/>
            <a:r>
              <a:rPr>
                <a:solidFill>
                  <a:srgbClr val="CC9393"/>
                </a:solidFill>
                <a:latin typeface="Courier"/>
              </a:rPr>
              <a:t>- </a:t>
            </a:r>
            <a:r>
              <a:rPr b="1">
                <a:solidFill>
                  <a:srgbClr val="7F9F7F"/>
                </a:solidFill>
                <a:latin typeface="Courier"/>
              </a:rPr>
              <a:t>`make build-all`</a:t>
            </a:r>
            <a:r>
              <a:rPr>
                <a:solidFill>
                  <a:srgbClr val="CCCCCC"/>
                </a:solidFill>
                <a:latin typeface="Courier"/>
              </a:rPr>
              <a:t> : Build toutes plateformes</a:t>
            </a:r>
            <a:br/>
            <a:br/>
            <a:r>
              <a:rPr>
                <a:solidFill>
                  <a:srgbClr val="EFEF8F"/>
                </a:solidFill>
                <a:latin typeface="Courier"/>
              </a:rPr>
              <a:t>## Conventions Go</a:t>
            </a:r>
            <a:br/>
            <a:r>
              <a:rPr>
                <a:solidFill>
                  <a:srgbClr val="CC9393"/>
                </a:solidFill>
                <a:latin typeface="Courier"/>
              </a:rPr>
              <a:t>- </a:t>
            </a:r>
            <a:r>
              <a:rPr>
                <a:solidFill>
                  <a:srgbClr val="CCCCCC"/>
                </a:solidFill>
                <a:latin typeface="Courier"/>
              </a:rPr>
              <a:t>Erreurs wrappées avec fmt.Errorf</a:t>
            </a:r>
            <a:br/>
            <a:r>
              <a:rPr>
                <a:solidFill>
                  <a:srgbClr val="CC9393"/>
                </a:solidFill>
                <a:latin typeface="Courier"/>
              </a:rPr>
              <a:t>- </a:t>
            </a:r>
            <a:r>
              <a:rPr>
                <a:solidFill>
                  <a:srgbClr val="CCCCCC"/>
                </a:solidFill>
                <a:latin typeface="Courier"/>
              </a:rPr>
              <a:t>Context pour les appels API</a:t>
            </a:r>
            <a:br/>
            <a:r>
              <a:rPr>
                <a:solidFill>
                  <a:srgbClr val="CC9393"/>
                </a:solidFill>
                <a:latin typeface="Courier"/>
              </a:rPr>
              <a:t>- </a:t>
            </a:r>
            <a:r>
              <a:rPr>
                <a:solidFill>
                  <a:srgbClr val="CCCCCC"/>
                </a:solidFill>
                <a:latin typeface="Courier"/>
              </a:rPr>
              <a:t>Structured logging avec slog</a:t>
            </a:r>
            <a:br/>
            <a:br/>
            <a:r>
              <a:rPr>
                <a:solidFill>
                  <a:srgbClr val="EFEF8F"/>
                </a:solidFill>
                <a:latin typeface="Courier"/>
              </a:rPr>
              <a:t>## Points d'attention</a:t>
            </a:r>
            <a:br/>
            <a:r>
              <a:rPr>
                <a:solidFill>
                  <a:srgbClr val="CC9393"/>
                </a:solidFill>
                <a:latin typeface="Courier"/>
              </a:rPr>
              <a:t>- </a:t>
            </a:r>
            <a:r>
              <a:rPr>
                <a:solidFill>
                  <a:srgbClr val="CCCCCC"/>
                </a:solidFill>
                <a:latin typeface="Courier"/>
              </a:rPr>
              <a:t>Token GitHub jamais hardcodé</a:t>
            </a:r>
            <a:br/>
            <a:r>
              <a:rPr>
                <a:solidFill>
                  <a:srgbClr val="CC9393"/>
                </a:solidFill>
                <a:latin typeface="Courier"/>
              </a:rPr>
              <a:t>- </a:t>
            </a:r>
            <a:r>
              <a:rPr>
                <a:solidFill>
                  <a:srgbClr val="CCCCCC"/>
                </a:solidFill>
                <a:latin typeface="Courier"/>
              </a:rPr>
              <a:t>Gestion du rate limiting API</a:t>
            </a:r>
            <a:br/>
            <a:r>
              <a:rPr>
                <a:solidFill>
                  <a:srgbClr val="CC9393"/>
                </a:solidFill>
                <a:latin typeface="Courier"/>
              </a:rPr>
              <a:t>- </a:t>
            </a:r>
            <a:r>
              <a:rPr>
                <a:solidFill>
                  <a:srgbClr val="CCCCCC"/>
                </a:solidFill>
                <a:latin typeface="Courier"/>
              </a:rPr>
              <a:t>Timeout sur les appels HTTP (10s)</a:t>
            </a:r>
          </a:p>
          <a:p>
            <a:pPr lvl="0" indent="0" marL="0">
              <a:spcBef>
                <a:spcPts val="3000"/>
              </a:spcBef>
              <a:buNone/>
            </a:pPr>
            <a:r>
              <a:rPr b="1"/>
              <a:t>Livrables</a:t>
            </a:r>
          </a:p>
          <a:p>
            <a:pPr lvl="0"/>
            <a:r>
              <a:rPr/>
              <a:t>☐ Projet Wails initialisé et fonctionnel</a:t>
            </a:r>
          </a:p>
          <a:p>
            <a:pPr lvl="0"/>
            <a:r>
              <a:rPr/>
              <a:t>☐ Connexion API GitHub avec token</a:t>
            </a:r>
          </a:p>
          <a:p>
            <a:pPr lvl="0"/>
            <a:r>
              <a:rPr/>
              <a:t>☐ Affichage des PRs ouvertes</a:t>
            </a:r>
          </a:p>
          <a:p>
            <a:pPr lvl="0"/>
            <a:r>
              <a:rPr/>
              <a:t>☐ Indicateur de statut CI</a:t>
            </a:r>
          </a:p>
          <a:p>
            <a:pPr lvl="0"/>
            <a:r>
              <a:rPr/>
              <a:t>☐ Notifications sur événements importants</a:t>
            </a:r>
          </a:p>
          <a:p>
            <a:pPr lvl="0"/>
            <a:r>
              <a:rPr/>
              <a:t>☐ Build fonctionnel pour votre OS</a:t>
            </a:r>
          </a:p>
          <a:p>
            <a:pPr lvl="0"/>
            <a:r>
              <a:rPr/>
              <a:t>☐ CLAUDE.md adapté au projet</a:t>
            </a:r>
          </a:p>
          <a:p>
            <a:pPr lvl="0" indent="0" marL="0">
              <a:spcBef>
                <a:spcPts val="3000"/>
              </a:spcBef>
              <a:buNone/>
            </a:pPr>
            <a:r>
              <a:rPr b="1"/>
              <a:t>Points d’apprentissage</a:t>
            </a:r>
          </a:p>
          <a:p>
            <a:pPr lvl="0" indent="0" marL="0">
              <a:buNone/>
            </a:pPr>
            <a:r>
              <a:rPr/>
              <a:t>Ce projet démontre : 1. </a:t>
            </a:r>
            <a:r>
              <a:rPr b="1"/>
              <a:t>Prototypage rapide</a:t>
            </a:r>
            <a:r>
              <a:rPr/>
              <a:t> : De l’idée à l’outil fonctionnel en ~2h 2. </a:t>
            </a:r>
            <a:r>
              <a:rPr b="1"/>
              <a:t>Stack Go moderne</a:t>
            </a:r>
            <a:r>
              <a:rPr/>
              <a:t> : Wails pour le desktop natif 3. </a:t>
            </a:r>
            <a:r>
              <a:rPr b="1"/>
              <a:t>Intégration API</a:t>
            </a:r>
            <a:r>
              <a:rPr/>
              <a:t> : GitHub/GitLab avec authentification 4. </a:t>
            </a:r>
            <a:r>
              <a:rPr b="1"/>
              <a:t>CLAUDE.md efficace</a:t>
            </a:r>
            <a:r>
              <a:rPr/>
              <a:t> : Configuration projet ciblée</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Projet final : BizCraft SaaS Complet</a:t>
            </a:r>
          </a:p>
          <a:p>
            <a:pPr lvl="0" indent="0" marL="0">
              <a:spcBef>
                <a:spcPts val="3000"/>
              </a:spcBef>
              <a:buNone/>
            </a:pPr>
            <a:r>
              <a:rPr b="1"/>
              <a:t>Phase 1 — MVP</a:t>
            </a:r>
          </a:p>
          <a:p>
            <a:pPr lvl="0"/>
            <a:r>
              <a:rPr/>
              <a:t>Auth Microsoft Entra External ID</a:t>
            </a:r>
          </a:p>
          <a:p>
            <a:pPr lvl="0"/>
            <a:r>
              <a:rPr/>
              <a:t>Dashboard E/M/T</a:t>
            </a:r>
          </a:p>
          <a:p>
            <a:pPr lvl="0"/>
            <a:r>
              <a:rPr/>
              <a:t>Process Builder (SOPs)</a:t>
            </a:r>
          </a:p>
          <a:p>
            <a:pPr lvl="0" indent="0" marL="0">
              <a:spcBef>
                <a:spcPts val="3000"/>
              </a:spcBef>
              <a:buNone/>
            </a:pPr>
            <a:r>
              <a:rPr b="1"/>
              <a:t>Phase 2 — Avancé</a:t>
            </a:r>
          </a:p>
          <a:p>
            <a:pPr lvl="0"/>
            <a:r>
              <a:rPr/>
              <a:t>Gestion rôles / organigramme</a:t>
            </a:r>
          </a:p>
          <a:p>
            <a:pPr lvl="0"/>
            <a:r>
              <a:rPr/>
              <a:t>KPIs avec Chart.js</a:t>
            </a:r>
          </a:p>
          <a:p>
            <a:pPr lvl="0"/>
            <a:r>
              <a:rPr/>
              <a:t>Mode Coach multi-tenant</a:t>
            </a:r>
          </a:p>
          <a:p>
            <a:pPr lvl="0" indent="0" marL="0">
              <a:spcBef>
                <a:spcPts val="3000"/>
              </a:spcBef>
              <a:buNone/>
            </a:pPr>
            <a:r>
              <a:rPr b="1"/>
              <a:t>Évaluation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Critère</a:t>
                      </a:r>
                    </a:p>
                  </a:txBody>
                  <a:tcPr/>
                </a:tc>
                <a:tc>
                  <a:txBody>
                    <a:bodyPr/>
                    <a:lstStyle/>
                    <a:p>
                      <a:pPr lvl="0" indent="0" marL="0">
                        <a:buNone/>
                      </a:pPr>
                      <a:r>
                        <a:rPr/>
                        <a:t>Poids</a:t>
                      </a:r>
                    </a:p>
                  </a:txBody>
                  <a:tcPr/>
                </a:tc>
              </a:tr>
              <a:tr h="0">
                <a:tc>
                  <a:txBody>
                    <a:bodyPr/>
                    <a:lstStyle/>
                    <a:p>
                      <a:pPr lvl="0" indent="0" marL="0">
                        <a:buNone/>
                      </a:pPr>
                      <a:r>
                        <a:rPr/>
                        <a:t>Qualité code</a:t>
                      </a:r>
                    </a:p>
                  </a:txBody>
                </a:tc>
                <a:tc>
                  <a:txBody>
                    <a:bodyPr/>
                    <a:lstStyle/>
                    <a:p>
                      <a:pPr lvl="0" indent="0" marL="0">
                        <a:buNone/>
                      </a:pPr>
                      <a:r>
                        <a:rPr/>
                        <a:t>20%</a:t>
                      </a:r>
                    </a:p>
                  </a:txBody>
                </a:tc>
              </a:tr>
              <a:tr h="0">
                <a:tc>
                  <a:txBody>
                    <a:bodyPr/>
                    <a:lstStyle/>
                    <a:p>
                      <a:pPr lvl="0" indent="0" marL="0">
                        <a:buNone/>
                      </a:pPr>
                      <a:r>
                        <a:rPr/>
                        <a:t>Features Claude Code</a:t>
                      </a:r>
                    </a:p>
                  </a:txBody>
                </a:tc>
                <a:tc>
                  <a:txBody>
                    <a:bodyPr/>
                    <a:lstStyle/>
                    <a:p>
                      <a:pPr lvl="0" indent="0" marL="0">
                        <a:buNone/>
                      </a:pPr>
                      <a:r>
                        <a:rPr/>
                        <a:t>25%</a:t>
                      </a:r>
                    </a:p>
                  </a:txBody>
                </a:tc>
              </a:tr>
              <a:tr h="0">
                <a:tc>
                  <a:txBody>
                    <a:bodyPr/>
                    <a:lstStyle/>
                    <a:p>
                      <a:pPr lvl="0" indent="0" marL="0">
                        <a:buNone/>
                      </a:pPr>
                      <a:r>
                        <a:rPr/>
                        <a:t>Configuration projet</a:t>
                      </a:r>
                    </a:p>
                  </a:txBody>
                </a:tc>
                <a:tc>
                  <a:txBody>
                    <a:bodyPr/>
                    <a:lstStyle/>
                    <a:p>
                      <a:pPr lvl="0" indent="0" marL="0">
                        <a:buNone/>
                      </a:pPr>
                      <a:r>
                        <a:rPr/>
                        <a:t>20%</a:t>
                      </a:r>
                    </a:p>
                  </a:txBody>
                </a:tc>
              </a:tr>
              <a:tr h="0">
                <a:tc>
                  <a:txBody>
                    <a:bodyPr/>
                    <a:lstStyle/>
                    <a:p>
                      <a:pPr lvl="0" indent="0" marL="0">
                        <a:buNone/>
                      </a:pPr>
                      <a:r>
                        <a:rPr/>
                        <a:t>CI/CD</a:t>
                      </a:r>
                    </a:p>
                  </a:txBody>
                </a:tc>
                <a:tc>
                  <a:txBody>
                    <a:bodyPr/>
                    <a:lstStyle/>
                    <a:p>
                      <a:pPr lvl="0" indent="0" marL="0">
                        <a:buNone/>
                      </a:pPr>
                      <a:r>
                        <a:rPr/>
                        <a:t>15%</a:t>
                      </a:r>
                    </a:p>
                  </a:txBody>
                </a:tc>
              </a:tr>
              <a:tr h="0">
                <a:tc>
                  <a:txBody>
                    <a:bodyPr/>
                    <a:lstStyle/>
                    <a:p>
                      <a:pPr lvl="0" indent="0" marL="0">
                        <a:buNone/>
                      </a:pPr>
                      <a:r>
                        <a:rPr/>
                        <a:t>Architecture/sécurité</a:t>
                      </a:r>
                    </a:p>
                  </a:txBody>
                </a:tc>
                <a:tc>
                  <a:txBody>
                    <a:bodyPr/>
                    <a:lstStyle/>
                    <a:p>
                      <a:pPr lvl="0" indent="0" marL="0">
                        <a:buNone/>
                      </a:pPr>
                      <a:r>
                        <a:rPr/>
                        <a:t>10%</a:t>
                      </a:r>
                    </a:p>
                  </a:txBody>
                </a:tc>
              </a:tr>
              <a:tr h="0">
                <a:tc>
                  <a:txBody>
                    <a:bodyPr/>
                    <a:lstStyle/>
                    <a:p>
                      <a:pPr lvl="0" indent="0" marL="0">
                        <a:buNone/>
                      </a:pPr>
                      <a:r>
                        <a:rPr/>
                        <a:t>Documentation</a:t>
                      </a:r>
                    </a:p>
                  </a:txBody>
                </a:tc>
                <a:tc>
                  <a:txBody>
                    <a:bodyPr/>
                    <a:lstStyle/>
                    <a:p>
                      <a:pPr lvl="0" indent="0" marL="0">
                        <a:buNone/>
                      </a:pPr>
                      <a:r>
                        <a:rPr/>
                        <a:t>10%</a:t>
                      </a:r>
                    </a:p>
                  </a:txBody>
                </a:tc>
              </a:tr>
            </a:tbl>
          </a:graphicData>
        </a:graphic>
      </p:graphicFrame>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RESSOURCES</a:t>
            </a:r>
          </a:p>
        </p:txBody>
      </p:sp>
      <p:sp>
        <p:nvSpPr>
          <p:cNvPr id="3" name="Content Placeholder 2"/>
          <p:cNvSpPr>
            <a:spLocks noGrp="1"/>
          </p:cNvSpPr>
          <p:nvPr>
            <p:ph idx="1"/>
          </p:nvPr>
        </p:nvSpPr>
        <p:spPr/>
        <p:txBody>
          <a:bodyPr/>
          <a:lstStyle/>
          <a:p>
            <a:pPr lvl="0"/>
            <a:r>
              <a:rPr/>
              <a:t>Templates CLAUDE.md par stack</a:t>
            </a:r>
          </a:p>
          <a:p>
            <a:pPr lvl="0"/>
            <a:r>
              <a:rPr/>
              <a:t>20+ skills prêtes à l’emploi</a:t>
            </a:r>
          </a:p>
          <a:p>
            <a:pPr lvl="0"/>
            <a:r>
              <a:rPr/>
              <a:t>10+ hooks de validation</a:t>
            </a:r>
          </a:p>
          <a:p>
            <a:pPr lvl="0"/>
            <a:r>
              <a:rPr/>
              <a:t>Config MCP servers</a:t>
            </a:r>
          </a:p>
          <a:p>
            <a:pPr lvl="0"/>
            <a:r>
              <a:rPr/>
              <a:t>Starter kit BizCraft</a:t>
            </a:r>
          </a:p>
          <a:p>
            <a:pPr lvl="0"/>
            <a:r>
              <a:rPr/>
              <a:t>Cheatsheet PDF</a:t>
            </a:r>
          </a:p>
          <a:p>
            <a:pPr lvl="0"/>
            <a:r>
              <a:rPr/>
              <a:t>Accès Discord</a:t>
            </a:r>
          </a:p>
          <a:p>
            <a:pPr lvl="0" indent="0" marL="0">
              <a:buNone/>
            </a:pPr>
            <a:r>
              <a:rPr b="1"/>
              <a:t>Liens :</a:t>
            </a:r>
            <a:r>
              <a:rPr/>
              <a:t> - </a:t>
            </a:r>
            <a:r>
              <a:rPr>
                <a:hlinkClick r:id="rId2"/>
              </a:rPr>
              <a:t>Documentation officielle</a:t>
            </a:r>
            <a:r>
              <a:rPr/>
              <a:t> - </a:t>
            </a:r>
            <a:r>
              <a:rPr>
                <a:hlinkClick r:id="rId3"/>
              </a:rPr>
              <a:t>Best Practices</a:t>
            </a:r>
            <a:r>
              <a:rPr/>
              <a:t> - </a:t>
            </a:r>
            <a:r>
              <a:rPr>
                <a:hlinkClick r:id="rId4"/>
              </a:rPr>
              <a:t>GitHub Claude Code</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ANNEXE : RÉFÉRENCE RAPIDE</a:t>
            </a:r>
          </a:p>
        </p:txBody>
      </p:sp>
      <p:sp>
        <p:nvSpPr>
          <p:cNvPr id="4" name="Text Placeholder 3"/>
          <p:cNvSpPr>
            <a:spLocks noGrp="1"/>
          </p:cNvSpPr>
          <p:nvPr>
            <p:ph idx="2" sz="half" type="body"/>
          </p:nvPr>
        </p:nvSpPr>
        <p:spPr/>
        <p:txBody>
          <a:bodyPr/>
          <a:lstStyle/>
          <a:p>
            <a:pPr lvl="0" indent="0" marL="0">
              <a:spcBef>
                <a:spcPts val="3000"/>
              </a:spcBef>
              <a:buNone/>
            </a:pPr>
            <a:r>
              <a:rPr b="1"/>
              <a:t>CLI Flags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Flag</a:t>
                      </a:r>
                    </a:p>
                  </a:txBody>
                  <a:tcPr/>
                </a:tc>
                <a:tc>
                  <a:txBody>
                    <a:bodyPr/>
                    <a:lstStyle/>
                    <a:p>
                      <a:pPr lvl="0" indent="0" marL="0">
                        <a:buNone/>
                      </a:pPr>
                      <a:r>
                        <a:rPr/>
                        <a:t>Description</a:t>
                      </a:r>
                    </a:p>
                  </a:txBody>
                  <a:tcPr/>
                </a:tc>
              </a:tr>
              <a:tr h="0">
                <a:tc>
                  <a:txBody>
                    <a:bodyPr/>
                    <a:lstStyle/>
                    <a:p>
                      <a:pPr lvl="0" indent="0" marL="0">
                        <a:buNone/>
                      </a:pPr>
                      <a:r>
                        <a:rPr>
                          <a:latin typeface="Courier"/>
                        </a:rPr>
                        <a:t>-c</a:t>
                      </a:r>
                    </a:p>
                  </a:txBody>
                </a:tc>
                <a:tc>
                  <a:txBody>
                    <a:bodyPr/>
                    <a:lstStyle/>
                    <a:p>
                      <a:pPr lvl="0" indent="0" marL="0">
                        <a:buNone/>
                      </a:pPr>
                      <a:r>
                        <a:rPr/>
                        <a:t>Continuer dernière session</a:t>
                      </a:r>
                    </a:p>
                  </a:txBody>
                </a:tc>
              </a:tr>
              <a:tr h="0">
                <a:tc>
                  <a:txBody>
                    <a:bodyPr/>
                    <a:lstStyle/>
                    <a:p>
                      <a:pPr lvl="0" indent="0" marL="0">
                        <a:buNone/>
                      </a:pPr>
                      <a:r>
                        <a:rPr>
                          <a:latin typeface="Courier"/>
                        </a:rPr>
                        <a:t>-r &lt;id&gt;</a:t>
                      </a:r>
                    </a:p>
                  </a:txBody>
                </a:tc>
                <a:tc>
                  <a:txBody>
                    <a:bodyPr/>
                    <a:lstStyle/>
                    <a:p>
                      <a:pPr lvl="0" indent="0" marL="0">
                        <a:buNone/>
                      </a:pPr>
                      <a:r>
                        <a:rPr/>
                        <a:t>Reprendre session</a:t>
                      </a:r>
                    </a:p>
                  </a:txBody>
                </a:tc>
              </a:tr>
              <a:tr h="0">
                <a:tc>
                  <a:txBody>
                    <a:bodyPr/>
                    <a:lstStyle/>
                    <a:p>
                      <a:pPr lvl="0" indent="0" marL="0">
                        <a:buNone/>
                      </a:pPr>
                      <a:r>
                        <a:rPr>
                          <a:latin typeface="Courier"/>
                        </a:rPr>
                        <a:t>-p "..."</a:t>
                      </a:r>
                    </a:p>
                  </a:txBody>
                </a:tc>
                <a:tc>
                  <a:txBody>
                    <a:bodyPr/>
                    <a:lstStyle/>
                    <a:p>
                      <a:pPr lvl="0" indent="0" marL="0">
                        <a:buNone/>
                      </a:pPr>
                      <a:r>
                        <a:rPr/>
                        <a:t>Mode headless</a:t>
                      </a:r>
                    </a:p>
                  </a:txBody>
                </a:tc>
              </a:tr>
              <a:tr h="0">
                <a:tc>
                  <a:txBody>
                    <a:bodyPr/>
                    <a:lstStyle/>
                    <a:p>
                      <a:pPr lvl="0" indent="0" marL="0">
                        <a:buNone/>
                      </a:pPr>
                      <a:r>
                        <a:rPr>
                          <a:latin typeface="Courier"/>
                        </a:rPr>
                        <a:t>--model</a:t>
                      </a:r>
                    </a:p>
                  </a:txBody>
                </a:tc>
                <a:tc>
                  <a:txBody>
                    <a:bodyPr/>
                    <a:lstStyle/>
                    <a:p>
                      <a:pPr lvl="0" indent="0" marL="0">
                        <a:buNone/>
                      </a:pPr>
                      <a:r>
                        <a:rPr/>
                        <a:t>Choisir modèle</a:t>
                      </a:r>
                    </a:p>
                  </a:txBody>
                </a:tc>
              </a:tr>
            </a:tbl>
          </a:graphicData>
        </a:graphic>
      </p:graphicFrame>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Slash Commands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Commande</a:t>
                      </a:r>
                    </a:p>
                  </a:txBody>
                  <a:tcPr/>
                </a:tc>
                <a:tc>
                  <a:txBody>
                    <a:bodyPr/>
                    <a:lstStyle/>
                    <a:p>
                      <a:pPr lvl="0" indent="0" marL="0">
                        <a:buNone/>
                      </a:pPr>
                      <a:r>
                        <a:rPr/>
                        <a:t>Description</a:t>
                      </a:r>
                    </a:p>
                  </a:txBody>
                  <a:tcPr/>
                </a:tc>
              </a:tr>
              <a:tr h="0">
                <a:tc>
                  <a:txBody>
                    <a:bodyPr/>
                    <a:lstStyle/>
                    <a:p>
                      <a:pPr lvl="0" indent="0" marL="0">
                        <a:buNone/>
                      </a:pPr>
                      <a:r>
                        <a:rPr>
                          <a:latin typeface="Courier"/>
                        </a:rPr>
                        <a:t>/help</a:t>
                      </a:r>
                    </a:p>
                  </a:txBody>
                </a:tc>
                <a:tc>
                  <a:txBody>
                    <a:bodyPr/>
                    <a:lstStyle/>
                    <a:p>
                      <a:pPr lvl="0" indent="0" marL="0">
                        <a:buNone/>
                      </a:pPr>
                      <a:r>
                        <a:rPr/>
                        <a:t>Aide</a:t>
                      </a:r>
                    </a:p>
                  </a:txBody>
                </a:tc>
              </a:tr>
              <a:tr h="0">
                <a:tc>
                  <a:txBody>
                    <a:bodyPr/>
                    <a:lstStyle/>
                    <a:p>
                      <a:pPr lvl="0" indent="0" marL="0">
                        <a:buNone/>
                      </a:pPr>
                      <a:r>
                        <a:rPr>
                          <a:latin typeface="Courier"/>
                        </a:rPr>
                        <a:t>/clear</a:t>
                      </a:r>
                    </a:p>
                  </a:txBody>
                </a:tc>
                <a:tc>
                  <a:txBody>
                    <a:bodyPr/>
                    <a:lstStyle/>
                    <a:p>
                      <a:pPr lvl="0" indent="0" marL="0">
                        <a:buNone/>
                      </a:pPr>
                      <a:r>
                        <a:rPr/>
                        <a:t>Effacer</a:t>
                      </a:r>
                    </a:p>
                  </a:txBody>
                </a:tc>
              </a:tr>
              <a:tr h="0">
                <a:tc>
                  <a:txBody>
                    <a:bodyPr/>
                    <a:lstStyle/>
                    <a:p>
                      <a:pPr lvl="0" indent="0" marL="0">
                        <a:buNone/>
                      </a:pPr>
                      <a:r>
                        <a:rPr>
                          <a:latin typeface="Courier"/>
                        </a:rPr>
                        <a:t>/commit</a:t>
                      </a:r>
                    </a:p>
                  </a:txBody>
                </a:tc>
                <a:tc>
                  <a:txBody>
                    <a:bodyPr/>
                    <a:lstStyle/>
                    <a:p>
                      <a:pPr lvl="0" indent="0" marL="0">
                        <a:buNone/>
                      </a:pPr>
                      <a:r>
                        <a:rPr/>
                        <a:t>Git commit</a:t>
                      </a:r>
                    </a:p>
                  </a:txBody>
                </a:tc>
              </a:tr>
              <a:tr h="0">
                <a:tc>
                  <a:txBody>
                    <a:bodyPr/>
                    <a:lstStyle/>
                    <a:p>
                      <a:pPr lvl="0" indent="0" marL="0">
                        <a:buNone/>
                      </a:pPr>
                      <a:r>
                        <a:rPr>
                          <a:latin typeface="Courier"/>
                        </a:rPr>
                        <a:t>/compact</a:t>
                      </a:r>
                    </a:p>
                  </a:txBody>
                </a:tc>
                <a:tc>
                  <a:txBody>
                    <a:bodyPr/>
                    <a:lstStyle/>
                    <a:p>
                      <a:pPr lvl="0" indent="0" marL="0">
                        <a:buNone/>
                      </a:pPr>
                      <a:r>
                        <a:rPr/>
                        <a:t>Compresser</a:t>
                      </a:r>
                    </a:p>
                  </a:txBody>
                </a:tc>
              </a:tr>
              <a:tr h="0">
                <a:tc>
                  <a:txBody>
                    <a:bodyPr/>
                    <a:lstStyle/>
                    <a:p>
                      <a:pPr lvl="0" indent="0" marL="0">
                        <a:buNone/>
                      </a:pPr>
                      <a:r>
                        <a:rPr>
                          <a:latin typeface="Courier"/>
                        </a:rPr>
                        <a:t>/rewind</a:t>
                      </a:r>
                    </a:p>
                  </a:txBody>
                </a:tc>
                <a:tc>
                  <a:txBody>
                    <a:bodyPr/>
                    <a:lstStyle/>
                    <a:p>
                      <a:pPr lvl="0" indent="0" marL="0">
                        <a:buNone/>
                      </a:pPr>
                      <a:r>
                        <a:rPr/>
                        <a:t>Revenir arrière</a:t>
                      </a:r>
                    </a:p>
                  </a:txBody>
                </a:tc>
              </a:tr>
            </a:tbl>
          </a:graphicData>
        </a:graphic>
      </p:graphicFrame>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Raccourcis</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2552700"/>
                <a:gridCol w="2552700"/>
              </a:tblGrid>
              <a:tr h="0">
                <a:tc>
                  <a:txBody>
                    <a:bodyPr/>
                    <a:lstStyle/>
                    <a:p>
                      <a:pPr lvl="0" indent="0" marL="0">
                        <a:buNone/>
                      </a:pPr>
                      <a:r>
                        <a:rPr/>
                        <a:t>Raccourci</a:t>
                      </a:r>
                    </a:p>
                  </a:txBody>
                  <a:tcPr/>
                </a:tc>
                <a:tc>
                  <a:txBody>
                    <a:bodyPr/>
                    <a:lstStyle/>
                    <a:p>
                      <a:pPr lvl="0" indent="0" marL="0">
                        <a:buNone/>
                      </a:pPr>
                      <a:r>
                        <a:rPr/>
                        <a:t>Action</a:t>
                      </a:r>
                    </a:p>
                  </a:txBody>
                  <a:tcPr/>
                </a:tc>
              </a:tr>
              <a:tr h="0">
                <a:tc>
                  <a:txBody>
                    <a:bodyPr/>
                    <a:lstStyle/>
                    <a:p>
                      <a:pPr lvl="0" indent="0" marL="0">
                        <a:buNone/>
                      </a:pPr>
                      <a:r>
                        <a:rPr>
                          <a:latin typeface="Courier"/>
                        </a:rPr>
                        <a:t>Ctrl+C</a:t>
                      </a:r>
                    </a:p>
                  </a:txBody>
                </a:tc>
                <a:tc>
                  <a:txBody>
                    <a:bodyPr/>
                    <a:lstStyle/>
                    <a:p>
                      <a:pPr lvl="0" indent="0" marL="0">
                        <a:buNone/>
                      </a:pPr>
                      <a:r>
                        <a:rPr/>
                        <a:t>Annuler</a:t>
                      </a:r>
                    </a:p>
                  </a:txBody>
                </a:tc>
              </a:tr>
              <a:tr h="0">
                <a:tc>
                  <a:txBody>
                    <a:bodyPr/>
                    <a:lstStyle/>
                    <a:p>
                      <a:pPr lvl="0" indent="0" marL="0">
                        <a:buNone/>
                      </a:pPr>
                      <a:r>
                        <a:rPr>
                          <a:latin typeface="Courier"/>
                        </a:rPr>
                        <a:t>Ctrl+D</a:t>
                      </a:r>
                    </a:p>
                  </a:txBody>
                </a:tc>
                <a:tc>
                  <a:txBody>
                    <a:bodyPr/>
                    <a:lstStyle/>
                    <a:p>
                      <a:pPr lvl="0" indent="0" marL="0">
                        <a:buNone/>
                      </a:pPr>
                      <a:r>
                        <a:rPr/>
                        <a:t>Quitter</a:t>
                      </a:r>
                    </a:p>
                  </a:txBody>
                </a:tc>
              </a:tr>
              <a:tr h="0">
                <a:tc>
                  <a:txBody>
                    <a:bodyPr/>
                    <a:lstStyle/>
                    <a:p>
                      <a:pPr lvl="0" indent="0" marL="0">
                        <a:buNone/>
                      </a:pPr>
                      <a:r>
                        <a:rPr>
                          <a:latin typeface="Courier"/>
                        </a:rPr>
                        <a:t>Esc Esc</a:t>
                      </a:r>
                    </a:p>
                  </a:txBody>
                </a:tc>
                <a:tc>
                  <a:txBody>
                    <a:bodyPr/>
                    <a:lstStyle/>
                    <a:p>
                      <a:pPr lvl="0" indent="0" marL="0">
                        <a:buNone/>
                      </a:pPr>
                      <a:r>
                        <a:rPr/>
                        <a:t>Rewind</a:t>
                      </a:r>
                    </a:p>
                  </a:txBody>
                </a:tc>
              </a:tr>
              <a:tr h="0">
                <a:tc>
                  <a:txBody>
                    <a:bodyPr/>
                    <a:lstStyle/>
                    <a:p>
                      <a:pPr lvl="0" indent="0" marL="0">
                        <a:buNone/>
                      </a:pPr>
                      <a:r>
                        <a:rPr>
                          <a:latin typeface="Courier"/>
                        </a:rPr>
                        <a:t>Alt+P</a:t>
                      </a:r>
                    </a:p>
                  </a:txBody>
                </a:tc>
                <a:tc>
                  <a:txBody>
                    <a:bodyPr/>
                    <a:lstStyle/>
                    <a:p>
                      <a:pPr lvl="0" indent="0" marL="0">
                        <a:buNone/>
                      </a:pPr>
                      <a:r>
                        <a:rPr/>
                        <a:t>Changer modèle</a:t>
                      </a:r>
                    </a:p>
                  </a:txBody>
                </a:tc>
              </a:tr>
              <a:tr h="0">
                <a:tc>
                  <a:txBody>
                    <a:bodyPr/>
                    <a:lstStyle/>
                    <a:p>
                      <a:pPr lvl="0" indent="0" marL="0">
                        <a:buNone/>
                      </a:pPr>
                      <a:r>
                        <a:rPr>
                          <a:latin typeface="Courier"/>
                        </a:rPr>
                        <a:t>Alt+T</a:t>
                      </a:r>
                    </a:p>
                  </a:txBody>
                </a:tc>
                <a:tc>
                  <a:txBody>
                    <a:bodyPr/>
                    <a:lstStyle/>
                    <a:p>
                      <a:pPr lvl="0" indent="0" marL="0">
                        <a:buNone/>
                      </a:pPr>
                      <a:r>
                        <a:rPr/>
                        <a:t>Extended Thinking</a:t>
                      </a:r>
                    </a:p>
                  </a:txBody>
                </a:tc>
              </a:tr>
            </a:tbl>
          </a:graphicData>
        </a:graphic>
      </p:graphicFrame>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i="1"/>
              <a:t>Dernière mise à jour : 2026-02-04</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2026-02-05T10:37:56Z</dcterms:created>
  <dcterms:modified xsi:type="dcterms:W3CDTF">2026-02-05T10:37:56Z</dcterms:modified>
</cp:coreProperties>
</file>

<file path=docProps/custom.xml><?xml version="1.0" encoding="utf-8"?>
<Properties xmlns="http://schemas.openxmlformats.org/officeDocument/2006/custom-properties" xmlns:vt="http://schemas.openxmlformats.org/officeDocument/2006/docPropsVTypes"/>
</file>